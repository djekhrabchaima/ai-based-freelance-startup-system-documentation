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59" r:id="rId6"/>
    <p:sldId id="261" r:id="rId7"/>
    <p:sldId id="262" r:id="rId8"/>
    <p:sldId id="263" r:id="rId9"/>
    <p:sldId id="268" r:id="rId10"/>
    <p:sldId id="260" r:id="rId11"/>
    <p:sldId id="264" r:id="rId12"/>
    <p:sldId id="265"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6DF6"/>
    <a:srgbClr val="EEF1F5"/>
    <a:srgbClr val="F2F2F2"/>
    <a:srgbClr val="FCFCFE"/>
    <a:srgbClr val="F5F6FA"/>
    <a:srgbClr val="FDFDFD"/>
    <a:srgbClr val="FA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26" autoAdjust="0"/>
    <p:restoredTop sz="94660"/>
  </p:normalViewPr>
  <p:slideViewPr>
    <p:cSldViewPr snapToGrid="0">
      <p:cViewPr varScale="1">
        <p:scale>
          <a:sx n="65" d="100"/>
          <a:sy n="65" d="100"/>
        </p:scale>
        <p:origin x="84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1A224-4944-0243-5223-6249A499BC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EC0CCA0B-3A75-F99D-D91B-52F67F2E72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0965C5C1-BF2B-C300-A166-BE8734A3A39C}"/>
              </a:ext>
            </a:extLst>
          </p:cNvPr>
          <p:cNvSpPr>
            <a:spLocks noGrp="1"/>
          </p:cNvSpPr>
          <p:nvPr>
            <p:ph type="dt" sz="half" idx="10"/>
          </p:nvPr>
        </p:nvSpPr>
        <p:spPr/>
        <p:txBody>
          <a:bodyPr/>
          <a:lstStyle/>
          <a:p>
            <a:fld id="{E3035059-BEE1-43CC-9E11-FA1C55B0A8F7}" type="datetimeFigureOut">
              <a:rPr lang="fr-FR" smtClean="0"/>
              <a:t>01/03/2026</a:t>
            </a:fld>
            <a:endParaRPr lang="fr-FR"/>
          </a:p>
        </p:txBody>
      </p:sp>
      <p:sp>
        <p:nvSpPr>
          <p:cNvPr id="5" name="Footer Placeholder 4">
            <a:extLst>
              <a:ext uri="{FF2B5EF4-FFF2-40B4-BE49-F238E27FC236}">
                <a16:creationId xmlns:a16="http://schemas.microsoft.com/office/drawing/2014/main" id="{5EDDDF11-2D5C-A387-E06D-642070D6040C}"/>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892D35D5-B812-5367-56FE-9D4D5E8F1255}"/>
              </a:ext>
            </a:extLst>
          </p:cNvPr>
          <p:cNvSpPr>
            <a:spLocks noGrp="1"/>
          </p:cNvSpPr>
          <p:nvPr>
            <p:ph type="sldNum" sz="quarter" idx="12"/>
          </p:nvPr>
        </p:nvSpPr>
        <p:spPr/>
        <p:txBody>
          <a:bodyPr/>
          <a:lstStyle/>
          <a:p>
            <a:fld id="{92ED19D0-6058-474D-BE98-77F42B5C6823}" type="slidenum">
              <a:rPr lang="fr-FR" smtClean="0"/>
              <a:t>‹#›</a:t>
            </a:fld>
            <a:endParaRPr lang="fr-FR"/>
          </a:p>
        </p:txBody>
      </p:sp>
    </p:spTree>
    <p:extLst>
      <p:ext uri="{BB962C8B-B14F-4D97-AF65-F5344CB8AC3E}">
        <p14:creationId xmlns:p14="http://schemas.microsoft.com/office/powerpoint/2010/main" val="4215916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CD80B-F623-55D9-B885-627EAF262F8C}"/>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096EECFD-ECFF-3A2E-9A79-B4FD23A45A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1F93C239-EBC1-4C19-74CE-3F584539BE93}"/>
              </a:ext>
            </a:extLst>
          </p:cNvPr>
          <p:cNvSpPr>
            <a:spLocks noGrp="1"/>
          </p:cNvSpPr>
          <p:nvPr>
            <p:ph type="dt" sz="half" idx="10"/>
          </p:nvPr>
        </p:nvSpPr>
        <p:spPr/>
        <p:txBody>
          <a:bodyPr/>
          <a:lstStyle/>
          <a:p>
            <a:fld id="{E3035059-BEE1-43CC-9E11-FA1C55B0A8F7}" type="datetimeFigureOut">
              <a:rPr lang="fr-FR" smtClean="0"/>
              <a:t>01/03/2026</a:t>
            </a:fld>
            <a:endParaRPr lang="fr-FR"/>
          </a:p>
        </p:txBody>
      </p:sp>
      <p:sp>
        <p:nvSpPr>
          <p:cNvPr id="5" name="Footer Placeholder 4">
            <a:extLst>
              <a:ext uri="{FF2B5EF4-FFF2-40B4-BE49-F238E27FC236}">
                <a16:creationId xmlns:a16="http://schemas.microsoft.com/office/drawing/2014/main" id="{A04D92E9-5121-16C5-FE48-86A66D221099}"/>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7B090BD6-5205-0243-E66A-A0B0005BB932}"/>
              </a:ext>
            </a:extLst>
          </p:cNvPr>
          <p:cNvSpPr>
            <a:spLocks noGrp="1"/>
          </p:cNvSpPr>
          <p:nvPr>
            <p:ph type="sldNum" sz="quarter" idx="12"/>
          </p:nvPr>
        </p:nvSpPr>
        <p:spPr/>
        <p:txBody>
          <a:bodyPr/>
          <a:lstStyle/>
          <a:p>
            <a:fld id="{92ED19D0-6058-474D-BE98-77F42B5C6823}" type="slidenum">
              <a:rPr lang="fr-FR" smtClean="0"/>
              <a:t>‹#›</a:t>
            </a:fld>
            <a:endParaRPr lang="fr-FR"/>
          </a:p>
        </p:txBody>
      </p:sp>
    </p:spTree>
    <p:extLst>
      <p:ext uri="{BB962C8B-B14F-4D97-AF65-F5344CB8AC3E}">
        <p14:creationId xmlns:p14="http://schemas.microsoft.com/office/powerpoint/2010/main" val="2866171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E1605-CFAF-7D5F-6DE6-C3D7AD74C0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288450F8-5C37-B083-B483-8484BDFACD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33D890-B2FE-D3B7-1889-E6A1F1FDF300}"/>
              </a:ext>
            </a:extLst>
          </p:cNvPr>
          <p:cNvSpPr>
            <a:spLocks noGrp="1"/>
          </p:cNvSpPr>
          <p:nvPr>
            <p:ph type="dt" sz="half" idx="10"/>
          </p:nvPr>
        </p:nvSpPr>
        <p:spPr/>
        <p:txBody>
          <a:bodyPr/>
          <a:lstStyle/>
          <a:p>
            <a:fld id="{E3035059-BEE1-43CC-9E11-FA1C55B0A8F7}" type="datetimeFigureOut">
              <a:rPr lang="fr-FR" smtClean="0"/>
              <a:t>01/03/2026</a:t>
            </a:fld>
            <a:endParaRPr lang="fr-FR"/>
          </a:p>
        </p:txBody>
      </p:sp>
      <p:sp>
        <p:nvSpPr>
          <p:cNvPr id="5" name="Footer Placeholder 4">
            <a:extLst>
              <a:ext uri="{FF2B5EF4-FFF2-40B4-BE49-F238E27FC236}">
                <a16:creationId xmlns:a16="http://schemas.microsoft.com/office/drawing/2014/main" id="{E5C92CEF-1512-30BE-75C6-635438C2FB9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719503A4-8D07-A277-1AFF-C0EEE90EDD50}"/>
              </a:ext>
            </a:extLst>
          </p:cNvPr>
          <p:cNvSpPr>
            <a:spLocks noGrp="1"/>
          </p:cNvSpPr>
          <p:nvPr>
            <p:ph type="sldNum" sz="quarter" idx="12"/>
          </p:nvPr>
        </p:nvSpPr>
        <p:spPr/>
        <p:txBody>
          <a:bodyPr/>
          <a:lstStyle/>
          <a:p>
            <a:fld id="{92ED19D0-6058-474D-BE98-77F42B5C6823}" type="slidenum">
              <a:rPr lang="fr-FR" smtClean="0"/>
              <a:t>‹#›</a:t>
            </a:fld>
            <a:endParaRPr lang="fr-FR"/>
          </a:p>
        </p:txBody>
      </p:sp>
    </p:spTree>
    <p:extLst>
      <p:ext uri="{BB962C8B-B14F-4D97-AF65-F5344CB8AC3E}">
        <p14:creationId xmlns:p14="http://schemas.microsoft.com/office/powerpoint/2010/main" val="2489982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67D5-3C4D-C7FC-C967-700EB2110858}"/>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C22F9C36-F34D-F0E2-E00D-452B63D7DF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0884CD25-ED2F-F5DC-654B-F4997A9E16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88793C62-51C0-4D3F-4E19-2F489036D113}"/>
              </a:ext>
            </a:extLst>
          </p:cNvPr>
          <p:cNvSpPr>
            <a:spLocks noGrp="1"/>
          </p:cNvSpPr>
          <p:nvPr>
            <p:ph type="dt" sz="half" idx="10"/>
          </p:nvPr>
        </p:nvSpPr>
        <p:spPr/>
        <p:txBody>
          <a:bodyPr/>
          <a:lstStyle/>
          <a:p>
            <a:fld id="{E3035059-BEE1-43CC-9E11-FA1C55B0A8F7}" type="datetimeFigureOut">
              <a:rPr lang="fr-FR" smtClean="0"/>
              <a:t>01/03/2026</a:t>
            </a:fld>
            <a:endParaRPr lang="fr-FR"/>
          </a:p>
        </p:txBody>
      </p:sp>
      <p:sp>
        <p:nvSpPr>
          <p:cNvPr id="6" name="Footer Placeholder 5">
            <a:extLst>
              <a:ext uri="{FF2B5EF4-FFF2-40B4-BE49-F238E27FC236}">
                <a16:creationId xmlns:a16="http://schemas.microsoft.com/office/drawing/2014/main" id="{F84A1DC1-7FB7-3721-A5AA-CC9C086780AE}"/>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96C504F4-56AF-0405-F74C-43773396D1D2}"/>
              </a:ext>
            </a:extLst>
          </p:cNvPr>
          <p:cNvSpPr>
            <a:spLocks noGrp="1"/>
          </p:cNvSpPr>
          <p:nvPr>
            <p:ph type="sldNum" sz="quarter" idx="12"/>
          </p:nvPr>
        </p:nvSpPr>
        <p:spPr/>
        <p:txBody>
          <a:bodyPr/>
          <a:lstStyle/>
          <a:p>
            <a:fld id="{92ED19D0-6058-474D-BE98-77F42B5C6823}" type="slidenum">
              <a:rPr lang="fr-FR" smtClean="0"/>
              <a:t>‹#›</a:t>
            </a:fld>
            <a:endParaRPr lang="fr-FR"/>
          </a:p>
        </p:txBody>
      </p:sp>
    </p:spTree>
    <p:extLst>
      <p:ext uri="{BB962C8B-B14F-4D97-AF65-F5344CB8AC3E}">
        <p14:creationId xmlns:p14="http://schemas.microsoft.com/office/powerpoint/2010/main" val="433328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06E78-B744-21B7-37E5-C7004AC5590B}"/>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B4344491-FAAF-78E2-8BBA-BFE375B424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9BDD96-AE80-A50E-602C-4C888C2BFD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35827390-2EF4-9797-A3E8-860895C782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932108-59EC-5CCD-985B-17E1000EDB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7AEEF739-5B1D-2DB5-605E-D84C3F892179}"/>
              </a:ext>
            </a:extLst>
          </p:cNvPr>
          <p:cNvSpPr>
            <a:spLocks noGrp="1"/>
          </p:cNvSpPr>
          <p:nvPr>
            <p:ph type="dt" sz="half" idx="10"/>
          </p:nvPr>
        </p:nvSpPr>
        <p:spPr/>
        <p:txBody>
          <a:bodyPr/>
          <a:lstStyle/>
          <a:p>
            <a:fld id="{E3035059-BEE1-43CC-9E11-FA1C55B0A8F7}" type="datetimeFigureOut">
              <a:rPr lang="fr-FR" smtClean="0"/>
              <a:t>01/03/2026</a:t>
            </a:fld>
            <a:endParaRPr lang="fr-FR"/>
          </a:p>
        </p:txBody>
      </p:sp>
      <p:sp>
        <p:nvSpPr>
          <p:cNvPr id="8" name="Footer Placeholder 7">
            <a:extLst>
              <a:ext uri="{FF2B5EF4-FFF2-40B4-BE49-F238E27FC236}">
                <a16:creationId xmlns:a16="http://schemas.microsoft.com/office/drawing/2014/main" id="{E9107178-5F68-E13A-AAB2-CFDE225D0037}"/>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00343D91-3B14-474D-7D24-80E240C4FF2A}"/>
              </a:ext>
            </a:extLst>
          </p:cNvPr>
          <p:cNvSpPr>
            <a:spLocks noGrp="1"/>
          </p:cNvSpPr>
          <p:nvPr>
            <p:ph type="sldNum" sz="quarter" idx="12"/>
          </p:nvPr>
        </p:nvSpPr>
        <p:spPr/>
        <p:txBody>
          <a:bodyPr/>
          <a:lstStyle/>
          <a:p>
            <a:fld id="{92ED19D0-6058-474D-BE98-77F42B5C6823}" type="slidenum">
              <a:rPr lang="fr-FR" smtClean="0"/>
              <a:t>‹#›</a:t>
            </a:fld>
            <a:endParaRPr lang="fr-FR"/>
          </a:p>
        </p:txBody>
      </p:sp>
    </p:spTree>
    <p:extLst>
      <p:ext uri="{BB962C8B-B14F-4D97-AF65-F5344CB8AC3E}">
        <p14:creationId xmlns:p14="http://schemas.microsoft.com/office/powerpoint/2010/main" val="1913775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3EAF-71FE-A7C8-B535-68A29FE98FED}"/>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E7796918-7B0F-8371-7492-4294EBB08C9B}"/>
              </a:ext>
            </a:extLst>
          </p:cNvPr>
          <p:cNvSpPr>
            <a:spLocks noGrp="1"/>
          </p:cNvSpPr>
          <p:nvPr>
            <p:ph type="dt" sz="half" idx="10"/>
          </p:nvPr>
        </p:nvSpPr>
        <p:spPr/>
        <p:txBody>
          <a:bodyPr/>
          <a:lstStyle/>
          <a:p>
            <a:fld id="{E3035059-BEE1-43CC-9E11-FA1C55B0A8F7}" type="datetimeFigureOut">
              <a:rPr lang="fr-FR" smtClean="0"/>
              <a:t>01/03/2026</a:t>
            </a:fld>
            <a:endParaRPr lang="fr-FR"/>
          </a:p>
        </p:txBody>
      </p:sp>
      <p:sp>
        <p:nvSpPr>
          <p:cNvPr id="4" name="Footer Placeholder 3">
            <a:extLst>
              <a:ext uri="{FF2B5EF4-FFF2-40B4-BE49-F238E27FC236}">
                <a16:creationId xmlns:a16="http://schemas.microsoft.com/office/drawing/2014/main" id="{B306B4E7-5DE4-E1EC-591C-9D38F6B7BB54}"/>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E5396F15-CF21-DBB7-566F-266A0AA7EE5F}"/>
              </a:ext>
            </a:extLst>
          </p:cNvPr>
          <p:cNvSpPr>
            <a:spLocks noGrp="1"/>
          </p:cNvSpPr>
          <p:nvPr>
            <p:ph type="sldNum" sz="quarter" idx="12"/>
          </p:nvPr>
        </p:nvSpPr>
        <p:spPr/>
        <p:txBody>
          <a:bodyPr/>
          <a:lstStyle/>
          <a:p>
            <a:fld id="{92ED19D0-6058-474D-BE98-77F42B5C6823}" type="slidenum">
              <a:rPr lang="fr-FR" smtClean="0"/>
              <a:t>‹#›</a:t>
            </a:fld>
            <a:endParaRPr lang="fr-FR"/>
          </a:p>
        </p:txBody>
      </p:sp>
    </p:spTree>
    <p:extLst>
      <p:ext uri="{BB962C8B-B14F-4D97-AF65-F5344CB8AC3E}">
        <p14:creationId xmlns:p14="http://schemas.microsoft.com/office/powerpoint/2010/main" val="3902538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F196AF-AAB1-5484-E390-CCB7D3C17425}"/>
              </a:ext>
            </a:extLst>
          </p:cNvPr>
          <p:cNvSpPr>
            <a:spLocks noGrp="1"/>
          </p:cNvSpPr>
          <p:nvPr>
            <p:ph type="dt" sz="half" idx="10"/>
          </p:nvPr>
        </p:nvSpPr>
        <p:spPr/>
        <p:txBody>
          <a:bodyPr/>
          <a:lstStyle/>
          <a:p>
            <a:fld id="{E3035059-BEE1-43CC-9E11-FA1C55B0A8F7}" type="datetimeFigureOut">
              <a:rPr lang="fr-FR" smtClean="0"/>
              <a:t>01/03/2026</a:t>
            </a:fld>
            <a:endParaRPr lang="fr-FR"/>
          </a:p>
        </p:txBody>
      </p:sp>
      <p:sp>
        <p:nvSpPr>
          <p:cNvPr id="3" name="Footer Placeholder 2">
            <a:extLst>
              <a:ext uri="{FF2B5EF4-FFF2-40B4-BE49-F238E27FC236}">
                <a16:creationId xmlns:a16="http://schemas.microsoft.com/office/drawing/2014/main" id="{0ACEB36B-69BB-AA86-F20B-9FC686E617FD}"/>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B5936F8C-0B3F-8DD8-25B6-72003AA0A37A}"/>
              </a:ext>
            </a:extLst>
          </p:cNvPr>
          <p:cNvSpPr>
            <a:spLocks noGrp="1"/>
          </p:cNvSpPr>
          <p:nvPr>
            <p:ph type="sldNum" sz="quarter" idx="12"/>
          </p:nvPr>
        </p:nvSpPr>
        <p:spPr/>
        <p:txBody>
          <a:bodyPr/>
          <a:lstStyle/>
          <a:p>
            <a:fld id="{92ED19D0-6058-474D-BE98-77F42B5C6823}" type="slidenum">
              <a:rPr lang="fr-FR" smtClean="0"/>
              <a:t>‹#›</a:t>
            </a:fld>
            <a:endParaRPr lang="fr-FR"/>
          </a:p>
        </p:txBody>
      </p:sp>
    </p:spTree>
    <p:extLst>
      <p:ext uri="{BB962C8B-B14F-4D97-AF65-F5344CB8AC3E}">
        <p14:creationId xmlns:p14="http://schemas.microsoft.com/office/powerpoint/2010/main" val="2455755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1C3DD-43AE-AC87-3745-BBFCD0222A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CD15FF30-8DF7-AF8C-BB8D-A3C1550118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716280F1-C958-D502-793D-94331F8B8A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B02A1E-04C4-16A3-D77F-117CF7A9FA07}"/>
              </a:ext>
            </a:extLst>
          </p:cNvPr>
          <p:cNvSpPr>
            <a:spLocks noGrp="1"/>
          </p:cNvSpPr>
          <p:nvPr>
            <p:ph type="dt" sz="half" idx="10"/>
          </p:nvPr>
        </p:nvSpPr>
        <p:spPr/>
        <p:txBody>
          <a:bodyPr/>
          <a:lstStyle/>
          <a:p>
            <a:fld id="{E3035059-BEE1-43CC-9E11-FA1C55B0A8F7}" type="datetimeFigureOut">
              <a:rPr lang="fr-FR" smtClean="0"/>
              <a:t>01/03/2026</a:t>
            </a:fld>
            <a:endParaRPr lang="fr-FR"/>
          </a:p>
        </p:txBody>
      </p:sp>
      <p:sp>
        <p:nvSpPr>
          <p:cNvPr id="6" name="Footer Placeholder 5">
            <a:extLst>
              <a:ext uri="{FF2B5EF4-FFF2-40B4-BE49-F238E27FC236}">
                <a16:creationId xmlns:a16="http://schemas.microsoft.com/office/drawing/2014/main" id="{AB67B52D-FDFF-C151-D8C9-D293FAA93532}"/>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28EEF3A2-3590-5E55-59D3-CEED81DF40FF}"/>
              </a:ext>
            </a:extLst>
          </p:cNvPr>
          <p:cNvSpPr>
            <a:spLocks noGrp="1"/>
          </p:cNvSpPr>
          <p:nvPr>
            <p:ph type="sldNum" sz="quarter" idx="12"/>
          </p:nvPr>
        </p:nvSpPr>
        <p:spPr/>
        <p:txBody>
          <a:bodyPr/>
          <a:lstStyle/>
          <a:p>
            <a:fld id="{92ED19D0-6058-474D-BE98-77F42B5C6823}" type="slidenum">
              <a:rPr lang="fr-FR" smtClean="0"/>
              <a:t>‹#›</a:t>
            </a:fld>
            <a:endParaRPr lang="fr-FR"/>
          </a:p>
        </p:txBody>
      </p:sp>
    </p:spTree>
    <p:extLst>
      <p:ext uri="{BB962C8B-B14F-4D97-AF65-F5344CB8AC3E}">
        <p14:creationId xmlns:p14="http://schemas.microsoft.com/office/powerpoint/2010/main" val="3270987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7C062-A8D9-9FDA-E2E5-5246B04558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C7B4456B-2980-BF55-71B1-95853EF1B9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3C48E323-DACE-BC85-B6EB-3F528CDA15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71C307-A617-02DE-72DF-AFC16DFBFE85}"/>
              </a:ext>
            </a:extLst>
          </p:cNvPr>
          <p:cNvSpPr>
            <a:spLocks noGrp="1"/>
          </p:cNvSpPr>
          <p:nvPr>
            <p:ph type="dt" sz="half" idx="10"/>
          </p:nvPr>
        </p:nvSpPr>
        <p:spPr/>
        <p:txBody>
          <a:bodyPr/>
          <a:lstStyle/>
          <a:p>
            <a:fld id="{E3035059-BEE1-43CC-9E11-FA1C55B0A8F7}" type="datetimeFigureOut">
              <a:rPr lang="fr-FR" smtClean="0"/>
              <a:t>01/03/2026</a:t>
            </a:fld>
            <a:endParaRPr lang="fr-FR"/>
          </a:p>
        </p:txBody>
      </p:sp>
      <p:sp>
        <p:nvSpPr>
          <p:cNvPr id="6" name="Footer Placeholder 5">
            <a:extLst>
              <a:ext uri="{FF2B5EF4-FFF2-40B4-BE49-F238E27FC236}">
                <a16:creationId xmlns:a16="http://schemas.microsoft.com/office/drawing/2014/main" id="{16E180C5-65B0-7FFF-B07C-11184162A126}"/>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B6318F96-DBD2-7519-B63F-FEBF3B42E891}"/>
              </a:ext>
            </a:extLst>
          </p:cNvPr>
          <p:cNvSpPr>
            <a:spLocks noGrp="1"/>
          </p:cNvSpPr>
          <p:nvPr>
            <p:ph type="sldNum" sz="quarter" idx="12"/>
          </p:nvPr>
        </p:nvSpPr>
        <p:spPr/>
        <p:txBody>
          <a:bodyPr/>
          <a:lstStyle/>
          <a:p>
            <a:fld id="{92ED19D0-6058-474D-BE98-77F42B5C6823}" type="slidenum">
              <a:rPr lang="fr-FR" smtClean="0"/>
              <a:t>‹#›</a:t>
            </a:fld>
            <a:endParaRPr lang="fr-FR"/>
          </a:p>
        </p:txBody>
      </p:sp>
    </p:spTree>
    <p:extLst>
      <p:ext uri="{BB962C8B-B14F-4D97-AF65-F5344CB8AC3E}">
        <p14:creationId xmlns:p14="http://schemas.microsoft.com/office/powerpoint/2010/main" val="716622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E268-5020-FAD3-EC19-B436E4EE0514}"/>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84A0AB5F-4809-AC07-84A2-DCA5134148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CCBD1DA6-897A-65B9-4B2C-3F91569B6D18}"/>
              </a:ext>
            </a:extLst>
          </p:cNvPr>
          <p:cNvSpPr>
            <a:spLocks noGrp="1"/>
          </p:cNvSpPr>
          <p:nvPr>
            <p:ph type="dt" sz="half" idx="10"/>
          </p:nvPr>
        </p:nvSpPr>
        <p:spPr/>
        <p:txBody>
          <a:bodyPr/>
          <a:lstStyle/>
          <a:p>
            <a:fld id="{E3035059-BEE1-43CC-9E11-FA1C55B0A8F7}" type="datetimeFigureOut">
              <a:rPr lang="fr-FR" smtClean="0"/>
              <a:t>01/03/2026</a:t>
            </a:fld>
            <a:endParaRPr lang="fr-FR"/>
          </a:p>
        </p:txBody>
      </p:sp>
      <p:sp>
        <p:nvSpPr>
          <p:cNvPr id="5" name="Footer Placeholder 4">
            <a:extLst>
              <a:ext uri="{FF2B5EF4-FFF2-40B4-BE49-F238E27FC236}">
                <a16:creationId xmlns:a16="http://schemas.microsoft.com/office/drawing/2014/main" id="{5D6B49E7-B851-D505-05C0-9823083E44A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54B8EB13-BB07-2677-2EAA-63B378940663}"/>
              </a:ext>
            </a:extLst>
          </p:cNvPr>
          <p:cNvSpPr>
            <a:spLocks noGrp="1"/>
          </p:cNvSpPr>
          <p:nvPr>
            <p:ph type="sldNum" sz="quarter" idx="12"/>
          </p:nvPr>
        </p:nvSpPr>
        <p:spPr/>
        <p:txBody>
          <a:bodyPr/>
          <a:lstStyle/>
          <a:p>
            <a:fld id="{92ED19D0-6058-474D-BE98-77F42B5C6823}" type="slidenum">
              <a:rPr lang="fr-FR" smtClean="0"/>
              <a:t>‹#›</a:t>
            </a:fld>
            <a:endParaRPr lang="fr-FR"/>
          </a:p>
        </p:txBody>
      </p:sp>
    </p:spTree>
    <p:extLst>
      <p:ext uri="{BB962C8B-B14F-4D97-AF65-F5344CB8AC3E}">
        <p14:creationId xmlns:p14="http://schemas.microsoft.com/office/powerpoint/2010/main" val="368629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B4C3B2-2276-5867-EA34-46BE99218F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68DF495B-73FB-9784-3013-BACD021613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841D150C-28FB-D359-6DDB-AFF07AE1C1D1}"/>
              </a:ext>
            </a:extLst>
          </p:cNvPr>
          <p:cNvSpPr>
            <a:spLocks noGrp="1"/>
          </p:cNvSpPr>
          <p:nvPr>
            <p:ph type="dt" sz="half" idx="10"/>
          </p:nvPr>
        </p:nvSpPr>
        <p:spPr/>
        <p:txBody>
          <a:bodyPr/>
          <a:lstStyle/>
          <a:p>
            <a:fld id="{E3035059-BEE1-43CC-9E11-FA1C55B0A8F7}" type="datetimeFigureOut">
              <a:rPr lang="fr-FR" smtClean="0"/>
              <a:t>01/03/2026</a:t>
            </a:fld>
            <a:endParaRPr lang="fr-FR"/>
          </a:p>
        </p:txBody>
      </p:sp>
      <p:sp>
        <p:nvSpPr>
          <p:cNvPr id="5" name="Footer Placeholder 4">
            <a:extLst>
              <a:ext uri="{FF2B5EF4-FFF2-40B4-BE49-F238E27FC236}">
                <a16:creationId xmlns:a16="http://schemas.microsoft.com/office/drawing/2014/main" id="{BCF4D040-1AD1-A970-B49A-2472577927BB}"/>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7FA43EB9-D1A8-A337-86EA-CE5812F62DDB}"/>
              </a:ext>
            </a:extLst>
          </p:cNvPr>
          <p:cNvSpPr>
            <a:spLocks noGrp="1"/>
          </p:cNvSpPr>
          <p:nvPr>
            <p:ph type="sldNum" sz="quarter" idx="12"/>
          </p:nvPr>
        </p:nvSpPr>
        <p:spPr/>
        <p:txBody>
          <a:bodyPr/>
          <a:lstStyle/>
          <a:p>
            <a:fld id="{92ED19D0-6058-474D-BE98-77F42B5C6823}" type="slidenum">
              <a:rPr lang="fr-FR" smtClean="0"/>
              <a:t>‹#›</a:t>
            </a:fld>
            <a:endParaRPr lang="fr-FR"/>
          </a:p>
        </p:txBody>
      </p:sp>
    </p:spTree>
    <p:extLst>
      <p:ext uri="{BB962C8B-B14F-4D97-AF65-F5344CB8AC3E}">
        <p14:creationId xmlns:p14="http://schemas.microsoft.com/office/powerpoint/2010/main" val="582405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F51B7-E955-D7AB-AC01-133AB06591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BF6067A7-BCE9-B2AE-05D9-8CD38E5E62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A05B833B-9C2C-3BBB-03A6-A8AC22CD91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035059-BEE1-43CC-9E11-FA1C55B0A8F7}" type="datetimeFigureOut">
              <a:rPr lang="fr-FR" smtClean="0"/>
              <a:t>01/03/2026</a:t>
            </a:fld>
            <a:endParaRPr lang="fr-FR"/>
          </a:p>
        </p:txBody>
      </p:sp>
      <p:sp>
        <p:nvSpPr>
          <p:cNvPr id="5" name="Footer Placeholder 4">
            <a:extLst>
              <a:ext uri="{FF2B5EF4-FFF2-40B4-BE49-F238E27FC236}">
                <a16:creationId xmlns:a16="http://schemas.microsoft.com/office/drawing/2014/main" id="{692E1C50-25CF-F000-A250-F8425C2069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195C00A1-1D73-384C-18F7-9866C0392A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ED19D0-6058-474D-BE98-77F42B5C6823}" type="slidenum">
              <a:rPr lang="fr-FR" smtClean="0"/>
              <a:t>‹#›</a:t>
            </a:fld>
            <a:endParaRPr lang="fr-FR"/>
          </a:p>
        </p:txBody>
      </p:sp>
    </p:spTree>
    <p:extLst>
      <p:ext uri="{BB962C8B-B14F-4D97-AF65-F5344CB8AC3E}">
        <p14:creationId xmlns:p14="http://schemas.microsoft.com/office/powerpoint/2010/main" val="992783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8" Type="http://schemas.openxmlformats.org/officeDocument/2006/relationships/hyperlink" Target="https://drive.google.com/file/d/1X5B0rSCQkWZLo-ejhr3TFsxUbH5izXdo/view?usp=sharing" TargetMode="External"/><Relationship Id="rId3" Type="http://schemas.openxmlformats.org/officeDocument/2006/relationships/hyperlink" Target="https://drive.google.com/file/d/1syDb1wygPZOz7gsnVV8T7mi9sAcyaQoW/view?usp=sharing" TargetMode="External"/><Relationship Id="rId7" Type="http://schemas.openxmlformats.org/officeDocument/2006/relationships/hyperlink" Target="https://drive.google.com/file/d/1_H3zqtEXUfJQQRi5MvmFEbHlf_YZMcgx/view?usp=sharing"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drive.google.com/file/d/124a8XSLDRWRKxIF3ZaRVqxJlilU9ij7z/view?usp=sharing" TargetMode="External"/><Relationship Id="rId5" Type="http://schemas.openxmlformats.org/officeDocument/2006/relationships/hyperlink" Target="https://drive.google.com/file/d/1qTqQqKzITEIDal6S0drI96vuJZ2Q_AKM/view?usp=sharing" TargetMode="External"/><Relationship Id="rId4" Type="http://schemas.openxmlformats.org/officeDocument/2006/relationships/hyperlink" Target="https://drive.google.com/file/d/1jiYhVp9Gju0SoEBJN39mztvJkzis6vfm/view?usp=sharing" TargetMode="External"/><Relationship Id="rId9" Type="http://schemas.openxmlformats.org/officeDocument/2006/relationships/hyperlink" Target="https://drive.google.com/file/d/1UOgYXkNG6OsnHMs1IChomyHkX5jsTS9z/view?usp=sharin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158638-D32E-A51A-B079-90F10EBE3C54}"/>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b="5806"/>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A078D81-19FC-5434-7CAE-F8FF3191C30B}"/>
              </a:ext>
            </a:extLst>
          </p:cNvPr>
          <p:cNvSpPr>
            <a:spLocks noGrp="1"/>
          </p:cNvSpPr>
          <p:nvPr>
            <p:ph type="ctrTitle"/>
          </p:nvPr>
        </p:nvSpPr>
        <p:spPr>
          <a:xfrm>
            <a:off x="1007805" y="1379210"/>
            <a:ext cx="10938389" cy="2680019"/>
          </a:xfrm>
        </p:spPr>
        <p:txBody>
          <a:bodyPr>
            <a:noAutofit/>
          </a:bodyPr>
          <a:lstStyle/>
          <a:p>
            <a:pPr algn="l">
              <a:lnSpc>
                <a:spcPct val="100000"/>
              </a:lnSpc>
              <a:spcAft>
                <a:spcPts val="1800"/>
              </a:spcAft>
            </a:pPr>
            <a:r>
              <a:rPr lang="en-US" b="1" dirty="0">
                <a:solidFill>
                  <a:srgbClr val="226DF6"/>
                </a:solidFill>
                <a:latin typeface="Aptos (Body)"/>
                <a:cs typeface="Arial" panose="020B0604020202020204" pitchFamily="34" charset="0"/>
              </a:rPr>
              <a:t>AI-Based Freelance-Startup System</a:t>
            </a:r>
            <a:br>
              <a:rPr lang="en-US" b="1" dirty="0">
                <a:solidFill>
                  <a:srgbClr val="226DF6"/>
                </a:solidFill>
                <a:latin typeface="Aptos (Body)"/>
                <a:cs typeface="Arial" panose="020B0604020202020204" pitchFamily="34" charset="0"/>
              </a:rPr>
            </a:br>
            <a:r>
              <a:rPr lang="en-US" b="1" dirty="0">
                <a:solidFill>
                  <a:srgbClr val="226DF6"/>
                </a:solidFill>
                <a:latin typeface="Aptos (Body)"/>
                <a:cs typeface="Arial" panose="020B0604020202020204" pitchFamily="34" charset="0"/>
              </a:rPr>
              <a:t>Progress Presentation</a:t>
            </a:r>
            <a:endParaRPr lang="fr-FR" dirty="0">
              <a:solidFill>
                <a:srgbClr val="226DF6"/>
              </a:solidFill>
              <a:latin typeface="Aptos (Body)"/>
              <a:cs typeface="Arial" panose="020B0604020202020204" pitchFamily="34" charset="0"/>
            </a:endParaRPr>
          </a:p>
        </p:txBody>
      </p:sp>
      <p:sp>
        <p:nvSpPr>
          <p:cNvPr id="3" name="Subtitle 2">
            <a:extLst>
              <a:ext uri="{FF2B5EF4-FFF2-40B4-BE49-F238E27FC236}">
                <a16:creationId xmlns:a16="http://schemas.microsoft.com/office/drawing/2014/main" id="{ADD8033E-0FB5-F78F-3B1B-2D4A136186A6}"/>
              </a:ext>
            </a:extLst>
          </p:cNvPr>
          <p:cNvSpPr>
            <a:spLocks noGrp="1"/>
          </p:cNvSpPr>
          <p:nvPr>
            <p:ph type="subTitle" idx="1"/>
          </p:nvPr>
        </p:nvSpPr>
        <p:spPr>
          <a:xfrm>
            <a:off x="1007806" y="4434815"/>
            <a:ext cx="9833448" cy="1655762"/>
          </a:xfrm>
        </p:spPr>
        <p:txBody>
          <a:bodyPr>
            <a:normAutofit/>
          </a:bodyPr>
          <a:lstStyle/>
          <a:p>
            <a:pPr algn="l"/>
            <a:r>
              <a:rPr lang="fr-FR" sz="3600" dirty="0">
                <a:latin typeface="Aptos (Body)"/>
                <a:cs typeface="Arial" panose="020B0604020202020204" pitchFamily="34" charset="0"/>
              </a:rPr>
              <a:t>Week</a:t>
            </a:r>
            <a:r>
              <a:rPr lang="fr-FR" sz="3600" dirty="0">
                <a:latin typeface="Aptos (Body)"/>
              </a:rPr>
              <a:t> 01</a:t>
            </a:r>
          </a:p>
        </p:txBody>
      </p:sp>
    </p:spTree>
    <p:extLst>
      <p:ext uri="{BB962C8B-B14F-4D97-AF65-F5344CB8AC3E}">
        <p14:creationId xmlns:p14="http://schemas.microsoft.com/office/powerpoint/2010/main" val="2971643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pic>
        <p:nvPicPr>
          <p:cNvPr id="18" name="Content Placeholder 17">
            <a:extLst>
              <a:ext uri="{FF2B5EF4-FFF2-40B4-BE49-F238E27FC236}">
                <a16:creationId xmlns:a16="http://schemas.microsoft.com/office/drawing/2014/main" id="{777BBFE1-508C-690A-B5B9-9FCDB2D456F6}"/>
              </a:ext>
            </a:extLst>
          </p:cNvPr>
          <p:cNvPicPr>
            <a:picLocks noGrp="1" noRot="1" noChangeAspect="1" noMove="1" noResize="1" noEditPoints="1" noAdjustHandles="1" noChangeArrowheads="1" noChangeShapeType="1" noCrop="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306589" cy="6858000"/>
          </a:xfrm>
        </p:spPr>
      </p:pic>
      <p:grpSp>
        <p:nvGrpSpPr>
          <p:cNvPr id="19" name="Group 18">
            <a:extLst>
              <a:ext uri="{FF2B5EF4-FFF2-40B4-BE49-F238E27FC236}">
                <a16:creationId xmlns:a16="http://schemas.microsoft.com/office/drawing/2014/main" id="{664A5578-3080-1E16-04B3-6CF0BEC539A4}"/>
              </a:ext>
            </a:extLst>
          </p:cNvPr>
          <p:cNvGrpSpPr/>
          <p:nvPr/>
        </p:nvGrpSpPr>
        <p:grpSpPr>
          <a:xfrm>
            <a:off x="904568" y="2864575"/>
            <a:ext cx="2626934" cy="1128850"/>
            <a:chOff x="904568" y="2669482"/>
            <a:chExt cx="2626934" cy="1128850"/>
          </a:xfrm>
        </p:grpSpPr>
        <p:sp>
          <p:nvSpPr>
            <p:cNvPr id="5" name="TextBox 4">
              <a:extLst>
                <a:ext uri="{FF2B5EF4-FFF2-40B4-BE49-F238E27FC236}">
                  <a16:creationId xmlns:a16="http://schemas.microsoft.com/office/drawing/2014/main" id="{82C20B18-A40E-74E5-B1F6-B3EEED87A6E4}"/>
                </a:ext>
              </a:extLst>
            </p:cNvPr>
            <p:cNvSpPr txBox="1">
              <a:spLocks/>
            </p:cNvSpPr>
            <p:nvPr/>
          </p:nvSpPr>
          <p:spPr>
            <a:xfrm>
              <a:off x="904568" y="2669482"/>
              <a:ext cx="2626934" cy="684803"/>
            </a:xfrm>
            <a:prstGeom prst="rect">
              <a:avLst/>
            </a:prstGeom>
            <a:noFill/>
          </p:spPr>
          <p:txBody>
            <a:bodyPr wrap="square">
              <a:spAutoFit/>
            </a:bodyPr>
            <a:lstStyle/>
            <a:p>
              <a:pPr algn="ctr">
                <a:buNone/>
              </a:pPr>
              <a:r>
                <a:rPr lang="fr-FR" sz="3850" b="1" dirty="0">
                  <a:solidFill>
                    <a:srgbClr val="226DF6"/>
                  </a:solidFill>
                  <a:effectLst/>
                  <a:latin typeface="Playfair Display" panose="020F0502020204030204" pitchFamily="2" charset="0"/>
                </a:rPr>
                <a:t>Contents</a:t>
              </a:r>
              <a:endParaRPr lang="fr-FR" sz="3850" dirty="0">
                <a:effectLst/>
                <a:latin typeface="Playfair Display" panose="020F0502020204030204" pitchFamily="2" charset="0"/>
              </a:endParaRPr>
            </a:p>
          </p:txBody>
        </p:sp>
        <p:sp>
          <p:nvSpPr>
            <p:cNvPr id="13" name="TextBox 12">
              <a:extLst>
                <a:ext uri="{FF2B5EF4-FFF2-40B4-BE49-F238E27FC236}">
                  <a16:creationId xmlns:a16="http://schemas.microsoft.com/office/drawing/2014/main" id="{D7409096-D706-90CA-46D5-02D2703D6A3A}"/>
                </a:ext>
              </a:extLst>
            </p:cNvPr>
            <p:cNvSpPr txBox="1">
              <a:spLocks/>
            </p:cNvSpPr>
            <p:nvPr/>
          </p:nvSpPr>
          <p:spPr>
            <a:xfrm>
              <a:off x="904568" y="3429000"/>
              <a:ext cx="2626934" cy="369332"/>
            </a:xfrm>
            <a:prstGeom prst="rect">
              <a:avLst/>
            </a:prstGeom>
            <a:noFill/>
          </p:spPr>
          <p:txBody>
            <a:bodyPr wrap="square">
              <a:spAutoFit/>
            </a:bodyPr>
            <a:lstStyle/>
            <a:p>
              <a:pPr algn="ctr">
                <a:buNone/>
              </a:pPr>
              <a:r>
                <a:rPr lang="en-US" spc="300" dirty="0">
                  <a:solidFill>
                    <a:srgbClr val="226DF6"/>
                  </a:solidFill>
                  <a:latin typeface="Libre Baskerville" panose="020F0502020204030204" pitchFamily="2" charset="0"/>
                </a:rPr>
                <a:t>CATALOGUE</a:t>
              </a:r>
              <a:endParaRPr lang="fr-FR" spc="300" dirty="0">
                <a:effectLst/>
                <a:latin typeface="Libre Baskerville" panose="020F0502020204030204" pitchFamily="2" charset="0"/>
              </a:endParaRPr>
            </a:p>
          </p:txBody>
        </p:sp>
      </p:grpSp>
      <p:sp>
        <p:nvSpPr>
          <p:cNvPr id="20" name="TextBox 19">
            <a:extLst>
              <a:ext uri="{FF2B5EF4-FFF2-40B4-BE49-F238E27FC236}">
                <a16:creationId xmlns:a16="http://schemas.microsoft.com/office/drawing/2014/main" id="{BDC79FDF-94A0-969E-E35E-3CA1E288C28B}"/>
              </a:ext>
            </a:extLst>
          </p:cNvPr>
          <p:cNvSpPr txBox="1"/>
          <p:nvPr/>
        </p:nvSpPr>
        <p:spPr>
          <a:xfrm>
            <a:off x="6209071" y="1212759"/>
            <a:ext cx="5982929" cy="3591561"/>
          </a:xfrm>
          <a:prstGeom prst="rect">
            <a:avLst/>
          </a:prstGeom>
          <a:noFill/>
        </p:spPr>
        <p:txBody>
          <a:bodyPr wrap="square" rtlCol="0">
            <a:spAutoFit/>
          </a:bodyPr>
          <a:lstStyle/>
          <a:p>
            <a:pPr>
              <a:lnSpc>
                <a:spcPct val="250000"/>
              </a:lnSpc>
              <a:buClr>
                <a:srgbClr val="226DF6"/>
              </a:buClr>
            </a:pPr>
            <a:r>
              <a:rPr lang="en-US" sz="3200" b="1" dirty="0">
                <a:solidFill>
                  <a:srgbClr val="226DF6"/>
                </a:solidFill>
              </a:rPr>
              <a:t>01</a:t>
            </a:r>
            <a:r>
              <a:rPr lang="en-US" sz="3200" dirty="0"/>
              <a:t>   Project Overview</a:t>
            </a:r>
          </a:p>
          <a:p>
            <a:pPr>
              <a:lnSpc>
                <a:spcPct val="250000"/>
              </a:lnSpc>
              <a:buClr>
                <a:srgbClr val="226DF6"/>
              </a:buClr>
            </a:pPr>
            <a:r>
              <a:rPr lang="en-US" sz="3200" b="1" dirty="0">
                <a:solidFill>
                  <a:srgbClr val="226DF6"/>
                </a:solidFill>
              </a:rPr>
              <a:t>02   </a:t>
            </a:r>
            <a:r>
              <a:rPr lang="en-US" sz="3200" dirty="0"/>
              <a:t>Weekly Progress</a:t>
            </a:r>
          </a:p>
          <a:p>
            <a:pPr>
              <a:lnSpc>
                <a:spcPct val="250000"/>
              </a:lnSpc>
              <a:buClr>
                <a:srgbClr val="226DF6"/>
              </a:buClr>
            </a:pPr>
            <a:r>
              <a:rPr lang="en-US" sz="3200" b="1" dirty="0">
                <a:solidFill>
                  <a:srgbClr val="226DF6"/>
                </a:solidFill>
              </a:rPr>
              <a:t>03    </a:t>
            </a:r>
            <a:r>
              <a:rPr lang="en-US" sz="3200" dirty="0"/>
              <a:t>Planning and Next Steps</a:t>
            </a:r>
            <a:endParaRPr lang="fr-FR" sz="3200" dirty="0"/>
          </a:p>
        </p:txBody>
      </p:sp>
    </p:spTree>
    <p:extLst>
      <p:ext uri="{BB962C8B-B14F-4D97-AF65-F5344CB8AC3E}">
        <p14:creationId xmlns:p14="http://schemas.microsoft.com/office/powerpoint/2010/main" val="3503311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F29278-D45F-10F8-0A34-2B02531A4CE6}"/>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1612"/>
            <a:ext cx="12192000" cy="6861223"/>
          </a:xfrm>
          <a:prstGeom prst="rect">
            <a:avLst/>
          </a:prstGeom>
        </p:spPr>
      </p:pic>
      <p:sp>
        <p:nvSpPr>
          <p:cNvPr id="6" name="TextBox 5">
            <a:extLst>
              <a:ext uri="{FF2B5EF4-FFF2-40B4-BE49-F238E27FC236}">
                <a16:creationId xmlns:a16="http://schemas.microsoft.com/office/drawing/2014/main" id="{CCC46A47-4813-6B0B-DCFF-FD5EA9A45B8F}"/>
              </a:ext>
            </a:extLst>
          </p:cNvPr>
          <p:cNvSpPr txBox="1"/>
          <p:nvPr/>
        </p:nvSpPr>
        <p:spPr>
          <a:xfrm>
            <a:off x="7138219" y="4940711"/>
            <a:ext cx="4630994" cy="1538883"/>
          </a:xfrm>
          <a:prstGeom prst="rect">
            <a:avLst/>
          </a:prstGeom>
          <a:noFill/>
        </p:spPr>
        <p:txBody>
          <a:bodyPr wrap="square" rtlCol="0">
            <a:spAutoFit/>
          </a:bodyPr>
          <a:lstStyle/>
          <a:p>
            <a:pPr algn="r"/>
            <a:r>
              <a:rPr lang="en-US" sz="5400" b="1" dirty="0">
                <a:solidFill>
                  <a:srgbClr val="226DF6"/>
                </a:solidFill>
                <a:latin typeface="Playfair Display" panose="00000500000000000000" pitchFamily="2" charset="0"/>
              </a:rPr>
              <a:t>01</a:t>
            </a:r>
            <a:br>
              <a:rPr lang="en-US" sz="4000" b="1" dirty="0">
                <a:latin typeface="Playfair Display" panose="00000500000000000000" pitchFamily="2" charset="0"/>
              </a:rPr>
            </a:br>
            <a:r>
              <a:rPr lang="en-US" sz="4000" b="1" dirty="0">
                <a:latin typeface="Playfair Display" panose="00000500000000000000" pitchFamily="2" charset="0"/>
              </a:rPr>
              <a:t>Project Overview</a:t>
            </a:r>
            <a:endParaRPr lang="fr-FR" sz="4000" b="1" dirty="0">
              <a:latin typeface="Playfair Display" panose="00000500000000000000" pitchFamily="2" charset="0"/>
            </a:endParaRPr>
          </a:p>
        </p:txBody>
      </p:sp>
      <p:pic>
        <p:nvPicPr>
          <p:cNvPr id="7" name="Picture 6">
            <a:extLst>
              <a:ext uri="{FF2B5EF4-FFF2-40B4-BE49-F238E27FC236}">
                <a16:creationId xmlns:a16="http://schemas.microsoft.com/office/drawing/2014/main" id="{0810C65D-B695-A872-05B0-44F2CD8C181E}"/>
              </a:ext>
            </a:extLst>
          </p:cNvPr>
          <p:cNvPicPr>
            <a:picLocks noChangeAspect="1"/>
          </p:cNvPicPr>
          <p:nvPr/>
        </p:nvPicPr>
        <p:blipFill>
          <a:blip r:embed="rId3">
            <a:extLst>
              <a:ext uri="{28A0092B-C50C-407E-A947-70E740481C1C}">
                <a14:useLocalDpi xmlns:a14="http://schemas.microsoft.com/office/drawing/2010/main" val="0"/>
              </a:ext>
            </a:extLst>
          </a:blip>
          <a:srcRect l="1" r="50846"/>
          <a:stretch>
            <a:fillRect/>
          </a:stretch>
        </p:blipFill>
        <p:spPr>
          <a:xfrm>
            <a:off x="1" y="0"/>
            <a:ext cx="5053781" cy="6858000"/>
          </a:xfrm>
          <a:prstGeom prst="rect">
            <a:avLst/>
          </a:prstGeom>
        </p:spPr>
      </p:pic>
    </p:spTree>
    <p:extLst>
      <p:ext uri="{BB962C8B-B14F-4D97-AF65-F5344CB8AC3E}">
        <p14:creationId xmlns:p14="http://schemas.microsoft.com/office/powerpoint/2010/main" val="24008209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013C3-E9BE-7FD0-22CC-E18DE5A142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D0B430D-CD5F-717F-5C5D-DF149DB64FE5}"/>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1612"/>
            <a:ext cx="12192000" cy="6861223"/>
          </a:xfrm>
          <a:prstGeom prst="rect">
            <a:avLst/>
          </a:prstGeom>
        </p:spPr>
      </p:pic>
      <p:sp>
        <p:nvSpPr>
          <p:cNvPr id="4" name="TextBox 3">
            <a:extLst>
              <a:ext uri="{FF2B5EF4-FFF2-40B4-BE49-F238E27FC236}">
                <a16:creationId xmlns:a16="http://schemas.microsoft.com/office/drawing/2014/main" id="{D4D4064C-DCD1-D44C-04F7-A3E5D2B5BD7F}"/>
              </a:ext>
            </a:extLst>
          </p:cNvPr>
          <p:cNvSpPr txBox="1"/>
          <p:nvPr/>
        </p:nvSpPr>
        <p:spPr>
          <a:xfrm>
            <a:off x="353962" y="250723"/>
            <a:ext cx="3445174" cy="584775"/>
          </a:xfrm>
          <a:prstGeom prst="rect">
            <a:avLst/>
          </a:prstGeom>
          <a:noFill/>
        </p:spPr>
        <p:txBody>
          <a:bodyPr wrap="none" rtlCol="0">
            <a:spAutoFit/>
          </a:bodyPr>
          <a:lstStyle/>
          <a:p>
            <a:r>
              <a:rPr lang="fr-FR" sz="3200" b="1" dirty="0">
                <a:solidFill>
                  <a:srgbClr val="226DF6"/>
                </a:solidFill>
                <a:latin typeface="Playfair Display" panose="00000500000000000000" pitchFamily="2" charset="0"/>
              </a:rPr>
              <a:t>Project </a:t>
            </a:r>
            <a:r>
              <a:rPr lang="fr-FR" sz="3200" b="1" dirty="0" err="1">
                <a:solidFill>
                  <a:srgbClr val="226DF6"/>
                </a:solidFill>
                <a:latin typeface="Playfair Display" panose="00000500000000000000" pitchFamily="2" charset="0"/>
              </a:rPr>
              <a:t>Overview</a:t>
            </a:r>
            <a:endParaRPr lang="fr-FR" sz="3200" dirty="0">
              <a:solidFill>
                <a:srgbClr val="226DF6"/>
              </a:solidFill>
              <a:latin typeface="Playfair Display" panose="00000500000000000000" pitchFamily="2" charset="0"/>
            </a:endParaRPr>
          </a:p>
        </p:txBody>
      </p:sp>
      <p:sp>
        <p:nvSpPr>
          <p:cNvPr id="6" name="Rectangle: Rounded Corners 5">
            <a:extLst>
              <a:ext uri="{FF2B5EF4-FFF2-40B4-BE49-F238E27FC236}">
                <a16:creationId xmlns:a16="http://schemas.microsoft.com/office/drawing/2014/main" id="{27D3D220-D442-F4CA-BD1F-B4F7E87256AA}"/>
              </a:ext>
            </a:extLst>
          </p:cNvPr>
          <p:cNvSpPr/>
          <p:nvPr/>
        </p:nvSpPr>
        <p:spPr>
          <a:xfrm>
            <a:off x="730172" y="1087834"/>
            <a:ext cx="10312558" cy="2627596"/>
          </a:xfrm>
          <a:prstGeom prst="roundRect">
            <a:avLst/>
          </a:prstGeom>
          <a:gradFill flip="none" rotWithShape="1">
            <a:gsLst>
              <a:gs pos="0">
                <a:srgbClr val="FCFCFE"/>
              </a:gs>
              <a:gs pos="74000">
                <a:srgbClr val="FCFCFE"/>
              </a:gs>
              <a:gs pos="83000">
                <a:srgbClr val="FCFCFE"/>
              </a:gs>
              <a:gs pos="100000">
                <a:srgbClr val="FCFCFE"/>
              </a:gs>
            </a:gsLst>
            <a:lin ang="10800000" scaled="1"/>
            <a:tileRect/>
          </a:gra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1">
            <a:extLst>
              <a:ext uri="{FF2B5EF4-FFF2-40B4-BE49-F238E27FC236}">
                <a16:creationId xmlns:a16="http://schemas.microsoft.com/office/drawing/2014/main" id="{3255D526-A68C-8C19-DF40-C1B029D6E6AC}"/>
              </a:ext>
            </a:extLst>
          </p:cNvPr>
          <p:cNvSpPr>
            <a:spLocks noChangeArrowheads="1"/>
          </p:cNvSpPr>
          <p:nvPr/>
        </p:nvSpPr>
        <p:spPr bwMode="auto">
          <a:xfrm>
            <a:off x="1149271" y="1283018"/>
            <a:ext cx="39180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fr-FR" altLang="fr-FR" sz="2800" b="0" i="0" u="none" strike="noStrike" cap="none" normalizeH="0" baseline="0" dirty="0" err="1">
                <a:ln>
                  <a:noFill/>
                </a:ln>
                <a:solidFill>
                  <a:srgbClr val="226DF6"/>
                </a:solidFill>
                <a:effectLst/>
                <a:latin typeface="Playfair Display" panose="00000500000000000000" pitchFamily="2" charset="0"/>
              </a:rPr>
              <a:t>Problem</a:t>
            </a:r>
            <a:r>
              <a:rPr kumimoji="0" lang="fr-FR" altLang="fr-FR" sz="2800" b="0" i="0" u="none" strike="noStrike" cap="none" normalizeH="0" baseline="0" dirty="0">
                <a:ln>
                  <a:noFill/>
                </a:ln>
                <a:solidFill>
                  <a:srgbClr val="226DF6"/>
                </a:solidFill>
                <a:effectLst/>
                <a:latin typeface="Playfair Display" panose="00000500000000000000" pitchFamily="2" charset="0"/>
              </a:rPr>
              <a:t> </a:t>
            </a:r>
            <a:r>
              <a:rPr kumimoji="0" lang="fr-FR" altLang="fr-FR" sz="2800" b="0" i="0" u="none" strike="noStrike" cap="none" normalizeH="0" baseline="0" dirty="0" err="1">
                <a:ln>
                  <a:noFill/>
                </a:ln>
                <a:solidFill>
                  <a:srgbClr val="226DF6"/>
                </a:solidFill>
                <a:effectLst/>
                <a:latin typeface="Playfair Display" panose="00000500000000000000" pitchFamily="2" charset="0"/>
              </a:rPr>
              <a:t>statement</a:t>
            </a:r>
            <a:endParaRPr kumimoji="0" lang="fr-FR" altLang="fr-FR" sz="2800" b="0" i="0" u="none" strike="noStrike" cap="none" normalizeH="0" baseline="0" dirty="0">
              <a:ln>
                <a:noFill/>
              </a:ln>
              <a:solidFill>
                <a:srgbClr val="226DF6"/>
              </a:solidFill>
              <a:effectLst/>
              <a:latin typeface="Playfair Display" panose="00000500000000000000" pitchFamily="2" charset="0"/>
            </a:endParaRPr>
          </a:p>
        </p:txBody>
      </p:sp>
      <p:sp>
        <p:nvSpPr>
          <p:cNvPr id="11" name="Rectangle 1">
            <a:extLst>
              <a:ext uri="{FF2B5EF4-FFF2-40B4-BE49-F238E27FC236}">
                <a16:creationId xmlns:a16="http://schemas.microsoft.com/office/drawing/2014/main" id="{558BED8E-3958-59F6-7F9F-80B7185B6B42}"/>
              </a:ext>
            </a:extLst>
          </p:cNvPr>
          <p:cNvSpPr>
            <a:spLocks noChangeArrowheads="1"/>
          </p:cNvSpPr>
          <p:nvPr/>
        </p:nvSpPr>
        <p:spPr bwMode="auto">
          <a:xfrm>
            <a:off x="1149271" y="2042457"/>
            <a:ext cx="921392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latin typeface="Playfair Display" panose="00000500000000000000" pitchFamily="2" charset="0"/>
              </a:rPr>
              <a:t>The freelance market faces a dual challenge: freelancers seek fair opportunities, while startups struggle to identify reliable talent among exaggerated CVs. Current platforms focus on job postings but lack intelligent evaluation, legal protection, and dynamic monitoring, leading to hiring risks and inefficiencies.</a:t>
            </a:r>
            <a:endParaRPr kumimoji="0" lang="fr-FR" altLang="fr-FR" b="0" i="0" u="none" strike="noStrike" cap="none" normalizeH="0" baseline="0" dirty="0">
              <a:ln>
                <a:noFill/>
              </a:ln>
              <a:effectLst/>
              <a:latin typeface="Playfair Display" panose="00000500000000000000" pitchFamily="2" charset="0"/>
            </a:endParaRPr>
          </a:p>
        </p:txBody>
      </p:sp>
      <p:sp>
        <p:nvSpPr>
          <p:cNvPr id="12" name="Rectangle: Rounded Corners 11">
            <a:extLst>
              <a:ext uri="{FF2B5EF4-FFF2-40B4-BE49-F238E27FC236}">
                <a16:creationId xmlns:a16="http://schemas.microsoft.com/office/drawing/2014/main" id="{9106C673-1D84-66CC-6812-6EB090490937}"/>
              </a:ext>
            </a:extLst>
          </p:cNvPr>
          <p:cNvSpPr/>
          <p:nvPr/>
        </p:nvSpPr>
        <p:spPr>
          <a:xfrm>
            <a:off x="787320" y="3910614"/>
            <a:ext cx="10255409" cy="2627596"/>
          </a:xfrm>
          <a:prstGeom prst="roundRect">
            <a:avLst/>
          </a:prstGeom>
          <a:gradFill flip="none" rotWithShape="1">
            <a:gsLst>
              <a:gs pos="0">
                <a:srgbClr val="FCFCFE"/>
              </a:gs>
              <a:gs pos="74000">
                <a:srgbClr val="FCFCFE"/>
              </a:gs>
              <a:gs pos="83000">
                <a:srgbClr val="FCFCFE"/>
              </a:gs>
              <a:gs pos="100000">
                <a:srgbClr val="FCFCFE"/>
              </a:gs>
            </a:gsLst>
            <a:lin ang="10800000" scaled="1"/>
            <a:tileRect/>
          </a:gra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extBox 8">
            <a:extLst>
              <a:ext uri="{FF2B5EF4-FFF2-40B4-BE49-F238E27FC236}">
                <a16:creationId xmlns:a16="http://schemas.microsoft.com/office/drawing/2014/main" id="{DBE9CFD1-3838-6264-974E-1B3DD7F9C7E3}"/>
              </a:ext>
            </a:extLst>
          </p:cNvPr>
          <p:cNvSpPr txBox="1"/>
          <p:nvPr/>
        </p:nvSpPr>
        <p:spPr>
          <a:xfrm>
            <a:off x="1149271" y="4197410"/>
            <a:ext cx="4241879"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fr-FR" altLang="fr-FR" sz="2800" b="0" i="0" u="none" strike="noStrike" cap="none" normalizeH="0" baseline="0" dirty="0">
                <a:ln>
                  <a:noFill/>
                </a:ln>
                <a:solidFill>
                  <a:srgbClr val="226DF6"/>
                </a:solidFill>
                <a:effectLst/>
                <a:latin typeface="Playfair Display" panose="00000500000000000000" pitchFamily="2" charset="0"/>
              </a:rPr>
              <a:t>Objective of the </a:t>
            </a:r>
            <a:r>
              <a:rPr kumimoji="0" lang="fr-FR" altLang="fr-FR" sz="2800" b="0" i="0" u="none" strike="noStrike" cap="none" normalizeH="0" baseline="0" dirty="0" err="1">
                <a:ln>
                  <a:noFill/>
                </a:ln>
                <a:solidFill>
                  <a:srgbClr val="226DF6"/>
                </a:solidFill>
                <a:effectLst/>
                <a:latin typeface="Playfair Display" panose="00000500000000000000" pitchFamily="2" charset="0"/>
              </a:rPr>
              <a:t>project</a:t>
            </a:r>
            <a:endParaRPr kumimoji="0" lang="fr-FR" altLang="fr-FR" sz="2800" b="0" i="0" u="none" strike="noStrike" cap="none" normalizeH="0" baseline="0" dirty="0">
              <a:ln>
                <a:noFill/>
              </a:ln>
              <a:solidFill>
                <a:srgbClr val="226DF6"/>
              </a:solidFill>
              <a:effectLst/>
              <a:latin typeface="Playfair Display" panose="00000500000000000000" pitchFamily="2" charset="0"/>
            </a:endParaRPr>
          </a:p>
        </p:txBody>
      </p:sp>
      <p:sp>
        <p:nvSpPr>
          <p:cNvPr id="13" name="Rectangle 1">
            <a:extLst>
              <a:ext uri="{FF2B5EF4-FFF2-40B4-BE49-F238E27FC236}">
                <a16:creationId xmlns:a16="http://schemas.microsoft.com/office/drawing/2014/main" id="{CEA30FA7-4B69-0C84-D331-42B0CF42716B}"/>
              </a:ext>
            </a:extLst>
          </p:cNvPr>
          <p:cNvSpPr>
            <a:spLocks noChangeArrowheads="1"/>
          </p:cNvSpPr>
          <p:nvPr/>
        </p:nvSpPr>
        <p:spPr bwMode="auto">
          <a:xfrm>
            <a:off x="1149269" y="4720631"/>
            <a:ext cx="1049028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latin typeface="Playfair Display" panose="00000500000000000000" pitchFamily="2" charset="0"/>
              </a:rPr>
              <a:t>Create an AI-driven platform that:</a:t>
            </a:r>
          </a:p>
          <a:p>
            <a:r>
              <a:rPr lang="en-US" sz="2000" dirty="0">
                <a:latin typeface="Playfair Display" panose="00000500000000000000" pitchFamily="2" charset="0"/>
              </a:rPr>
              <a:t>Matches startups with the best freelancers</a:t>
            </a:r>
          </a:p>
          <a:p>
            <a:r>
              <a:rPr lang="en-US" sz="2000" dirty="0">
                <a:latin typeface="Playfair Display" panose="00000500000000000000" pitchFamily="2" charset="0"/>
              </a:rPr>
              <a:t>Monitors performance and behavior in real-time</a:t>
            </a:r>
          </a:p>
          <a:p>
            <a:r>
              <a:rPr lang="en-US" sz="2000" dirty="0">
                <a:latin typeface="Playfair Display" panose="00000500000000000000" pitchFamily="2" charset="0"/>
              </a:rPr>
              <a:t>Provides legal contracts and secure payments</a:t>
            </a:r>
          </a:p>
          <a:p>
            <a:r>
              <a:rPr lang="en-US" sz="2000" dirty="0">
                <a:latin typeface="Playfair Display" panose="00000500000000000000" pitchFamily="2" charset="0"/>
              </a:rPr>
              <a:t>Supports freelancer growth through personalized improvement plans</a:t>
            </a:r>
          </a:p>
        </p:txBody>
      </p:sp>
    </p:spTree>
    <p:extLst>
      <p:ext uri="{BB962C8B-B14F-4D97-AF65-F5344CB8AC3E}">
        <p14:creationId xmlns:p14="http://schemas.microsoft.com/office/powerpoint/2010/main" val="2840651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A0755-A06C-49D8-78D7-59CB564AF1B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BE7DFC2-2AA5-D2D7-6EA5-CEE3B57FB77B}"/>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1612"/>
            <a:ext cx="12192000" cy="6861223"/>
          </a:xfrm>
          <a:prstGeom prst="rect">
            <a:avLst/>
          </a:prstGeom>
        </p:spPr>
      </p:pic>
      <p:sp>
        <p:nvSpPr>
          <p:cNvPr id="6" name="TextBox 5">
            <a:extLst>
              <a:ext uri="{FF2B5EF4-FFF2-40B4-BE49-F238E27FC236}">
                <a16:creationId xmlns:a16="http://schemas.microsoft.com/office/drawing/2014/main" id="{5C2C9DF1-4DB8-D7F7-4782-5A0FF54E7996}"/>
              </a:ext>
            </a:extLst>
          </p:cNvPr>
          <p:cNvSpPr txBox="1"/>
          <p:nvPr/>
        </p:nvSpPr>
        <p:spPr>
          <a:xfrm>
            <a:off x="7138219" y="4940711"/>
            <a:ext cx="4630994" cy="1538883"/>
          </a:xfrm>
          <a:prstGeom prst="rect">
            <a:avLst/>
          </a:prstGeom>
          <a:noFill/>
        </p:spPr>
        <p:txBody>
          <a:bodyPr wrap="square" rtlCol="0">
            <a:spAutoFit/>
          </a:bodyPr>
          <a:lstStyle/>
          <a:p>
            <a:pPr algn="r"/>
            <a:r>
              <a:rPr lang="en-US" sz="5400" b="1" dirty="0">
                <a:solidFill>
                  <a:srgbClr val="226DF6"/>
                </a:solidFill>
                <a:latin typeface="Playfair Display" panose="00000500000000000000" pitchFamily="2" charset="0"/>
              </a:rPr>
              <a:t>02</a:t>
            </a:r>
            <a:br>
              <a:rPr lang="en-US" sz="4000" b="1" dirty="0">
                <a:latin typeface="Playfair Display" panose="00000500000000000000" pitchFamily="2" charset="0"/>
              </a:rPr>
            </a:br>
            <a:r>
              <a:rPr lang="en-US" sz="4000" b="1" dirty="0">
                <a:latin typeface="Playfair Display" panose="00000500000000000000" pitchFamily="2" charset="0"/>
              </a:rPr>
              <a:t>Weekly Progress</a:t>
            </a:r>
            <a:endParaRPr lang="fr-FR" sz="4000" b="1" dirty="0">
              <a:latin typeface="Playfair Display" panose="00000500000000000000" pitchFamily="2" charset="0"/>
            </a:endParaRPr>
          </a:p>
        </p:txBody>
      </p:sp>
      <p:pic>
        <p:nvPicPr>
          <p:cNvPr id="4" name="Picture 3">
            <a:extLst>
              <a:ext uri="{FF2B5EF4-FFF2-40B4-BE49-F238E27FC236}">
                <a16:creationId xmlns:a16="http://schemas.microsoft.com/office/drawing/2014/main" id="{98E8F0D8-C412-D8F8-C3B6-869896E1B4D6}"/>
              </a:ext>
            </a:extLst>
          </p:cNvPr>
          <p:cNvPicPr>
            <a:picLocks noChangeAspect="1"/>
          </p:cNvPicPr>
          <p:nvPr/>
        </p:nvPicPr>
        <p:blipFill>
          <a:blip r:embed="rId3">
            <a:extLst>
              <a:ext uri="{28A0092B-C50C-407E-A947-70E740481C1C}">
                <a14:useLocalDpi xmlns:a14="http://schemas.microsoft.com/office/drawing/2010/main" val="0"/>
              </a:ext>
            </a:extLst>
          </a:blip>
          <a:srcRect l="20937" t="24" r="37812" b="-24"/>
          <a:stretch>
            <a:fillRect/>
          </a:stretch>
        </p:blipFill>
        <p:spPr>
          <a:xfrm>
            <a:off x="0" y="0"/>
            <a:ext cx="5029200" cy="6858000"/>
          </a:xfrm>
          <a:prstGeom prst="rect">
            <a:avLst/>
          </a:prstGeom>
        </p:spPr>
      </p:pic>
    </p:spTree>
    <p:extLst>
      <p:ext uri="{BB962C8B-B14F-4D97-AF65-F5344CB8AC3E}">
        <p14:creationId xmlns:p14="http://schemas.microsoft.com/office/powerpoint/2010/main" val="3448699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FAE04-8B1F-803B-B14A-7198D719A84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9142E11-FE39-7D43-60D4-788C0F76FDB5}"/>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1612"/>
            <a:ext cx="12192000" cy="6861223"/>
          </a:xfrm>
          <a:prstGeom prst="rect">
            <a:avLst/>
          </a:prstGeom>
        </p:spPr>
      </p:pic>
      <p:sp>
        <p:nvSpPr>
          <p:cNvPr id="2" name="TextBox 1">
            <a:extLst>
              <a:ext uri="{FF2B5EF4-FFF2-40B4-BE49-F238E27FC236}">
                <a16:creationId xmlns:a16="http://schemas.microsoft.com/office/drawing/2014/main" id="{64E56539-D5A2-104C-FCE0-76873A8BED26}"/>
              </a:ext>
            </a:extLst>
          </p:cNvPr>
          <p:cNvSpPr txBox="1"/>
          <p:nvPr/>
        </p:nvSpPr>
        <p:spPr>
          <a:xfrm>
            <a:off x="353962" y="250723"/>
            <a:ext cx="5501827" cy="584775"/>
          </a:xfrm>
          <a:prstGeom prst="rect">
            <a:avLst/>
          </a:prstGeom>
          <a:noFill/>
        </p:spPr>
        <p:txBody>
          <a:bodyPr wrap="none" rtlCol="0">
            <a:spAutoFit/>
          </a:bodyPr>
          <a:lstStyle/>
          <a:p>
            <a:r>
              <a:rPr lang="fr-FR" sz="3200" b="1" dirty="0">
                <a:solidFill>
                  <a:srgbClr val="226DF6"/>
                </a:solidFill>
                <a:latin typeface="Playfair Display" panose="00000500000000000000" pitchFamily="2" charset="0"/>
              </a:rPr>
              <a:t>Work </a:t>
            </a:r>
            <a:r>
              <a:rPr lang="fr-FR" sz="3200" b="1" dirty="0" err="1">
                <a:solidFill>
                  <a:srgbClr val="226DF6"/>
                </a:solidFill>
                <a:latin typeface="Playfair Display" panose="00000500000000000000" pitchFamily="2" charset="0"/>
              </a:rPr>
              <a:t>Completed</a:t>
            </a:r>
            <a:r>
              <a:rPr lang="fr-FR" sz="3200" b="1" dirty="0">
                <a:solidFill>
                  <a:srgbClr val="226DF6"/>
                </a:solidFill>
                <a:latin typeface="Playfair Display" panose="00000500000000000000" pitchFamily="2" charset="0"/>
              </a:rPr>
              <a:t> This Week</a:t>
            </a:r>
            <a:endParaRPr lang="fr-FR" sz="3200" dirty="0">
              <a:solidFill>
                <a:srgbClr val="226DF6"/>
              </a:solidFill>
              <a:latin typeface="Playfair Display" panose="00000500000000000000" pitchFamily="2" charset="0"/>
            </a:endParaRPr>
          </a:p>
        </p:txBody>
      </p:sp>
      <p:sp>
        <p:nvSpPr>
          <p:cNvPr id="4" name="TextBox 3">
            <a:extLst>
              <a:ext uri="{FF2B5EF4-FFF2-40B4-BE49-F238E27FC236}">
                <a16:creationId xmlns:a16="http://schemas.microsoft.com/office/drawing/2014/main" id="{098AF079-401D-B4C7-EE81-7749361102E8}"/>
              </a:ext>
            </a:extLst>
          </p:cNvPr>
          <p:cNvSpPr txBox="1"/>
          <p:nvPr/>
        </p:nvSpPr>
        <p:spPr>
          <a:xfrm>
            <a:off x="6633965" y="4449763"/>
            <a:ext cx="4275851" cy="461665"/>
          </a:xfrm>
          <a:prstGeom prst="rect">
            <a:avLst/>
          </a:prstGeom>
          <a:noFill/>
        </p:spPr>
        <p:txBody>
          <a:bodyPr wrap="none" rtlCol="0">
            <a:spAutoFit/>
          </a:bodyPr>
          <a:lstStyle/>
          <a:p>
            <a:r>
              <a:rPr lang="fr-FR" sz="2400" b="1" dirty="0" err="1">
                <a:solidFill>
                  <a:srgbClr val="226DF6"/>
                </a:solidFill>
                <a:latin typeface="Playfair Display" panose="00000500000000000000" pitchFamily="2" charset="0"/>
              </a:rPr>
              <a:t>Requirements</a:t>
            </a:r>
            <a:r>
              <a:rPr lang="fr-FR" sz="2400" b="1" dirty="0">
                <a:solidFill>
                  <a:srgbClr val="226DF6"/>
                </a:solidFill>
                <a:latin typeface="Playfair Display" panose="00000500000000000000" pitchFamily="2" charset="0"/>
              </a:rPr>
              <a:t> / Design</a:t>
            </a:r>
            <a:r>
              <a:rPr lang="en-US" sz="2400" b="1" kern="1500" spc="40" dirty="0">
                <a:solidFill>
                  <a:srgbClr val="226DF6"/>
                </a:solidFill>
                <a:latin typeface="Playfair Display" panose="00000500000000000000" pitchFamily="2" charset="0"/>
              </a:rPr>
              <a:t> tasks</a:t>
            </a:r>
            <a:endParaRPr lang="fr-FR" sz="2400" b="1" kern="1500" spc="40" dirty="0">
              <a:solidFill>
                <a:srgbClr val="226DF6"/>
              </a:solidFill>
              <a:latin typeface="Playfair Display" panose="00000500000000000000" pitchFamily="2" charset="0"/>
            </a:endParaRPr>
          </a:p>
        </p:txBody>
      </p:sp>
      <p:sp>
        <p:nvSpPr>
          <p:cNvPr id="17" name="Oval 16">
            <a:extLst>
              <a:ext uri="{FF2B5EF4-FFF2-40B4-BE49-F238E27FC236}">
                <a16:creationId xmlns:a16="http://schemas.microsoft.com/office/drawing/2014/main" id="{D6048EB8-5353-1A56-D9DE-8F44B9D2C10B}"/>
              </a:ext>
            </a:extLst>
          </p:cNvPr>
          <p:cNvSpPr/>
          <p:nvPr/>
        </p:nvSpPr>
        <p:spPr>
          <a:xfrm>
            <a:off x="8552277" y="3428999"/>
            <a:ext cx="822960" cy="822960"/>
          </a:xfrm>
          <a:prstGeom prst="ellipse">
            <a:avLst/>
          </a:prstGeom>
          <a:ln w="28575" cmpd="thinThick">
            <a:solidFill>
              <a:srgbClr val="226DF6"/>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pic>
        <p:nvPicPr>
          <p:cNvPr id="11" name="Graphic 10" descr="Paper with solid fill">
            <a:extLst>
              <a:ext uri="{FF2B5EF4-FFF2-40B4-BE49-F238E27FC236}">
                <a16:creationId xmlns:a16="http://schemas.microsoft.com/office/drawing/2014/main" id="{61DA41E8-E3AF-44D2-1104-673E22634D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89437" y="3566159"/>
            <a:ext cx="548640" cy="548640"/>
          </a:xfrm>
          <a:prstGeom prst="rect">
            <a:avLst/>
          </a:prstGeom>
        </p:spPr>
      </p:pic>
      <p:sp>
        <p:nvSpPr>
          <p:cNvPr id="22" name="TextBox 21">
            <a:extLst>
              <a:ext uri="{FF2B5EF4-FFF2-40B4-BE49-F238E27FC236}">
                <a16:creationId xmlns:a16="http://schemas.microsoft.com/office/drawing/2014/main" id="{6BDD67FC-F18A-FCA9-FBE7-AE4B3C68B707}"/>
              </a:ext>
            </a:extLst>
          </p:cNvPr>
          <p:cNvSpPr txBox="1"/>
          <p:nvPr/>
        </p:nvSpPr>
        <p:spPr>
          <a:xfrm>
            <a:off x="6663287" y="4895426"/>
            <a:ext cx="4600940" cy="1015663"/>
          </a:xfrm>
          <a:prstGeom prst="rect">
            <a:avLst/>
          </a:prstGeom>
          <a:noFill/>
        </p:spPr>
        <p:txBody>
          <a:bodyPr wrap="none" rtlCol="0">
            <a:spAutoFit/>
          </a:bodyPr>
          <a:lstStyle/>
          <a:p>
            <a:pPr algn="ctr"/>
            <a:r>
              <a:rPr lang="en-US" sz="2000" dirty="0">
                <a:latin typeface="Playfair Display" panose="00000500000000000000" pitchFamily="2" charset="0"/>
              </a:rPr>
              <a:t>Specification</a:t>
            </a:r>
            <a:br>
              <a:rPr lang="en-US" sz="2000" dirty="0">
                <a:latin typeface="Playfair Display" panose="00000500000000000000" pitchFamily="2" charset="0"/>
              </a:rPr>
            </a:br>
            <a:r>
              <a:rPr lang="fr-FR" sz="2000" dirty="0">
                <a:latin typeface="Playfair Display" panose="00000500000000000000" pitchFamily="2" charset="0"/>
              </a:rPr>
              <a:t>System Architecture</a:t>
            </a:r>
          </a:p>
          <a:p>
            <a:pPr algn="ctr"/>
            <a:r>
              <a:rPr lang="fr-FR" sz="2000" dirty="0" err="1">
                <a:latin typeface="Playfair Display" panose="00000500000000000000" pitchFamily="2" charset="0"/>
              </a:rPr>
              <a:t>Assign</a:t>
            </a:r>
            <a:r>
              <a:rPr lang="fr-FR" sz="2000" dirty="0">
                <a:latin typeface="Playfair Display" panose="00000500000000000000" pitchFamily="2" charset="0"/>
              </a:rPr>
              <a:t> </a:t>
            </a:r>
            <a:r>
              <a:rPr lang="fr-FR" sz="2000" dirty="0" err="1">
                <a:latin typeface="Playfair Display" panose="00000500000000000000" pitchFamily="2" charset="0"/>
              </a:rPr>
              <a:t>Requirements</a:t>
            </a:r>
            <a:r>
              <a:rPr lang="fr-FR" sz="2000" dirty="0">
                <a:latin typeface="Playfair Display" panose="00000500000000000000" pitchFamily="2" charset="0"/>
              </a:rPr>
              <a:t> to </a:t>
            </a:r>
            <a:r>
              <a:rPr lang="fr-FR" sz="2000" dirty="0" err="1">
                <a:latin typeface="Playfair Display" panose="00000500000000000000" pitchFamily="2" charset="0"/>
              </a:rPr>
              <a:t>Microservices</a:t>
            </a:r>
            <a:endParaRPr lang="fr-FR" sz="2000" dirty="0">
              <a:latin typeface="Playfair Display" panose="00000500000000000000" pitchFamily="2" charset="0"/>
            </a:endParaRPr>
          </a:p>
        </p:txBody>
      </p:sp>
      <p:sp>
        <p:nvSpPr>
          <p:cNvPr id="3" name="TextBox 2">
            <a:extLst>
              <a:ext uri="{FF2B5EF4-FFF2-40B4-BE49-F238E27FC236}">
                <a16:creationId xmlns:a16="http://schemas.microsoft.com/office/drawing/2014/main" id="{EAFD38C7-3CB2-4204-9528-1456F7E5308A}"/>
              </a:ext>
            </a:extLst>
          </p:cNvPr>
          <p:cNvSpPr txBox="1"/>
          <p:nvPr/>
        </p:nvSpPr>
        <p:spPr>
          <a:xfrm>
            <a:off x="4466716" y="2228580"/>
            <a:ext cx="2534668" cy="461665"/>
          </a:xfrm>
          <a:prstGeom prst="rect">
            <a:avLst/>
          </a:prstGeom>
          <a:noFill/>
        </p:spPr>
        <p:txBody>
          <a:bodyPr wrap="none" rtlCol="0">
            <a:spAutoFit/>
          </a:bodyPr>
          <a:lstStyle/>
          <a:p>
            <a:r>
              <a:rPr lang="en-US" sz="2400" b="1" kern="1500" spc="40" dirty="0" err="1">
                <a:solidFill>
                  <a:srgbClr val="226DF6"/>
                </a:solidFill>
                <a:latin typeface="Playfair Display" panose="00000500000000000000" pitchFamily="2" charset="0"/>
              </a:rPr>
              <a:t>Reasearch</a:t>
            </a:r>
            <a:r>
              <a:rPr lang="en-US" sz="2400" b="1" kern="1500" spc="40" dirty="0">
                <a:solidFill>
                  <a:srgbClr val="226DF6"/>
                </a:solidFill>
                <a:latin typeface="Playfair Display" panose="00000500000000000000" pitchFamily="2" charset="0"/>
              </a:rPr>
              <a:t> tasks</a:t>
            </a:r>
            <a:endParaRPr lang="fr-FR" sz="2400" b="1" kern="1500" spc="40" dirty="0">
              <a:solidFill>
                <a:srgbClr val="226DF6"/>
              </a:solidFill>
              <a:latin typeface="Playfair Display" panose="00000500000000000000" pitchFamily="2" charset="0"/>
            </a:endParaRPr>
          </a:p>
        </p:txBody>
      </p:sp>
      <p:sp>
        <p:nvSpPr>
          <p:cNvPr id="14" name="Oval 13">
            <a:extLst>
              <a:ext uri="{FF2B5EF4-FFF2-40B4-BE49-F238E27FC236}">
                <a16:creationId xmlns:a16="http://schemas.microsoft.com/office/drawing/2014/main" id="{1F26AFC4-1C70-EF0E-2AB9-D871AB1B1E25}"/>
              </a:ext>
            </a:extLst>
          </p:cNvPr>
          <p:cNvSpPr/>
          <p:nvPr/>
        </p:nvSpPr>
        <p:spPr>
          <a:xfrm>
            <a:off x="5322570" y="1414200"/>
            <a:ext cx="822960" cy="822960"/>
          </a:xfrm>
          <a:prstGeom prst="ellipse">
            <a:avLst/>
          </a:prstGeom>
          <a:ln w="28575" cmpd="thinThick">
            <a:solidFill>
              <a:srgbClr val="226DF6"/>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pic>
        <p:nvPicPr>
          <p:cNvPr id="13" name="Graphic 12" descr="Magnifying glass with solid fill">
            <a:extLst>
              <a:ext uri="{FF2B5EF4-FFF2-40B4-BE49-F238E27FC236}">
                <a16:creationId xmlns:a16="http://schemas.microsoft.com/office/drawing/2014/main" id="{15C1F478-FD01-55D4-2DC2-472AF232B8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05450" y="1592790"/>
            <a:ext cx="457200" cy="457200"/>
          </a:xfrm>
          <a:prstGeom prst="rect">
            <a:avLst/>
          </a:prstGeom>
        </p:spPr>
      </p:pic>
      <p:sp>
        <p:nvSpPr>
          <p:cNvPr id="23" name="TextBox 22">
            <a:extLst>
              <a:ext uri="{FF2B5EF4-FFF2-40B4-BE49-F238E27FC236}">
                <a16:creationId xmlns:a16="http://schemas.microsoft.com/office/drawing/2014/main" id="{91EBCFBE-8200-9F09-7B56-31477675FBEF}"/>
              </a:ext>
            </a:extLst>
          </p:cNvPr>
          <p:cNvSpPr txBox="1"/>
          <p:nvPr/>
        </p:nvSpPr>
        <p:spPr>
          <a:xfrm>
            <a:off x="3661785" y="2690245"/>
            <a:ext cx="4144530" cy="1015663"/>
          </a:xfrm>
          <a:prstGeom prst="rect">
            <a:avLst/>
          </a:prstGeom>
          <a:noFill/>
        </p:spPr>
        <p:txBody>
          <a:bodyPr wrap="square" rtlCol="0">
            <a:spAutoFit/>
          </a:bodyPr>
          <a:lstStyle/>
          <a:p>
            <a:pPr algn="ctr"/>
            <a:r>
              <a:rPr lang="en-US" sz="2000" dirty="0">
                <a:latin typeface="Playfair Display" panose="00000500000000000000" pitchFamily="2" charset="0"/>
              </a:rPr>
              <a:t>Market Benchmarking Technologies study</a:t>
            </a:r>
            <a:br>
              <a:rPr lang="en-US" sz="2000" dirty="0">
                <a:latin typeface="Playfair Display" panose="00000500000000000000" pitchFamily="2" charset="0"/>
              </a:rPr>
            </a:br>
            <a:r>
              <a:rPr lang="en-US" sz="2000" dirty="0">
                <a:latin typeface="Playfair Display" panose="00000500000000000000" pitchFamily="2" charset="0"/>
              </a:rPr>
              <a:t>AI Models Study</a:t>
            </a:r>
            <a:endParaRPr lang="fr-FR" sz="2000" dirty="0">
              <a:latin typeface="Playfair Display" panose="00000500000000000000" pitchFamily="2" charset="0"/>
            </a:endParaRPr>
          </a:p>
        </p:txBody>
      </p:sp>
      <p:sp>
        <p:nvSpPr>
          <p:cNvPr id="7" name="TextBox 6">
            <a:extLst>
              <a:ext uri="{FF2B5EF4-FFF2-40B4-BE49-F238E27FC236}">
                <a16:creationId xmlns:a16="http://schemas.microsoft.com/office/drawing/2014/main" id="{0337009B-6FD7-7A20-5C7A-0BA780FC244F}"/>
              </a:ext>
            </a:extLst>
          </p:cNvPr>
          <p:cNvSpPr txBox="1"/>
          <p:nvPr/>
        </p:nvSpPr>
        <p:spPr>
          <a:xfrm>
            <a:off x="758662" y="4717653"/>
            <a:ext cx="4314323" cy="461665"/>
          </a:xfrm>
          <a:prstGeom prst="rect">
            <a:avLst/>
          </a:prstGeom>
          <a:noFill/>
        </p:spPr>
        <p:txBody>
          <a:bodyPr wrap="none" rtlCol="0">
            <a:spAutoFit/>
          </a:bodyPr>
          <a:lstStyle/>
          <a:p>
            <a:r>
              <a:rPr lang="fr-FR" sz="2400" b="1" dirty="0">
                <a:solidFill>
                  <a:srgbClr val="226DF6"/>
                </a:solidFill>
                <a:latin typeface="Playfair Display" panose="00000500000000000000" pitchFamily="2" charset="0"/>
              </a:rPr>
              <a:t>Planning / Engineering</a:t>
            </a:r>
            <a:r>
              <a:rPr lang="en-US" sz="2400" b="1" kern="1500" spc="40" dirty="0">
                <a:solidFill>
                  <a:srgbClr val="226DF6"/>
                </a:solidFill>
                <a:latin typeface="Playfair Display" panose="00000500000000000000" pitchFamily="2" charset="0"/>
              </a:rPr>
              <a:t> tasks</a:t>
            </a:r>
            <a:endParaRPr lang="fr-FR" sz="2400" b="1" kern="1500" spc="40" dirty="0">
              <a:solidFill>
                <a:srgbClr val="226DF6"/>
              </a:solidFill>
              <a:latin typeface="Playfair Display" panose="00000500000000000000" pitchFamily="2" charset="0"/>
            </a:endParaRPr>
          </a:p>
        </p:txBody>
      </p:sp>
      <p:sp>
        <p:nvSpPr>
          <p:cNvPr id="20" name="Oval 19">
            <a:extLst>
              <a:ext uri="{FF2B5EF4-FFF2-40B4-BE49-F238E27FC236}">
                <a16:creationId xmlns:a16="http://schemas.microsoft.com/office/drawing/2014/main" id="{BE28039D-0183-BC71-F25A-7D6D51C2D8F8}"/>
              </a:ext>
            </a:extLst>
          </p:cNvPr>
          <p:cNvSpPr/>
          <p:nvPr/>
        </p:nvSpPr>
        <p:spPr>
          <a:xfrm>
            <a:off x="2504345" y="3840479"/>
            <a:ext cx="822960" cy="822960"/>
          </a:xfrm>
          <a:prstGeom prst="ellipse">
            <a:avLst/>
          </a:prstGeom>
          <a:ln w="28575" cmpd="thinThick">
            <a:solidFill>
              <a:srgbClr val="226DF6"/>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sp>
        <p:nvSpPr>
          <p:cNvPr id="24" name="TextBox 23">
            <a:extLst>
              <a:ext uri="{FF2B5EF4-FFF2-40B4-BE49-F238E27FC236}">
                <a16:creationId xmlns:a16="http://schemas.microsoft.com/office/drawing/2014/main" id="{F9DD4A97-FBF9-B879-53EA-7F6898E0659A}"/>
              </a:ext>
            </a:extLst>
          </p:cNvPr>
          <p:cNvSpPr txBox="1"/>
          <p:nvPr/>
        </p:nvSpPr>
        <p:spPr>
          <a:xfrm>
            <a:off x="1803985" y="5181908"/>
            <a:ext cx="2223686" cy="400110"/>
          </a:xfrm>
          <a:prstGeom prst="rect">
            <a:avLst/>
          </a:prstGeom>
          <a:noFill/>
        </p:spPr>
        <p:txBody>
          <a:bodyPr wrap="none" rtlCol="0">
            <a:spAutoFit/>
          </a:bodyPr>
          <a:lstStyle/>
          <a:p>
            <a:pPr algn="ctr"/>
            <a:r>
              <a:rPr lang="en-US" sz="2000" dirty="0" err="1">
                <a:latin typeface="Playfair Display" panose="00000500000000000000" pitchFamily="2" charset="0"/>
              </a:rPr>
              <a:t>Pipline</a:t>
            </a:r>
            <a:r>
              <a:rPr lang="en-US" sz="2000" dirty="0">
                <a:latin typeface="Playfair Display" panose="00000500000000000000" pitchFamily="2" charset="0"/>
              </a:rPr>
              <a:t> Definition</a:t>
            </a:r>
            <a:endParaRPr lang="fr-FR" sz="2000" dirty="0">
              <a:latin typeface="Playfair Display" panose="00000500000000000000" pitchFamily="2" charset="0"/>
            </a:endParaRPr>
          </a:p>
        </p:txBody>
      </p:sp>
      <p:pic>
        <p:nvPicPr>
          <p:cNvPr id="12" name="Graphic 11" descr="Bar graph with upward trend with solid fill">
            <a:extLst>
              <a:ext uri="{FF2B5EF4-FFF2-40B4-BE49-F238E27FC236}">
                <a16:creationId xmlns:a16="http://schemas.microsoft.com/office/drawing/2014/main" id="{BAB5CA32-0681-41C3-620B-D7B072D2BAC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41503" y="3977639"/>
            <a:ext cx="548640" cy="548640"/>
          </a:xfrm>
          <a:prstGeom prst="rect">
            <a:avLst/>
          </a:prstGeom>
        </p:spPr>
      </p:pic>
    </p:spTree>
    <p:extLst>
      <p:ext uri="{BB962C8B-B14F-4D97-AF65-F5344CB8AC3E}">
        <p14:creationId xmlns:p14="http://schemas.microsoft.com/office/powerpoint/2010/main" val="1775368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72D9C-7538-DA31-1ED4-AE768F4B39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8CBA9D-B985-07DC-0BBE-1F8889453E8A}"/>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1612"/>
            <a:ext cx="12192000" cy="6861223"/>
          </a:xfrm>
          <a:prstGeom prst="rect">
            <a:avLst/>
          </a:prstGeom>
        </p:spPr>
      </p:pic>
      <p:sp>
        <p:nvSpPr>
          <p:cNvPr id="2" name="TextBox 1">
            <a:extLst>
              <a:ext uri="{FF2B5EF4-FFF2-40B4-BE49-F238E27FC236}">
                <a16:creationId xmlns:a16="http://schemas.microsoft.com/office/drawing/2014/main" id="{6B41D026-674B-E3C0-0C25-C9E4D63A86BC}"/>
              </a:ext>
            </a:extLst>
          </p:cNvPr>
          <p:cNvSpPr txBox="1"/>
          <p:nvPr/>
        </p:nvSpPr>
        <p:spPr>
          <a:xfrm>
            <a:off x="353962" y="250723"/>
            <a:ext cx="3895618" cy="584775"/>
          </a:xfrm>
          <a:prstGeom prst="rect">
            <a:avLst/>
          </a:prstGeom>
          <a:noFill/>
        </p:spPr>
        <p:txBody>
          <a:bodyPr wrap="none" rtlCol="0">
            <a:spAutoFit/>
          </a:bodyPr>
          <a:lstStyle/>
          <a:p>
            <a:r>
              <a:rPr lang="fr-FR" sz="3200" b="1" dirty="0" err="1">
                <a:solidFill>
                  <a:srgbClr val="226DF6"/>
                </a:solidFill>
                <a:latin typeface="Playfair Display" panose="00000500000000000000" pitchFamily="2" charset="0"/>
              </a:rPr>
              <a:t>Current</a:t>
            </a:r>
            <a:r>
              <a:rPr lang="fr-FR" sz="3200" b="1" dirty="0">
                <a:solidFill>
                  <a:srgbClr val="226DF6"/>
                </a:solidFill>
                <a:latin typeface="Playfair Display" panose="00000500000000000000" pitchFamily="2" charset="0"/>
              </a:rPr>
              <a:t> Challenges</a:t>
            </a:r>
            <a:endParaRPr lang="fr-FR" sz="3200" dirty="0">
              <a:solidFill>
                <a:srgbClr val="226DF6"/>
              </a:solidFill>
              <a:latin typeface="Playfair Display" panose="00000500000000000000" pitchFamily="2" charset="0"/>
            </a:endParaRPr>
          </a:p>
        </p:txBody>
      </p:sp>
      <p:sp>
        <p:nvSpPr>
          <p:cNvPr id="24" name="Rectangle: Rounded Corners 23">
            <a:extLst>
              <a:ext uri="{FF2B5EF4-FFF2-40B4-BE49-F238E27FC236}">
                <a16:creationId xmlns:a16="http://schemas.microsoft.com/office/drawing/2014/main" id="{040CAAB2-1F1D-833C-00B4-F1FC57BAE63D}"/>
              </a:ext>
            </a:extLst>
          </p:cNvPr>
          <p:cNvSpPr/>
          <p:nvPr/>
        </p:nvSpPr>
        <p:spPr>
          <a:xfrm>
            <a:off x="1263571" y="1047433"/>
            <a:ext cx="9961683" cy="1723137"/>
          </a:xfrm>
          <a:prstGeom prst="roundRect">
            <a:avLst/>
          </a:prstGeom>
          <a:gradFill flip="none" rotWithShape="1">
            <a:gsLst>
              <a:gs pos="0">
                <a:srgbClr val="FCFCFE"/>
              </a:gs>
              <a:gs pos="74000">
                <a:srgbClr val="FCFCFE"/>
              </a:gs>
              <a:gs pos="83000">
                <a:srgbClr val="FCFCFE"/>
              </a:gs>
              <a:gs pos="100000">
                <a:srgbClr val="FCFCFE"/>
              </a:gs>
            </a:gsLst>
            <a:lin ang="10800000" scaled="1"/>
            <a:tileRect/>
          </a:gra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Box 2">
            <a:extLst>
              <a:ext uri="{FF2B5EF4-FFF2-40B4-BE49-F238E27FC236}">
                <a16:creationId xmlns:a16="http://schemas.microsoft.com/office/drawing/2014/main" id="{8176EFE3-B04E-B70A-3B3C-F6CDD2C821AD}"/>
              </a:ext>
            </a:extLst>
          </p:cNvPr>
          <p:cNvSpPr txBox="1"/>
          <p:nvPr/>
        </p:nvSpPr>
        <p:spPr>
          <a:xfrm>
            <a:off x="2002711" y="1256659"/>
            <a:ext cx="6167073" cy="461665"/>
          </a:xfrm>
          <a:prstGeom prst="rect">
            <a:avLst/>
          </a:prstGeom>
          <a:noFill/>
        </p:spPr>
        <p:txBody>
          <a:bodyPr wrap="none" rtlCol="0">
            <a:spAutoFit/>
          </a:bodyPr>
          <a:lstStyle/>
          <a:p>
            <a:r>
              <a:rPr lang="en-US" sz="2400" dirty="0">
                <a:solidFill>
                  <a:srgbClr val="226DF6"/>
                </a:solidFill>
                <a:latin typeface="Playfair Display" panose="00000500000000000000" pitchFamily="2" charset="0"/>
              </a:rPr>
              <a:t>Full Understanding of the Project Concept</a:t>
            </a:r>
            <a:endParaRPr lang="fr-FR" sz="2400" dirty="0">
              <a:solidFill>
                <a:srgbClr val="226DF6"/>
              </a:solidFill>
              <a:latin typeface="Playfair Display" panose="00000500000000000000" pitchFamily="2" charset="0"/>
            </a:endParaRPr>
          </a:p>
        </p:txBody>
      </p:sp>
      <p:sp>
        <p:nvSpPr>
          <p:cNvPr id="14" name="Oval 13">
            <a:extLst>
              <a:ext uri="{FF2B5EF4-FFF2-40B4-BE49-F238E27FC236}">
                <a16:creationId xmlns:a16="http://schemas.microsoft.com/office/drawing/2014/main" id="{08793252-9555-DA03-3F18-843C61C6A9C3}"/>
              </a:ext>
            </a:extLst>
          </p:cNvPr>
          <p:cNvSpPr/>
          <p:nvPr/>
        </p:nvSpPr>
        <p:spPr>
          <a:xfrm>
            <a:off x="881038" y="1507865"/>
            <a:ext cx="822960" cy="822960"/>
          </a:xfrm>
          <a:prstGeom prst="ellipse">
            <a:avLst/>
          </a:prstGeom>
          <a:solidFill>
            <a:srgbClr val="226DF6"/>
          </a:solidFill>
          <a:ln w="28575" cmpd="sng">
            <a:solidFill>
              <a:srgbClr val="226DF6"/>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sp>
        <p:nvSpPr>
          <p:cNvPr id="25" name="Rectangle: Rounded Corners 24">
            <a:extLst>
              <a:ext uri="{FF2B5EF4-FFF2-40B4-BE49-F238E27FC236}">
                <a16:creationId xmlns:a16="http://schemas.microsoft.com/office/drawing/2014/main" id="{AB7C05B9-2EF7-5544-EC20-A5175F48422D}"/>
              </a:ext>
            </a:extLst>
          </p:cNvPr>
          <p:cNvSpPr/>
          <p:nvPr/>
        </p:nvSpPr>
        <p:spPr>
          <a:xfrm>
            <a:off x="1292518" y="2922868"/>
            <a:ext cx="9961683" cy="1723137"/>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Rounded Corners 25">
            <a:extLst>
              <a:ext uri="{FF2B5EF4-FFF2-40B4-BE49-F238E27FC236}">
                <a16:creationId xmlns:a16="http://schemas.microsoft.com/office/drawing/2014/main" id="{F11B9318-CF40-F02E-9ECC-7C18FD49FFFA}"/>
              </a:ext>
            </a:extLst>
          </p:cNvPr>
          <p:cNvSpPr/>
          <p:nvPr/>
        </p:nvSpPr>
        <p:spPr>
          <a:xfrm>
            <a:off x="1263570" y="4801029"/>
            <a:ext cx="9961683" cy="1723137"/>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TextBox 3">
            <a:extLst>
              <a:ext uri="{FF2B5EF4-FFF2-40B4-BE49-F238E27FC236}">
                <a16:creationId xmlns:a16="http://schemas.microsoft.com/office/drawing/2014/main" id="{24D13CC6-12EF-9296-CDCD-3A5E5EF5ED5E}"/>
              </a:ext>
            </a:extLst>
          </p:cNvPr>
          <p:cNvSpPr txBox="1"/>
          <p:nvPr/>
        </p:nvSpPr>
        <p:spPr>
          <a:xfrm>
            <a:off x="6829070" y="3014364"/>
            <a:ext cx="3445174" cy="461665"/>
          </a:xfrm>
          <a:prstGeom prst="rect">
            <a:avLst/>
          </a:prstGeom>
          <a:noFill/>
        </p:spPr>
        <p:txBody>
          <a:bodyPr wrap="none" rtlCol="0">
            <a:spAutoFit/>
          </a:bodyPr>
          <a:lstStyle/>
          <a:p>
            <a:r>
              <a:rPr lang="fr-FR" sz="2400" dirty="0">
                <a:solidFill>
                  <a:srgbClr val="226DF6"/>
                </a:solidFill>
                <a:latin typeface="Playfair Display" panose="00000500000000000000" pitchFamily="2" charset="0"/>
              </a:rPr>
              <a:t>AI </a:t>
            </a:r>
            <a:r>
              <a:rPr lang="fr-FR" sz="2400" dirty="0" err="1">
                <a:solidFill>
                  <a:srgbClr val="226DF6"/>
                </a:solidFill>
                <a:latin typeface="Playfair Display" panose="00000500000000000000" pitchFamily="2" charset="0"/>
              </a:rPr>
              <a:t>Integration</a:t>
            </a:r>
            <a:r>
              <a:rPr lang="fr-FR" sz="2400" dirty="0">
                <a:solidFill>
                  <a:srgbClr val="226DF6"/>
                </a:solidFill>
                <a:latin typeface="Playfair Display" panose="00000500000000000000" pitchFamily="2" charset="0"/>
              </a:rPr>
              <a:t> </a:t>
            </a:r>
            <a:r>
              <a:rPr lang="fr-FR" sz="2400" dirty="0" err="1">
                <a:solidFill>
                  <a:srgbClr val="226DF6"/>
                </a:solidFill>
                <a:latin typeface="Playfair Display" panose="00000500000000000000" pitchFamily="2" charset="0"/>
              </a:rPr>
              <a:t>Strategy</a:t>
            </a:r>
            <a:endParaRPr lang="fr-FR" sz="2400" dirty="0">
              <a:solidFill>
                <a:srgbClr val="226DF6"/>
              </a:solidFill>
              <a:latin typeface="Playfair Display" panose="00000500000000000000" pitchFamily="2" charset="0"/>
            </a:endParaRPr>
          </a:p>
        </p:txBody>
      </p:sp>
      <p:sp>
        <p:nvSpPr>
          <p:cNvPr id="7" name="TextBox 6">
            <a:extLst>
              <a:ext uri="{FF2B5EF4-FFF2-40B4-BE49-F238E27FC236}">
                <a16:creationId xmlns:a16="http://schemas.microsoft.com/office/drawing/2014/main" id="{4C659DF1-9375-E61B-C664-6C2FC7A84DF8}"/>
              </a:ext>
            </a:extLst>
          </p:cNvPr>
          <p:cNvSpPr txBox="1"/>
          <p:nvPr/>
        </p:nvSpPr>
        <p:spPr>
          <a:xfrm>
            <a:off x="1949812" y="4944831"/>
            <a:ext cx="5719836" cy="461665"/>
          </a:xfrm>
          <a:prstGeom prst="rect">
            <a:avLst/>
          </a:prstGeom>
          <a:noFill/>
        </p:spPr>
        <p:txBody>
          <a:bodyPr wrap="none" rtlCol="0">
            <a:spAutoFit/>
          </a:bodyPr>
          <a:lstStyle/>
          <a:p>
            <a:r>
              <a:rPr lang="en-US" sz="2400" dirty="0">
                <a:solidFill>
                  <a:srgbClr val="226DF6"/>
                </a:solidFill>
                <a:latin typeface="Playfair Display" panose="00000500000000000000" pitchFamily="2" charset="0"/>
              </a:rPr>
              <a:t>Project Planning and Time Constraints</a:t>
            </a:r>
            <a:endParaRPr lang="fr-FR" sz="2400" dirty="0">
              <a:solidFill>
                <a:srgbClr val="226DF6"/>
              </a:solidFill>
              <a:latin typeface="Playfair Display" panose="00000500000000000000" pitchFamily="2" charset="0"/>
            </a:endParaRPr>
          </a:p>
        </p:txBody>
      </p:sp>
      <p:sp>
        <p:nvSpPr>
          <p:cNvPr id="20" name="Oval 19">
            <a:extLst>
              <a:ext uri="{FF2B5EF4-FFF2-40B4-BE49-F238E27FC236}">
                <a16:creationId xmlns:a16="http://schemas.microsoft.com/office/drawing/2014/main" id="{E00CA60A-1420-B257-2249-39BDC55C7FDF}"/>
              </a:ext>
            </a:extLst>
          </p:cNvPr>
          <p:cNvSpPr/>
          <p:nvPr/>
        </p:nvSpPr>
        <p:spPr>
          <a:xfrm>
            <a:off x="852090" y="5175664"/>
            <a:ext cx="822960" cy="822960"/>
          </a:xfrm>
          <a:prstGeom prst="ellipse">
            <a:avLst/>
          </a:prstGeom>
          <a:solidFill>
            <a:srgbClr val="226DF6"/>
          </a:solidFill>
          <a:ln w="28575" cmpd="sng">
            <a:solidFill>
              <a:srgbClr val="226DF6"/>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sp>
        <p:nvSpPr>
          <p:cNvPr id="17" name="Oval 16">
            <a:extLst>
              <a:ext uri="{FF2B5EF4-FFF2-40B4-BE49-F238E27FC236}">
                <a16:creationId xmlns:a16="http://schemas.microsoft.com/office/drawing/2014/main" id="{F2178FC7-910E-4104-B30B-84BDFDC136C2}"/>
              </a:ext>
            </a:extLst>
          </p:cNvPr>
          <p:cNvSpPr/>
          <p:nvPr/>
        </p:nvSpPr>
        <p:spPr>
          <a:xfrm>
            <a:off x="10749907" y="3369578"/>
            <a:ext cx="822960" cy="822960"/>
          </a:xfrm>
          <a:prstGeom prst="ellipse">
            <a:avLst/>
          </a:prstGeom>
          <a:solidFill>
            <a:srgbClr val="226DF6"/>
          </a:solidFill>
          <a:ln w="28575" cmpd="sng">
            <a:solidFill>
              <a:srgbClr val="226DF6"/>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sp>
        <p:nvSpPr>
          <p:cNvPr id="28" name="TextBox 27">
            <a:extLst>
              <a:ext uri="{FF2B5EF4-FFF2-40B4-BE49-F238E27FC236}">
                <a16:creationId xmlns:a16="http://schemas.microsoft.com/office/drawing/2014/main" id="{330A79E5-8886-97B7-633C-94CA241E9B8E}"/>
              </a:ext>
            </a:extLst>
          </p:cNvPr>
          <p:cNvSpPr txBox="1"/>
          <p:nvPr/>
        </p:nvSpPr>
        <p:spPr>
          <a:xfrm>
            <a:off x="2002711" y="1758273"/>
            <a:ext cx="8925718" cy="830997"/>
          </a:xfrm>
          <a:prstGeom prst="rect">
            <a:avLst/>
          </a:prstGeom>
          <a:noFill/>
        </p:spPr>
        <p:txBody>
          <a:bodyPr wrap="square" rtlCol="0">
            <a:spAutoFit/>
          </a:bodyPr>
          <a:lstStyle/>
          <a:p>
            <a:r>
              <a:rPr lang="en-US" sz="1600" dirty="0">
                <a:latin typeface="Playfair Display" panose="00000500000000000000" pitchFamily="2" charset="0"/>
              </a:rPr>
              <a:t>Understanding the project idea was challenging due to its complexity</a:t>
            </a:r>
            <a:br>
              <a:rPr lang="en-US" sz="1600" dirty="0">
                <a:latin typeface="Playfair Display" panose="00000500000000000000" pitchFamily="2" charset="0"/>
              </a:rPr>
            </a:br>
            <a:r>
              <a:rPr lang="en-US" sz="1600" dirty="0">
                <a:latin typeface="Playfair Display" panose="00000500000000000000" pitchFamily="2" charset="0"/>
              </a:rPr>
              <a:t>Coordination among 6 team members required aligning technical and conceptual understanding</a:t>
            </a:r>
            <a:endParaRPr lang="fr-FR" sz="1600" dirty="0">
              <a:latin typeface="Playfair Display" panose="00000500000000000000" pitchFamily="2" charset="0"/>
            </a:endParaRPr>
          </a:p>
        </p:txBody>
      </p:sp>
      <p:sp>
        <p:nvSpPr>
          <p:cNvPr id="29" name="TextBox 28">
            <a:extLst>
              <a:ext uri="{FF2B5EF4-FFF2-40B4-BE49-F238E27FC236}">
                <a16:creationId xmlns:a16="http://schemas.microsoft.com/office/drawing/2014/main" id="{02AA0579-7CA5-61F1-E501-F2D77A0BB132}"/>
              </a:ext>
            </a:extLst>
          </p:cNvPr>
          <p:cNvSpPr txBox="1"/>
          <p:nvPr/>
        </p:nvSpPr>
        <p:spPr>
          <a:xfrm>
            <a:off x="1949812" y="3590701"/>
            <a:ext cx="8664309" cy="830997"/>
          </a:xfrm>
          <a:prstGeom prst="rect">
            <a:avLst/>
          </a:prstGeom>
          <a:noFill/>
        </p:spPr>
        <p:txBody>
          <a:bodyPr wrap="square" rtlCol="0">
            <a:spAutoFit/>
          </a:bodyPr>
          <a:lstStyle/>
          <a:p>
            <a:r>
              <a:rPr lang="en-US" sz="1600" dirty="0">
                <a:latin typeface="Playfair Display" panose="00000500000000000000" pitchFamily="2" charset="0"/>
              </a:rPr>
              <a:t>The project includes many AI models, which makes building all models from scratch unrealistic</a:t>
            </a:r>
          </a:p>
          <a:p>
            <a:r>
              <a:rPr lang="en-US" sz="1600" dirty="0">
                <a:latin typeface="Playfair Display" panose="00000500000000000000" pitchFamily="2" charset="0"/>
              </a:rPr>
              <a:t>Limited time and resources increased the complexity of implementing AI functionalities</a:t>
            </a:r>
            <a:endParaRPr lang="fr-FR" sz="1600" b="1" dirty="0">
              <a:latin typeface="Playfair Display" panose="00000500000000000000" pitchFamily="2" charset="0"/>
            </a:endParaRPr>
          </a:p>
        </p:txBody>
      </p:sp>
      <p:sp>
        <p:nvSpPr>
          <p:cNvPr id="30" name="TextBox 29">
            <a:extLst>
              <a:ext uri="{FF2B5EF4-FFF2-40B4-BE49-F238E27FC236}">
                <a16:creationId xmlns:a16="http://schemas.microsoft.com/office/drawing/2014/main" id="{1402D0DA-90AC-41FB-513B-54E76656B993}"/>
              </a:ext>
            </a:extLst>
          </p:cNvPr>
          <p:cNvSpPr txBox="1"/>
          <p:nvPr/>
        </p:nvSpPr>
        <p:spPr>
          <a:xfrm>
            <a:off x="2002711" y="5472013"/>
            <a:ext cx="6016391" cy="584775"/>
          </a:xfrm>
          <a:prstGeom prst="rect">
            <a:avLst/>
          </a:prstGeom>
          <a:noFill/>
        </p:spPr>
        <p:txBody>
          <a:bodyPr wrap="none" rtlCol="0">
            <a:spAutoFit/>
          </a:bodyPr>
          <a:lstStyle/>
          <a:p>
            <a:r>
              <a:rPr lang="en-US" sz="1600" dirty="0">
                <a:latin typeface="Playfair Display" panose="00000500000000000000" pitchFamily="2" charset="0"/>
              </a:rPr>
              <a:t>The project is large and complex, making planning difficult</a:t>
            </a:r>
          </a:p>
          <a:p>
            <a:r>
              <a:rPr lang="en-US" sz="1600" dirty="0">
                <a:latin typeface="Playfair Display" panose="00000500000000000000" pitchFamily="2" charset="0"/>
              </a:rPr>
              <a:t>The team faced strict time limitations for completing all phases</a:t>
            </a:r>
            <a:endParaRPr lang="fr-FR" sz="1600" b="1" dirty="0">
              <a:latin typeface="Playfair Display" panose="00000500000000000000" pitchFamily="2" charset="0"/>
            </a:endParaRPr>
          </a:p>
        </p:txBody>
      </p:sp>
      <p:pic>
        <p:nvPicPr>
          <p:cNvPr id="10" name="Graphic 9" descr="Good Idea with solid fill">
            <a:extLst>
              <a:ext uri="{FF2B5EF4-FFF2-40B4-BE49-F238E27FC236}">
                <a16:creationId xmlns:a16="http://schemas.microsoft.com/office/drawing/2014/main" id="{EA5A60A9-EBAA-0C1D-4D73-906C99DEBD7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6746" y="1604309"/>
            <a:ext cx="640080" cy="640080"/>
          </a:xfrm>
          <a:prstGeom prst="rect">
            <a:avLst/>
          </a:prstGeom>
        </p:spPr>
      </p:pic>
      <p:pic>
        <p:nvPicPr>
          <p:cNvPr id="13" name="Graphic 12" descr="Blueprint with solid fill">
            <a:extLst>
              <a:ext uri="{FF2B5EF4-FFF2-40B4-BE49-F238E27FC236}">
                <a16:creationId xmlns:a16="http://schemas.microsoft.com/office/drawing/2014/main" id="{00D1A084-B925-F9BE-0946-A02C895CF4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3065" y="5312824"/>
            <a:ext cx="548640" cy="548640"/>
          </a:xfrm>
          <a:prstGeom prst="rect">
            <a:avLst/>
          </a:prstGeom>
        </p:spPr>
      </p:pic>
      <p:pic>
        <p:nvPicPr>
          <p:cNvPr id="16" name="Graphic 15" descr="Illustrator with solid fill">
            <a:extLst>
              <a:ext uri="{FF2B5EF4-FFF2-40B4-BE49-F238E27FC236}">
                <a16:creationId xmlns:a16="http://schemas.microsoft.com/office/drawing/2014/main" id="{B2E056E6-847B-C35B-D6B6-FA9F33CB16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41347" y="3476029"/>
            <a:ext cx="640080" cy="640080"/>
          </a:xfrm>
          <a:prstGeom prst="rect">
            <a:avLst/>
          </a:prstGeom>
        </p:spPr>
      </p:pic>
    </p:spTree>
    <p:extLst>
      <p:ext uri="{BB962C8B-B14F-4D97-AF65-F5344CB8AC3E}">
        <p14:creationId xmlns:p14="http://schemas.microsoft.com/office/powerpoint/2010/main" val="40262571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6732E-99D0-FD92-0D17-5D0D62FCD0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FC6A34-EF89-27C3-7485-40E41230906C}"/>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1612"/>
            <a:ext cx="12192000" cy="6861223"/>
          </a:xfrm>
          <a:prstGeom prst="rect">
            <a:avLst/>
          </a:prstGeom>
        </p:spPr>
      </p:pic>
      <p:sp>
        <p:nvSpPr>
          <p:cNvPr id="2" name="TextBox 1">
            <a:extLst>
              <a:ext uri="{FF2B5EF4-FFF2-40B4-BE49-F238E27FC236}">
                <a16:creationId xmlns:a16="http://schemas.microsoft.com/office/drawing/2014/main" id="{334A9AD6-1E4E-AC4A-52A4-B047CD851FCD}"/>
              </a:ext>
            </a:extLst>
          </p:cNvPr>
          <p:cNvSpPr txBox="1"/>
          <p:nvPr/>
        </p:nvSpPr>
        <p:spPr>
          <a:xfrm>
            <a:off x="353962" y="250723"/>
            <a:ext cx="4735592" cy="584775"/>
          </a:xfrm>
          <a:prstGeom prst="rect">
            <a:avLst/>
          </a:prstGeom>
          <a:noFill/>
        </p:spPr>
        <p:txBody>
          <a:bodyPr wrap="none" rtlCol="0">
            <a:spAutoFit/>
          </a:bodyPr>
          <a:lstStyle/>
          <a:p>
            <a:r>
              <a:rPr lang="fr-FR" sz="3200" b="1" dirty="0">
                <a:solidFill>
                  <a:srgbClr val="226DF6"/>
                </a:solidFill>
                <a:latin typeface="Playfair Display" panose="00000500000000000000" pitchFamily="2" charset="0"/>
              </a:rPr>
              <a:t>Solutions and </a:t>
            </a:r>
            <a:r>
              <a:rPr lang="fr-FR" sz="3200" b="1" dirty="0" err="1">
                <a:solidFill>
                  <a:srgbClr val="226DF6"/>
                </a:solidFill>
                <a:latin typeface="Playfair Display" panose="00000500000000000000" pitchFamily="2" charset="0"/>
              </a:rPr>
              <a:t>Decisions</a:t>
            </a:r>
            <a:endParaRPr lang="fr-FR" sz="3200" dirty="0">
              <a:solidFill>
                <a:srgbClr val="226DF6"/>
              </a:solidFill>
              <a:latin typeface="Playfair Display" panose="00000500000000000000" pitchFamily="2" charset="0"/>
            </a:endParaRPr>
          </a:p>
        </p:txBody>
      </p:sp>
      <p:sp>
        <p:nvSpPr>
          <p:cNvPr id="24" name="Rectangle: Rounded Corners 23">
            <a:extLst>
              <a:ext uri="{FF2B5EF4-FFF2-40B4-BE49-F238E27FC236}">
                <a16:creationId xmlns:a16="http://schemas.microsoft.com/office/drawing/2014/main" id="{E881CAAD-F4C9-AEB3-E4FB-5FCAEE520B8B}"/>
              </a:ext>
            </a:extLst>
          </p:cNvPr>
          <p:cNvSpPr/>
          <p:nvPr/>
        </p:nvSpPr>
        <p:spPr>
          <a:xfrm>
            <a:off x="1968421" y="1047433"/>
            <a:ext cx="9961683" cy="1723137"/>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TextBox 2">
            <a:extLst>
              <a:ext uri="{FF2B5EF4-FFF2-40B4-BE49-F238E27FC236}">
                <a16:creationId xmlns:a16="http://schemas.microsoft.com/office/drawing/2014/main" id="{CF9C0EDE-D4F1-C564-0151-96892A2E1DEC}"/>
              </a:ext>
            </a:extLst>
          </p:cNvPr>
          <p:cNvSpPr txBox="1"/>
          <p:nvPr/>
        </p:nvSpPr>
        <p:spPr>
          <a:xfrm>
            <a:off x="2619020" y="1249803"/>
            <a:ext cx="5787561" cy="461665"/>
          </a:xfrm>
          <a:prstGeom prst="rect">
            <a:avLst/>
          </a:prstGeom>
          <a:noFill/>
        </p:spPr>
        <p:txBody>
          <a:bodyPr wrap="square" rtlCol="0">
            <a:spAutoFit/>
          </a:bodyPr>
          <a:lstStyle/>
          <a:p>
            <a:r>
              <a:rPr lang="fr-FR" sz="2400" dirty="0">
                <a:solidFill>
                  <a:srgbClr val="226DF6"/>
                </a:solidFill>
                <a:latin typeface="Playfair Display" panose="00000500000000000000" pitchFamily="2" charset="0"/>
              </a:rPr>
              <a:t>API-</a:t>
            </a:r>
            <a:r>
              <a:rPr lang="fr-FR" sz="2400" dirty="0" err="1">
                <a:solidFill>
                  <a:srgbClr val="226DF6"/>
                </a:solidFill>
                <a:latin typeface="Playfair Display" panose="00000500000000000000" pitchFamily="2" charset="0"/>
              </a:rPr>
              <a:t>Based</a:t>
            </a:r>
            <a:r>
              <a:rPr lang="fr-FR" sz="2400" dirty="0">
                <a:solidFill>
                  <a:srgbClr val="226DF6"/>
                </a:solidFill>
                <a:latin typeface="Playfair Display" panose="00000500000000000000" pitchFamily="2" charset="0"/>
              </a:rPr>
              <a:t> AI </a:t>
            </a:r>
            <a:r>
              <a:rPr lang="fr-FR" sz="2400" dirty="0" err="1">
                <a:solidFill>
                  <a:srgbClr val="226DF6"/>
                </a:solidFill>
                <a:latin typeface="Playfair Display" panose="00000500000000000000" pitchFamily="2" charset="0"/>
              </a:rPr>
              <a:t>Integration</a:t>
            </a:r>
            <a:r>
              <a:rPr lang="fr-FR" sz="2400" dirty="0">
                <a:solidFill>
                  <a:srgbClr val="226DF6"/>
                </a:solidFill>
                <a:latin typeface="Playfair Display" panose="00000500000000000000" pitchFamily="2" charset="0"/>
              </a:rPr>
              <a:t> </a:t>
            </a:r>
            <a:r>
              <a:rPr lang="fr-FR" sz="2400" dirty="0" err="1">
                <a:solidFill>
                  <a:srgbClr val="226DF6"/>
                </a:solidFill>
                <a:latin typeface="Playfair Display" panose="00000500000000000000" pitchFamily="2" charset="0"/>
              </a:rPr>
              <a:t>Strategy</a:t>
            </a:r>
            <a:endParaRPr lang="fr-FR" sz="2400" b="1" dirty="0">
              <a:solidFill>
                <a:srgbClr val="226DF6"/>
              </a:solidFill>
              <a:latin typeface="Playfair Display" panose="00000500000000000000" pitchFamily="2" charset="0"/>
            </a:endParaRPr>
          </a:p>
        </p:txBody>
      </p:sp>
      <p:sp>
        <p:nvSpPr>
          <p:cNvPr id="14" name="Oval 13">
            <a:extLst>
              <a:ext uri="{FF2B5EF4-FFF2-40B4-BE49-F238E27FC236}">
                <a16:creationId xmlns:a16="http://schemas.microsoft.com/office/drawing/2014/main" id="{93FB87A4-3B94-03B4-DDCD-6F063611818C}"/>
              </a:ext>
            </a:extLst>
          </p:cNvPr>
          <p:cNvSpPr/>
          <p:nvPr/>
        </p:nvSpPr>
        <p:spPr>
          <a:xfrm>
            <a:off x="423838" y="1507865"/>
            <a:ext cx="822960" cy="822960"/>
          </a:xfrm>
          <a:prstGeom prst="ellipse">
            <a:avLst/>
          </a:prstGeom>
          <a:solidFill>
            <a:srgbClr val="226DF6"/>
          </a:solidFill>
          <a:ln w="28575" cmpd="sng">
            <a:solidFill>
              <a:srgbClr val="226DF6"/>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sp>
        <p:nvSpPr>
          <p:cNvPr id="25" name="Rectangle: Rounded Corners 24">
            <a:extLst>
              <a:ext uri="{FF2B5EF4-FFF2-40B4-BE49-F238E27FC236}">
                <a16:creationId xmlns:a16="http://schemas.microsoft.com/office/drawing/2014/main" id="{D896F0E4-3CC4-D07B-24B2-27B2718392E9}"/>
              </a:ext>
            </a:extLst>
          </p:cNvPr>
          <p:cNvSpPr/>
          <p:nvPr/>
        </p:nvSpPr>
        <p:spPr>
          <a:xfrm>
            <a:off x="1997368" y="2922868"/>
            <a:ext cx="9961683" cy="1723137"/>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Rounded Corners 25">
            <a:extLst>
              <a:ext uri="{FF2B5EF4-FFF2-40B4-BE49-F238E27FC236}">
                <a16:creationId xmlns:a16="http://schemas.microsoft.com/office/drawing/2014/main" id="{FA53A116-B702-F4D1-1E36-514870741483}"/>
              </a:ext>
            </a:extLst>
          </p:cNvPr>
          <p:cNvSpPr/>
          <p:nvPr/>
        </p:nvSpPr>
        <p:spPr>
          <a:xfrm>
            <a:off x="1968420" y="4801029"/>
            <a:ext cx="9961683" cy="1723137"/>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TextBox 3">
            <a:extLst>
              <a:ext uri="{FF2B5EF4-FFF2-40B4-BE49-F238E27FC236}">
                <a16:creationId xmlns:a16="http://schemas.microsoft.com/office/drawing/2014/main" id="{39C0845B-97ED-0D2D-51E1-D1D4BCE16DF7}"/>
              </a:ext>
            </a:extLst>
          </p:cNvPr>
          <p:cNvSpPr txBox="1"/>
          <p:nvPr/>
        </p:nvSpPr>
        <p:spPr>
          <a:xfrm>
            <a:off x="2619020" y="3138745"/>
            <a:ext cx="5755102" cy="461665"/>
          </a:xfrm>
          <a:prstGeom prst="rect">
            <a:avLst/>
          </a:prstGeom>
          <a:noFill/>
        </p:spPr>
        <p:txBody>
          <a:bodyPr wrap="none" rtlCol="0">
            <a:spAutoFit/>
          </a:bodyPr>
          <a:lstStyle/>
          <a:p>
            <a:r>
              <a:rPr lang="fr-FR" sz="2400" dirty="0">
                <a:solidFill>
                  <a:srgbClr val="226DF6"/>
                </a:solidFill>
                <a:latin typeface="Playfair Display" panose="00000500000000000000" pitchFamily="2" charset="0"/>
              </a:rPr>
              <a:t>Project </a:t>
            </a:r>
            <a:r>
              <a:rPr lang="fr-FR" sz="2400" dirty="0" err="1">
                <a:solidFill>
                  <a:srgbClr val="226DF6"/>
                </a:solidFill>
                <a:latin typeface="Playfair Display" panose="00000500000000000000" pitchFamily="2" charset="0"/>
              </a:rPr>
              <a:t>Development</a:t>
            </a:r>
            <a:r>
              <a:rPr lang="fr-FR" sz="2400" dirty="0">
                <a:solidFill>
                  <a:srgbClr val="226DF6"/>
                </a:solidFill>
                <a:latin typeface="Playfair Display" panose="00000500000000000000" pitchFamily="2" charset="0"/>
              </a:rPr>
              <a:t> Pipeline </a:t>
            </a:r>
            <a:r>
              <a:rPr lang="fr-FR" sz="2400" dirty="0" err="1">
                <a:solidFill>
                  <a:srgbClr val="226DF6"/>
                </a:solidFill>
                <a:latin typeface="Playfair Display" panose="00000500000000000000" pitchFamily="2" charset="0"/>
              </a:rPr>
              <a:t>Definition</a:t>
            </a:r>
            <a:endParaRPr lang="fr-FR" sz="2400" b="1" dirty="0">
              <a:solidFill>
                <a:srgbClr val="226DF6"/>
              </a:solidFill>
              <a:latin typeface="Playfair Display" panose="00000500000000000000" pitchFamily="2" charset="0"/>
            </a:endParaRPr>
          </a:p>
        </p:txBody>
      </p:sp>
      <p:sp>
        <p:nvSpPr>
          <p:cNvPr id="7" name="TextBox 6">
            <a:extLst>
              <a:ext uri="{FF2B5EF4-FFF2-40B4-BE49-F238E27FC236}">
                <a16:creationId xmlns:a16="http://schemas.microsoft.com/office/drawing/2014/main" id="{3352A371-8A87-576E-59AB-F8DC49999B20}"/>
              </a:ext>
            </a:extLst>
          </p:cNvPr>
          <p:cNvSpPr txBox="1"/>
          <p:nvPr/>
        </p:nvSpPr>
        <p:spPr>
          <a:xfrm>
            <a:off x="2592570" y="4950765"/>
            <a:ext cx="5718232" cy="461665"/>
          </a:xfrm>
          <a:prstGeom prst="rect">
            <a:avLst/>
          </a:prstGeom>
          <a:noFill/>
        </p:spPr>
        <p:txBody>
          <a:bodyPr wrap="none" rtlCol="0">
            <a:spAutoFit/>
          </a:bodyPr>
          <a:lstStyle/>
          <a:p>
            <a:r>
              <a:rPr lang="fr-FR" sz="2400" dirty="0">
                <a:solidFill>
                  <a:srgbClr val="226DF6"/>
                </a:solidFill>
                <a:latin typeface="Playfair Display" panose="00000500000000000000" pitchFamily="2" charset="0"/>
              </a:rPr>
              <a:t>Coordination </a:t>
            </a:r>
            <a:r>
              <a:rPr lang="fr-FR" sz="2400" dirty="0" err="1">
                <a:solidFill>
                  <a:srgbClr val="226DF6"/>
                </a:solidFill>
                <a:latin typeface="Playfair Display" panose="00000500000000000000" pitchFamily="2" charset="0"/>
              </a:rPr>
              <a:t>Requirement</a:t>
            </a:r>
            <a:r>
              <a:rPr lang="fr-FR" sz="2400" dirty="0">
                <a:solidFill>
                  <a:srgbClr val="226DF6"/>
                </a:solidFill>
                <a:latin typeface="Playfair Display" panose="00000500000000000000" pitchFamily="2" charset="0"/>
              </a:rPr>
              <a:t> Clarification</a:t>
            </a:r>
            <a:endParaRPr lang="fr-FR" sz="2400" b="1" dirty="0">
              <a:solidFill>
                <a:srgbClr val="226DF6"/>
              </a:solidFill>
              <a:latin typeface="Playfair Display" panose="00000500000000000000" pitchFamily="2" charset="0"/>
            </a:endParaRPr>
          </a:p>
        </p:txBody>
      </p:sp>
      <p:sp>
        <p:nvSpPr>
          <p:cNvPr id="20" name="Oval 19">
            <a:extLst>
              <a:ext uri="{FF2B5EF4-FFF2-40B4-BE49-F238E27FC236}">
                <a16:creationId xmlns:a16="http://schemas.microsoft.com/office/drawing/2014/main" id="{A56595F2-2D19-4A0B-1F76-FC3818C60954}"/>
              </a:ext>
            </a:extLst>
          </p:cNvPr>
          <p:cNvSpPr/>
          <p:nvPr/>
        </p:nvSpPr>
        <p:spPr>
          <a:xfrm>
            <a:off x="423838" y="5237960"/>
            <a:ext cx="822960" cy="822960"/>
          </a:xfrm>
          <a:prstGeom prst="ellipse">
            <a:avLst/>
          </a:prstGeom>
          <a:solidFill>
            <a:srgbClr val="226DF6"/>
          </a:solidFill>
          <a:ln w="28575" cmpd="sng">
            <a:solidFill>
              <a:srgbClr val="226DF6"/>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sp>
        <p:nvSpPr>
          <p:cNvPr id="17" name="Oval 16">
            <a:extLst>
              <a:ext uri="{FF2B5EF4-FFF2-40B4-BE49-F238E27FC236}">
                <a16:creationId xmlns:a16="http://schemas.microsoft.com/office/drawing/2014/main" id="{6FD8A3F1-CC13-7A50-F45E-35DB432F6CCC}"/>
              </a:ext>
            </a:extLst>
          </p:cNvPr>
          <p:cNvSpPr/>
          <p:nvPr/>
        </p:nvSpPr>
        <p:spPr>
          <a:xfrm>
            <a:off x="443857" y="3369578"/>
            <a:ext cx="822960" cy="822960"/>
          </a:xfrm>
          <a:prstGeom prst="ellipse">
            <a:avLst/>
          </a:prstGeom>
          <a:solidFill>
            <a:srgbClr val="226DF6"/>
          </a:solidFill>
          <a:ln w="28575" cmpd="sng">
            <a:solidFill>
              <a:srgbClr val="226DF6"/>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cxnSp>
        <p:nvCxnSpPr>
          <p:cNvPr id="9" name="Straight Arrow Connector 8">
            <a:extLst>
              <a:ext uri="{FF2B5EF4-FFF2-40B4-BE49-F238E27FC236}">
                <a16:creationId xmlns:a16="http://schemas.microsoft.com/office/drawing/2014/main" id="{61A201A9-CDD4-930C-6E7E-A04B793DAA57}"/>
              </a:ext>
            </a:extLst>
          </p:cNvPr>
          <p:cNvCxnSpPr>
            <a:cxnSpLocks/>
            <a:stCxn id="14" idx="6"/>
          </p:cNvCxnSpPr>
          <p:nvPr/>
        </p:nvCxnSpPr>
        <p:spPr>
          <a:xfrm>
            <a:off x="1246798" y="1919345"/>
            <a:ext cx="731520" cy="0"/>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DAAE6A68-A2C2-AC70-A7DE-2AADC3527A9C}"/>
              </a:ext>
            </a:extLst>
          </p:cNvPr>
          <p:cNvCxnSpPr>
            <a:cxnSpLocks/>
            <a:stCxn id="17" idx="6"/>
            <a:endCxn id="25" idx="1"/>
          </p:cNvCxnSpPr>
          <p:nvPr/>
        </p:nvCxnSpPr>
        <p:spPr>
          <a:xfrm>
            <a:off x="1266817" y="3781058"/>
            <a:ext cx="730551" cy="3379"/>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Straight Connector 17">
            <a:extLst>
              <a:ext uri="{FF2B5EF4-FFF2-40B4-BE49-F238E27FC236}">
                <a16:creationId xmlns:a16="http://schemas.microsoft.com/office/drawing/2014/main" id="{41A98835-357C-8F05-4965-D503187A1D2D}"/>
              </a:ext>
            </a:extLst>
          </p:cNvPr>
          <p:cNvCxnSpPr>
            <a:stCxn id="20" idx="6"/>
            <a:endCxn id="26" idx="1"/>
          </p:cNvCxnSpPr>
          <p:nvPr/>
        </p:nvCxnSpPr>
        <p:spPr>
          <a:xfrm>
            <a:off x="1246798" y="5649440"/>
            <a:ext cx="721622" cy="13158"/>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1" name="Graphic 20" descr="Calculator with solid fill">
            <a:extLst>
              <a:ext uri="{FF2B5EF4-FFF2-40B4-BE49-F238E27FC236}">
                <a16:creationId xmlns:a16="http://schemas.microsoft.com/office/drawing/2014/main" id="{5DDFABD5-FE1B-1884-61DB-8960FC794B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4786" y="1649909"/>
            <a:ext cx="548640" cy="548640"/>
          </a:xfrm>
          <a:prstGeom prst="rect">
            <a:avLst/>
          </a:prstGeom>
        </p:spPr>
      </p:pic>
      <p:pic>
        <p:nvPicPr>
          <p:cNvPr id="23" name="Graphic 22" descr="Lights On with solid fill">
            <a:extLst>
              <a:ext uri="{FF2B5EF4-FFF2-40B4-BE49-F238E27FC236}">
                <a16:creationId xmlns:a16="http://schemas.microsoft.com/office/drawing/2014/main" id="{18FFDE68-1E9F-F729-FB19-A775878FA3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0397" y="5339250"/>
            <a:ext cx="640080" cy="640080"/>
          </a:xfrm>
          <a:prstGeom prst="rect">
            <a:avLst/>
          </a:prstGeom>
        </p:spPr>
      </p:pic>
      <p:pic>
        <p:nvPicPr>
          <p:cNvPr id="28" name="Graphic 27" descr="Remote learning science with solid fill">
            <a:extLst>
              <a:ext uri="{FF2B5EF4-FFF2-40B4-BE49-F238E27FC236}">
                <a16:creationId xmlns:a16="http://schemas.microsoft.com/office/drawing/2014/main" id="{2BF6F419-6EB1-28A7-A0E3-BC802CD4FC2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1017" y="3529551"/>
            <a:ext cx="548640" cy="548640"/>
          </a:xfrm>
          <a:prstGeom prst="rect">
            <a:avLst/>
          </a:prstGeom>
        </p:spPr>
      </p:pic>
      <p:sp>
        <p:nvSpPr>
          <p:cNvPr id="6" name="TextBox 5">
            <a:extLst>
              <a:ext uri="{FF2B5EF4-FFF2-40B4-BE49-F238E27FC236}">
                <a16:creationId xmlns:a16="http://schemas.microsoft.com/office/drawing/2014/main" id="{2751B3EA-80A7-063A-9538-97922607DBFF}"/>
              </a:ext>
            </a:extLst>
          </p:cNvPr>
          <p:cNvSpPr txBox="1"/>
          <p:nvPr/>
        </p:nvSpPr>
        <p:spPr>
          <a:xfrm>
            <a:off x="2619020" y="1815964"/>
            <a:ext cx="9373079" cy="584775"/>
          </a:xfrm>
          <a:prstGeom prst="rect">
            <a:avLst/>
          </a:prstGeom>
          <a:noFill/>
        </p:spPr>
        <p:txBody>
          <a:bodyPr wrap="none" rtlCol="0">
            <a:spAutoFit/>
          </a:bodyPr>
          <a:lstStyle/>
          <a:p>
            <a:r>
              <a:rPr lang="en-US" sz="1600" dirty="0">
                <a:latin typeface="Playfair Display" panose="00000500000000000000" pitchFamily="2" charset="0"/>
              </a:rPr>
              <a:t>We chose to integrate </a:t>
            </a:r>
            <a:r>
              <a:rPr lang="en-US" sz="1600" b="1" dirty="0">
                <a:latin typeface="Playfair Display" panose="00000500000000000000" pitchFamily="2" charset="0"/>
              </a:rPr>
              <a:t>pre-trained AI models through APIs</a:t>
            </a:r>
            <a:r>
              <a:rPr lang="en-US" sz="1600" dirty="0">
                <a:latin typeface="Playfair Display" panose="00000500000000000000" pitchFamily="2" charset="0"/>
              </a:rPr>
              <a:t> instead of building models from scratch</a:t>
            </a:r>
          </a:p>
          <a:p>
            <a:r>
              <a:rPr lang="en-US" sz="1600" dirty="0">
                <a:latin typeface="Playfair Display" panose="00000500000000000000" pitchFamily="2" charset="0"/>
              </a:rPr>
              <a:t>This approach ensures faster development and scalability</a:t>
            </a:r>
            <a:endParaRPr lang="fr-FR" sz="1600" b="1" dirty="0">
              <a:latin typeface="Playfair Display" panose="00000500000000000000" pitchFamily="2" charset="0"/>
            </a:endParaRPr>
          </a:p>
        </p:txBody>
      </p:sp>
      <p:sp>
        <p:nvSpPr>
          <p:cNvPr id="8" name="TextBox 7">
            <a:extLst>
              <a:ext uri="{FF2B5EF4-FFF2-40B4-BE49-F238E27FC236}">
                <a16:creationId xmlns:a16="http://schemas.microsoft.com/office/drawing/2014/main" id="{11A4B563-B611-7FD6-885F-1522BB63CF03}"/>
              </a:ext>
            </a:extLst>
          </p:cNvPr>
          <p:cNvSpPr txBox="1"/>
          <p:nvPr/>
        </p:nvSpPr>
        <p:spPr>
          <a:xfrm>
            <a:off x="2619021" y="3689293"/>
            <a:ext cx="8912312" cy="830997"/>
          </a:xfrm>
          <a:prstGeom prst="rect">
            <a:avLst/>
          </a:prstGeom>
          <a:noFill/>
        </p:spPr>
        <p:txBody>
          <a:bodyPr wrap="square" rtlCol="0">
            <a:spAutoFit/>
          </a:bodyPr>
          <a:lstStyle/>
          <a:p>
            <a:r>
              <a:rPr lang="en-US" sz="1600" dirty="0">
                <a:latin typeface="Playfair Display" panose="00000500000000000000" pitchFamily="2" charset="0"/>
              </a:rPr>
              <a:t>We designed a </a:t>
            </a:r>
            <a:r>
              <a:rPr lang="en-US" sz="1600" b="1" dirty="0">
                <a:latin typeface="Playfair Display" panose="00000500000000000000" pitchFamily="2" charset="0"/>
              </a:rPr>
              <a:t>development pipeline</a:t>
            </a:r>
            <a:r>
              <a:rPr lang="en-US" sz="1600" dirty="0">
                <a:latin typeface="Playfair Display" panose="00000500000000000000" pitchFamily="2" charset="0"/>
              </a:rPr>
              <a:t> to structure the project workflow</a:t>
            </a:r>
          </a:p>
          <a:p>
            <a:r>
              <a:rPr lang="en-US" sz="1600" dirty="0">
                <a:latin typeface="Playfair Display" panose="00000500000000000000" pitchFamily="2" charset="0"/>
              </a:rPr>
              <a:t>he pipeline defines the sequence of phases (analysis, design, AI integration, implementation, and evaluation)</a:t>
            </a:r>
            <a:endParaRPr lang="fr-FR" sz="1600" b="1" dirty="0">
              <a:latin typeface="Playfair Display" panose="00000500000000000000" pitchFamily="2" charset="0"/>
            </a:endParaRPr>
          </a:p>
        </p:txBody>
      </p:sp>
      <p:sp>
        <p:nvSpPr>
          <p:cNvPr id="12" name="TextBox 11">
            <a:extLst>
              <a:ext uri="{FF2B5EF4-FFF2-40B4-BE49-F238E27FC236}">
                <a16:creationId xmlns:a16="http://schemas.microsoft.com/office/drawing/2014/main" id="{83DCF71B-30FB-2218-F466-028D3E5D28E8}"/>
              </a:ext>
            </a:extLst>
          </p:cNvPr>
          <p:cNvSpPr txBox="1"/>
          <p:nvPr/>
        </p:nvSpPr>
        <p:spPr>
          <a:xfrm>
            <a:off x="2721758" y="5562166"/>
            <a:ext cx="7728398" cy="584775"/>
          </a:xfrm>
          <a:prstGeom prst="rect">
            <a:avLst/>
          </a:prstGeom>
          <a:noFill/>
        </p:spPr>
        <p:txBody>
          <a:bodyPr wrap="none" rtlCol="0">
            <a:spAutoFit/>
          </a:bodyPr>
          <a:lstStyle/>
          <a:p>
            <a:r>
              <a:rPr lang="en-US" sz="1600" dirty="0">
                <a:latin typeface="Playfair Display" panose="00000500000000000000" pitchFamily="2" charset="0"/>
              </a:rPr>
              <a:t>We organized team discussions to align understanding</a:t>
            </a:r>
          </a:p>
          <a:p>
            <a:r>
              <a:rPr lang="en-US" sz="1600" dirty="0">
                <a:latin typeface="Playfair Display" panose="00000500000000000000" pitchFamily="2" charset="0"/>
              </a:rPr>
              <a:t>We documented system scope and core functionalities to maintain a shared vision</a:t>
            </a:r>
            <a:endParaRPr lang="fr-FR" sz="1600" b="1" dirty="0">
              <a:latin typeface="Playfair Display" panose="00000500000000000000" pitchFamily="2" charset="0"/>
            </a:endParaRPr>
          </a:p>
        </p:txBody>
      </p:sp>
    </p:spTree>
    <p:extLst>
      <p:ext uri="{BB962C8B-B14F-4D97-AF65-F5344CB8AC3E}">
        <p14:creationId xmlns:p14="http://schemas.microsoft.com/office/powerpoint/2010/main" val="1353114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9035F-8AB0-BD66-3066-8F0DFAD2C89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D4D9866-ECDA-C151-3D75-AEAFBCAD44FA}"/>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1612"/>
            <a:ext cx="12192000" cy="6861223"/>
          </a:xfrm>
          <a:prstGeom prst="rect">
            <a:avLst/>
          </a:prstGeom>
        </p:spPr>
      </p:pic>
      <p:sp>
        <p:nvSpPr>
          <p:cNvPr id="7" name="TextBox 6">
            <a:extLst>
              <a:ext uri="{FF2B5EF4-FFF2-40B4-BE49-F238E27FC236}">
                <a16:creationId xmlns:a16="http://schemas.microsoft.com/office/drawing/2014/main" id="{4E5391D4-1D2E-6C10-7620-26F9CA4E07DA}"/>
              </a:ext>
            </a:extLst>
          </p:cNvPr>
          <p:cNvSpPr txBox="1"/>
          <p:nvPr/>
        </p:nvSpPr>
        <p:spPr>
          <a:xfrm>
            <a:off x="353962" y="250723"/>
            <a:ext cx="8226932" cy="584775"/>
          </a:xfrm>
          <a:prstGeom prst="rect">
            <a:avLst/>
          </a:prstGeom>
          <a:noFill/>
        </p:spPr>
        <p:txBody>
          <a:bodyPr wrap="none" rtlCol="0">
            <a:spAutoFit/>
          </a:bodyPr>
          <a:lstStyle/>
          <a:p>
            <a:r>
              <a:rPr lang="fr-FR" sz="3200" b="1" dirty="0">
                <a:solidFill>
                  <a:srgbClr val="226DF6"/>
                </a:solidFill>
                <a:latin typeface="Playfair Display" panose="00000500000000000000" pitchFamily="2" charset="0"/>
              </a:rPr>
              <a:t>Week 1 </a:t>
            </a:r>
            <a:r>
              <a:rPr lang="fr-FR" sz="3200" b="1" dirty="0" err="1">
                <a:solidFill>
                  <a:srgbClr val="226DF6"/>
                </a:solidFill>
                <a:latin typeface="Playfair Display" panose="00000500000000000000" pitchFamily="2" charset="0"/>
              </a:rPr>
              <a:t>Deliverables</a:t>
            </a:r>
            <a:r>
              <a:rPr lang="fr-FR" sz="3200" b="1" dirty="0">
                <a:solidFill>
                  <a:srgbClr val="226DF6"/>
                </a:solidFill>
                <a:latin typeface="Playfair Display" panose="00000500000000000000" pitchFamily="2" charset="0"/>
              </a:rPr>
              <a:t> and </a:t>
            </a:r>
            <a:r>
              <a:rPr lang="fr-FR" sz="3200" b="1" dirty="0" err="1">
                <a:solidFill>
                  <a:srgbClr val="226DF6"/>
                </a:solidFill>
                <a:latin typeface="Playfair Display" panose="00000500000000000000" pitchFamily="2" charset="0"/>
              </a:rPr>
              <a:t>Resources</a:t>
            </a:r>
            <a:r>
              <a:rPr lang="fr-FR" sz="3200" b="1" dirty="0">
                <a:solidFill>
                  <a:srgbClr val="226DF6"/>
                </a:solidFill>
                <a:latin typeface="Playfair Display" panose="00000500000000000000" pitchFamily="2" charset="0"/>
              </a:rPr>
              <a:t> (Links)</a:t>
            </a:r>
          </a:p>
        </p:txBody>
      </p:sp>
      <p:sp>
        <p:nvSpPr>
          <p:cNvPr id="2" name="Rectangle: Rounded Corners 1">
            <a:extLst>
              <a:ext uri="{FF2B5EF4-FFF2-40B4-BE49-F238E27FC236}">
                <a16:creationId xmlns:a16="http://schemas.microsoft.com/office/drawing/2014/main" id="{FC32C355-3F9B-F9F3-05CD-C022B9D4D770}"/>
              </a:ext>
            </a:extLst>
          </p:cNvPr>
          <p:cNvSpPr/>
          <p:nvPr/>
        </p:nvSpPr>
        <p:spPr>
          <a:xfrm>
            <a:off x="1503032" y="949731"/>
            <a:ext cx="8971940" cy="628654"/>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TextBox 10">
            <a:hlinkClick r:id="rId3"/>
            <a:extLst>
              <a:ext uri="{FF2B5EF4-FFF2-40B4-BE49-F238E27FC236}">
                <a16:creationId xmlns:a16="http://schemas.microsoft.com/office/drawing/2014/main" id="{AE464BCF-F7CC-33AA-B9C3-75CD9405C554}"/>
              </a:ext>
            </a:extLst>
          </p:cNvPr>
          <p:cNvSpPr txBox="1"/>
          <p:nvPr/>
        </p:nvSpPr>
        <p:spPr>
          <a:xfrm>
            <a:off x="2177247" y="1062277"/>
            <a:ext cx="4144530" cy="400110"/>
          </a:xfrm>
          <a:prstGeom prst="rect">
            <a:avLst/>
          </a:prstGeom>
          <a:noFill/>
        </p:spPr>
        <p:txBody>
          <a:bodyPr wrap="square" rtlCol="0">
            <a:spAutoFit/>
          </a:bodyPr>
          <a:lstStyle/>
          <a:p>
            <a:r>
              <a:rPr lang="en-US" sz="2000" dirty="0">
                <a:latin typeface="Playfair Display" panose="00000500000000000000" pitchFamily="2" charset="0"/>
              </a:rPr>
              <a:t>Market Benchmarking</a:t>
            </a:r>
            <a:endParaRPr lang="fr-FR" sz="2000" dirty="0">
              <a:latin typeface="Playfair Display" panose="00000500000000000000" pitchFamily="2" charset="0"/>
            </a:endParaRPr>
          </a:p>
        </p:txBody>
      </p:sp>
      <p:sp>
        <p:nvSpPr>
          <p:cNvPr id="21" name="Rectangle: Rounded Corners 20">
            <a:extLst>
              <a:ext uri="{FF2B5EF4-FFF2-40B4-BE49-F238E27FC236}">
                <a16:creationId xmlns:a16="http://schemas.microsoft.com/office/drawing/2014/main" id="{1210B624-FB4C-27BD-D828-DD09B920F689}"/>
              </a:ext>
            </a:extLst>
          </p:cNvPr>
          <p:cNvSpPr/>
          <p:nvPr/>
        </p:nvSpPr>
        <p:spPr>
          <a:xfrm>
            <a:off x="1503028" y="1812872"/>
            <a:ext cx="8971940" cy="628654"/>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TextBox 9">
            <a:hlinkClick r:id="rId4"/>
            <a:extLst>
              <a:ext uri="{FF2B5EF4-FFF2-40B4-BE49-F238E27FC236}">
                <a16:creationId xmlns:a16="http://schemas.microsoft.com/office/drawing/2014/main" id="{D24C5C24-7321-CA53-2979-A85A04DE6710}"/>
              </a:ext>
            </a:extLst>
          </p:cNvPr>
          <p:cNvSpPr txBox="1"/>
          <p:nvPr/>
        </p:nvSpPr>
        <p:spPr>
          <a:xfrm>
            <a:off x="2204789" y="1923487"/>
            <a:ext cx="1677062" cy="400110"/>
          </a:xfrm>
          <a:prstGeom prst="rect">
            <a:avLst/>
          </a:prstGeom>
          <a:noFill/>
        </p:spPr>
        <p:txBody>
          <a:bodyPr wrap="none" rtlCol="0">
            <a:spAutoFit/>
          </a:bodyPr>
          <a:lstStyle/>
          <a:p>
            <a:r>
              <a:rPr lang="en-US" sz="2000" dirty="0">
                <a:latin typeface="Playfair Display" panose="00000500000000000000" pitchFamily="2" charset="0"/>
              </a:rPr>
              <a:t>Specification</a:t>
            </a:r>
            <a:endParaRPr lang="fr-FR" sz="2000" dirty="0">
              <a:latin typeface="Playfair Display" panose="00000500000000000000" pitchFamily="2" charset="0"/>
            </a:endParaRPr>
          </a:p>
        </p:txBody>
      </p:sp>
      <p:sp>
        <p:nvSpPr>
          <p:cNvPr id="24" name="Rectangle: Rounded Corners 23">
            <a:extLst>
              <a:ext uri="{FF2B5EF4-FFF2-40B4-BE49-F238E27FC236}">
                <a16:creationId xmlns:a16="http://schemas.microsoft.com/office/drawing/2014/main" id="{88B03166-3784-B2B1-C959-871B7948060A}"/>
              </a:ext>
            </a:extLst>
          </p:cNvPr>
          <p:cNvSpPr/>
          <p:nvPr/>
        </p:nvSpPr>
        <p:spPr>
          <a:xfrm>
            <a:off x="1503025" y="2676187"/>
            <a:ext cx="8971940" cy="628654"/>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TextBox 15">
            <a:hlinkClick r:id="rId5"/>
            <a:extLst>
              <a:ext uri="{FF2B5EF4-FFF2-40B4-BE49-F238E27FC236}">
                <a16:creationId xmlns:a16="http://schemas.microsoft.com/office/drawing/2014/main" id="{14023828-72D4-4C7E-EF6E-7487E5A1DB71}"/>
              </a:ext>
            </a:extLst>
          </p:cNvPr>
          <p:cNvSpPr txBox="1"/>
          <p:nvPr/>
        </p:nvSpPr>
        <p:spPr>
          <a:xfrm>
            <a:off x="2204789" y="2805848"/>
            <a:ext cx="3224082" cy="369332"/>
          </a:xfrm>
          <a:prstGeom prst="rect">
            <a:avLst/>
          </a:prstGeom>
          <a:noFill/>
        </p:spPr>
        <p:txBody>
          <a:bodyPr wrap="square">
            <a:spAutoFit/>
          </a:bodyPr>
          <a:lstStyle/>
          <a:p>
            <a:r>
              <a:rPr lang="en-US" sz="1800" dirty="0">
                <a:latin typeface="Playfair Display" panose="00000500000000000000" pitchFamily="2" charset="0"/>
              </a:rPr>
              <a:t>AI Models Study</a:t>
            </a:r>
            <a:endParaRPr lang="fr-FR" dirty="0"/>
          </a:p>
        </p:txBody>
      </p:sp>
      <p:sp>
        <p:nvSpPr>
          <p:cNvPr id="26" name="Rectangle: Rounded Corners 25">
            <a:extLst>
              <a:ext uri="{FF2B5EF4-FFF2-40B4-BE49-F238E27FC236}">
                <a16:creationId xmlns:a16="http://schemas.microsoft.com/office/drawing/2014/main" id="{B184D4C9-B658-6AEB-8CDA-79079267837A}"/>
              </a:ext>
            </a:extLst>
          </p:cNvPr>
          <p:cNvSpPr/>
          <p:nvPr/>
        </p:nvSpPr>
        <p:spPr>
          <a:xfrm>
            <a:off x="1503023" y="3540458"/>
            <a:ext cx="8971940" cy="628654"/>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TextBox 13">
            <a:hlinkClick r:id="rId6"/>
            <a:extLst>
              <a:ext uri="{FF2B5EF4-FFF2-40B4-BE49-F238E27FC236}">
                <a16:creationId xmlns:a16="http://schemas.microsoft.com/office/drawing/2014/main" id="{E0CAE514-3406-2952-FECB-B310833EB3E8}"/>
              </a:ext>
            </a:extLst>
          </p:cNvPr>
          <p:cNvSpPr txBox="1"/>
          <p:nvPr/>
        </p:nvSpPr>
        <p:spPr>
          <a:xfrm>
            <a:off x="2177247" y="3672250"/>
            <a:ext cx="3689654" cy="369332"/>
          </a:xfrm>
          <a:prstGeom prst="rect">
            <a:avLst/>
          </a:prstGeom>
          <a:noFill/>
        </p:spPr>
        <p:txBody>
          <a:bodyPr wrap="square">
            <a:spAutoFit/>
          </a:bodyPr>
          <a:lstStyle/>
          <a:p>
            <a:r>
              <a:rPr lang="en-US" sz="1800" dirty="0">
                <a:latin typeface="Playfair Display" panose="00000500000000000000" pitchFamily="2" charset="0"/>
              </a:rPr>
              <a:t>AI Technologies study</a:t>
            </a:r>
            <a:endParaRPr lang="fr-FR" dirty="0"/>
          </a:p>
        </p:txBody>
      </p:sp>
      <p:sp>
        <p:nvSpPr>
          <p:cNvPr id="27" name="Rectangle: Rounded Corners 26">
            <a:extLst>
              <a:ext uri="{FF2B5EF4-FFF2-40B4-BE49-F238E27FC236}">
                <a16:creationId xmlns:a16="http://schemas.microsoft.com/office/drawing/2014/main" id="{186F5656-C628-B2B4-88B2-38780BCB761C}"/>
              </a:ext>
            </a:extLst>
          </p:cNvPr>
          <p:cNvSpPr/>
          <p:nvPr/>
        </p:nvSpPr>
        <p:spPr>
          <a:xfrm>
            <a:off x="1503022" y="4401668"/>
            <a:ext cx="8971940" cy="628654"/>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TextBox 17">
            <a:hlinkClick r:id="rId7"/>
            <a:extLst>
              <a:ext uri="{FF2B5EF4-FFF2-40B4-BE49-F238E27FC236}">
                <a16:creationId xmlns:a16="http://schemas.microsoft.com/office/drawing/2014/main" id="{0C15E6DE-3F90-B28D-C041-CE327AC239BF}"/>
              </a:ext>
            </a:extLst>
          </p:cNvPr>
          <p:cNvSpPr txBox="1"/>
          <p:nvPr/>
        </p:nvSpPr>
        <p:spPr>
          <a:xfrm>
            <a:off x="2177247" y="4531329"/>
            <a:ext cx="4049763" cy="369332"/>
          </a:xfrm>
          <a:prstGeom prst="rect">
            <a:avLst/>
          </a:prstGeom>
          <a:noFill/>
        </p:spPr>
        <p:txBody>
          <a:bodyPr wrap="square">
            <a:spAutoFit/>
          </a:bodyPr>
          <a:lstStyle/>
          <a:p>
            <a:r>
              <a:rPr lang="fr-FR" sz="1800" dirty="0">
                <a:latin typeface="Playfair Display" panose="00000500000000000000" pitchFamily="2" charset="0"/>
              </a:rPr>
              <a:t>System Architecture</a:t>
            </a:r>
          </a:p>
        </p:txBody>
      </p:sp>
      <p:sp>
        <p:nvSpPr>
          <p:cNvPr id="28" name="Rectangle: Rounded Corners 27">
            <a:extLst>
              <a:ext uri="{FF2B5EF4-FFF2-40B4-BE49-F238E27FC236}">
                <a16:creationId xmlns:a16="http://schemas.microsoft.com/office/drawing/2014/main" id="{674084EC-B554-776B-02D3-AB225FAF30B8}"/>
              </a:ext>
            </a:extLst>
          </p:cNvPr>
          <p:cNvSpPr/>
          <p:nvPr/>
        </p:nvSpPr>
        <p:spPr>
          <a:xfrm>
            <a:off x="1501358" y="5262878"/>
            <a:ext cx="8971940" cy="628654"/>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TextBox 19">
            <a:hlinkClick r:id="rId8"/>
            <a:extLst>
              <a:ext uri="{FF2B5EF4-FFF2-40B4-BE49-F238E27FC236}">
                <a16:creationId xmlns:a16="http://schemas.microsoft.com/office/drawing/2014/main" id="{7547309D-2997-160F-5BBB-329EC8C0FEAD}"/>
              </a:ext>
            </a:extLst>
          </p:cNvPr>
          <p:cNvSpPr txBox="1"/>
          <p:nvPr/>
        </p:nvSpPr>
        <p:spPr>
          <a:xfrm>
            <a:off x="2177247" y="5387420"/>
            <a:ext cx="5137492" cy="369332"/>
          </a:xfrm>
          <a:prstGeom prst="rect">
            <a:avLst/>
          </a:prstGeom>
          <a:noFill/>
        </p:spPr>
        <p:txBody>
          <a:bodyPr wrap="square">
            <a:spAutoFit/>
          </a:bodyPr>
          <a:lstStyle/>
          <a:p>
            <a:r>
              <a:rPr lang="fr-FR" sz="1800" dirty="0" err="1">
                <a:latin typeface="Playfair Display" panose="00000500000000000000" pitchFamily="2" charset="0"/>
              </a:rPr>
              <a:t>Assign</a:t>
            </a:r>
            <a:r>
              <a:rPr lang="fr-FR" sz="1800" dirty="0">
                <a:latin typeface="Playfair Display" panose="00000500000000000000" pitchFamily="2" charset="0"/>
              </a:rPr>
              <a:t> </a:t>
            </a:r>
            <a:r>
              <a:rPr lang="fr-FR" sz="1800" dirty="0" err="1">
                <a:latin typeface="Playfair Display" panose="00000500000000000000" pitchFamily="2" charset="0"/>
              </a:rPr>
              <a:t>Requirements</a:t>
            </a:r>
            <a:r>
              <a:rPr lang="fr-FR" sz="1800" dirty="0">
                <a:latin typeface="Playfair Display" panose="00000500000000000000" pitchFamily="2" charset="0"/>
              </a:rPr>
              <a:t> to </a:t>
            </a:r>
            <a:r>
              <a:rPr lang="fr-FR" sz="1800" dirty="0" err="1">
                <a:latin typeface="Playfair Display" panose="00000500000000000000" pitchFamily="2" charset="0"/>
              </a:rPr>
              <a:t>Microservices</a:t>
            </a:r>
            <a:endParaRPr lang="fr-FR" sz="1800" dirty="0">
              <a:latin typeface="Playfair Display" panose="00000500000000000000" pitchFamily="2" charset="0"/>
            </a:endParaRPr>
          </a:p>
        </p:txBody>
      </p:sp>
      <p:sp>
        <p:nvSpPr>
          <p:cNvPr id="29" name="Rectangle: Rounded Corners 28">
            <a:extLst>
              <a:ext uri="{FF2B5EF4-FFF2-40B4-BE49-F238E27FC236}">
                <a16:creationId xmlns:a16="http://schemas.microsoft.com/office/drawing/2014/main" id="{C07EB6FE-855E-4736-5CD6-616AEB041312}"/>
              </a:ext>
            </a:extLst>
          </p:cNvPr>
          <p:cNvSpPr/>
          <p:nvPr/>
        </p:nvSpPr>
        <p:spPr>
          <a:xfrm>
            <a:off x="1501356" y="6131185"/>
            <a:ext cx="8971940" cy="628654"/>
          </a:xfrm>
          <a:prstGeom prst="roundRect">
            <a:avLst/>
          </a:prstGeom>
          <a:solidFill>
            <a:srgbClr val="FCFCFE"/>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TextBox 11">
            <a:hlinkClick r:id="rId9"/>
            <a:extLst>
              <a:ext uri="{FF2B5EF4-FFF2-40B4-BE49-F238E27FC236}">
                <a16:creationId xmlns:a16="http://schemas.microsoft.com/office/drawing/2014/main" id="{58E57B45-E47A-BEE2-A545-54117A6FEDAD}"/>
              </a:ext>
            </a:extLst>
          </p:cNvPr>
          <p:cNvSpPr txBox="1"/>
          <p:nvPr/>
        </p:nvSpPr>
        <p:spPr>
          <a:xfrm>
            <a:off x="2204789" y="6245457"/>
            <a:ext cx="2223686" cy="400110"/>
          </a:xfrm>
          <a:prstGeom prst="rect">
            <a:avLst/>
          </a:prstGeom>
          <a:noFill/>
        </p:spPr>
        <p:txBody>
          <a:bodyPr wrap="none" rtlCol="0">
            <a:spAutoFit/>
          </a:bodyPr>
          <a:lstStyle/>
          <a:p>
            <a:r>
              <a:rPr lang="en-US" sz="2000" dirty="0" err="1">
                <a:latin typeface="Playfair Display" panose="00000500000000000000" pitchFamily="2" charset="0"/>
              </a:rPr>
              <a:t>Pipline</a:t>
            </a:r>
            <a:r>
              <a:rPr lang="en-US" sz="2000" dirty="0">
                <a:latin typeface="Playfair Display" panose="00000500000000000000" pitchFamily="2" charset="0"/>
              </a:rPr>
              <a:t> Definition</a:t>
            </a:r>
            <a:endParaRPr lang="fr-FR" sz="2000" dirty="0">
              <a:latin typeface="Playfair Display" panose="00000500000000000000" pitchFamily="2" charset="0"/>
            </a:endParaRPr>
          </a:p>
        </p:txBody>
      </p:sp>
    </p:spTree>
    <p:extLst>
      <p:ext uri="{BB962C8B-B14F-4D97-AF65-F5344CB8AC3E}">
        <p14:creationId xmlns:p14="http://schemas.microsoft.com/office/powerpoint/2010/main" val="28183448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31FAD-FE95-7FFB-072C-CD88485CE3E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FCB13DC-14AF-81E0-E343-593D9ABF6957}"/>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1612"/>
            <a:ext cx="12192000" cy="6861223"/>
          </a:xfrm>
          <a:prstGeom prst="rect">
            <a:avLst/>
          </a:prstGeom>
        </p:spPr>
      </p:pic>
      <p:sp>
        <p:nvSpPr>
          <p:cNvPr id="6" name="TextBox 5">
            <a:extLst>
              <a:ext uri="{FF2B5EF4-FFF2-40B4-BE49-F238E27FC236}">
                <a16:creationId xmlns:a16="http://schemas.microsoft.com/office/drawing/2014/main" id="{13543292-3975-9653-EC50-D3A08D8BB5A9}"/>
              </a:ext>
            </a:extLst>
          </p:cNvPr>
          <p:cNvSpPr txBox="1"/>
          <p:nvPr/>
        </p:nvSpPr>
        <p:spPr>
          <a:xfrm>
            <a:off x="5840361" y="4925963"/>
            <a:ext cx="5928852" cy="1538883"/>
          </a:xfrm>
          <a:prstGeom prst="rect">
            <a:avLst/>
          </a:prstGeom>
          <a:noFill/>
        </p:spPr>
        <p:txBody>
          <a:bodyPr wrap="square" rtlCol="0">
            <a:spAutoFit/>
          </a:bodyPr>
          <a:lstStyle/>
          <a:p>
            <a:pPr algn="r"/>
            <a:r>
              <a:rPr lang="en-US" sz="5400" b="1" dirty="0">
                <a:solidFill>
                  <a:srgbClr val="226DF6"/>
                </a:solidFill>
                <a:latin typeface="Playfair Display" panose="00000500000000000000" pitchFamily="2" charset="0"/>
              </a:rPr>
              <a:t>03</a:t>
            </a:r>
            <a:br>
              <a:rPr lang="en-US" sz="4000" b="1" dirty="0">
                <a:latin typeface="Playfair Display" panose="00000500000000000000" pitchFamily="2" charset="0"/>
              </a:rPr>
            </a:br>
            <a:r>
              <a:rPr lang="en-US" sz="4000" b="1" dirty="0">
                <a:latin typeface="Playfair Display" panose="00000500000000000000" pitchFamily="2" charset="0"/>
              </a:rPr>
              <a:t>Planning and Next steps</a:t>
            </a:r>
            <a:endParaRPr lang="fr-FR" sz="4000" b="1" dirty="0">
              <a:latin typeface="Playfair Display" panose="00000500000000000000" pitchFamily="2" charset="0"/>
            </a:endParaRPr>
          </a:p>
        </p:txBody>
      </p:sp>
      <p:pic>
        <p:nvPicPr>
          <p:cNvPr id="3" name="Picture 2">
            <a:extLst>
              <a:ext uri="{FF2B5EF4-FFF2-40B4-BE49-F238E27FC236}">
                <a16:creationId xmlns:a16="http://schemas.microsoft.com/office/drawing/2014/main" id="{EC8733BB-9D34-8CD9-E2FD-A21192B69179}"/>
              </a:ext>
            </a:extLst>
          </p:cNvPr>
          <p:cNvPicPr>
            <a:picLocks noChangeAspect="1"/>
          </p:cNvPicPr>
          <p:nvPr/>
        </p:nvPicPr>
        <p:blipFill>
          <a:blip r:embed="rId3">
            <a:extLst>
              <a:ext uri="{28A0092B-C50C-407E-A947-70E740481C1C}">
                <a14:useLocalDpi xmlns:a14="http://schemas.microsoft.com/office/drawing/2010/main" val="0"/>
              </a:ext>
            </a:extLst>
          </a:blip>
          <a:srcRect l="26333" r="24710"/>
          <a:stretch>
            <a:fillRect/>
          </a:stretch>
        </p:blipFill>
        <p:spPr>
          <a:xfrm>
            <a:off x="0" y="0"/>
            <a:ext cx="5029200" cy="6858000"/>
          </a:xfrm>
          <a:prstGeom prst="rect">
            <a:avLst/>
          </a:prstGeom>
        </p:spPr>
      </p:pic>
    </p:spTree>
    <p:extLst>
      <p:ext uri="{BB962C8B-B14F-4D97-AF65-F5344CB8AC3E}">
        <p14:creationId xmlns:p14="http://schemas.microsoft.com/office/powerpoint/2010/main" val="1730800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908E4-428B-E42E-4E03-E10B675FA4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D03CBC4-0608-1C03-6784-E0822492682A}"/>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1612"/>
            <a:ext cx="12192000" cy="6861223"/>
          </a:xfrm>
          <a:prstGeom prst="rect">
            <a:avLst/>
          </a:prstGeom>
        </p:spPr>
      </p:pic>
      <p:sp>
        <p:nvSpPr>
          <p:cNvPr id="4" name="Arrow: Circular 3">
            <a:extLst>
              <a:ext uri="{FF2B5EF4-FFF2-40B4-BE49-F238E27FC236}">
                <a16:creationId xmlns:a16="http://schemas.microsoft.com/office/drawing/2014/main" id="{9641A599-4660-E936-11B9-335551A171DD}"/>
              </a:ext>
            </a:extLst>
          </p:cNvPr>
          <p:cNvSpPr/>
          <p:nvPr/>
        </p:nvSpPr>
        <p:spPr>
          <a:xfrm flipV="1">
            <a:off x="-5233010" y="-8839737"/>
            <a:ext cx="12661344" cy="15060307"/>
          </a:xfrm>
          <a:prstGeom prst="circularArrow">
            <a:avLst>
              <a:gd name="adj1" fmla="val 3264"/>
              <a:gd name="adj2" fmla="val 527716"/>
              <a:gd name="adj3" fmla="val 19949998"/>
              <a:gd name="adj4" fmla="val 16563863"/>
              <a:gd name="adj5" fmla="val 3396"/>
            </a:avLst>
          </a:prstGeom>
          <a:solidFill>
            <a:schemeClr val="bg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 name="TextBox 6">
            <a:extLst>
              <a:ext uri="{FF2B5EF4-FFF2-40B4-BE49-F238E27FC236}">
                <a16:creationId xmlns:a16="http://schemas.microsoft.com/office/drawing/2014/main" id="{0EFA0AE9-A00E-BB05-B1D7-BEE2051934E0}"/>
              </a:ext>
            </a:extLst>
          </p:cNvPr>
          <p:cNvSpPr txBox="1"/>
          <p:nvPr/>
        </p:nvSpPr>
        <p:spPr>
          <a:xfrm>
            <a:off x="353962" y="250723"/>
            <a:ext cx="4514377" cy="584775"/>
          </a:xfrm>
          <a:prstGeom prst="rect">
            <a:avLst/>
          </a:prstGeom>
          <a:noFill/>
        </p:spPr>
        <p:txBody>
          <a:bodyPr wrap="none" rtlCol="0">
            <a:spAutoFit/>
          </a:bodyPr>
          <a:lstStyle/>
          <a:p>
            <a:r>
              <a:rPr lang="fr-FR" sz="3200" b="1" dirty="0">
                <a:solidFill>
                  <a:srgbClr val="226DF6"/>
                </a:solidFill>
                <a:latin typeface="Playfair Display" panose="00000500000000000000" pitchFamily="2" charset="0"/>
              </a:rPr>
              <a:t>Plan for the Next Week</a:t>
            </a:r>
            <a:endParaRPr lang="fr-FR" sz="3200" dirty="0">
              <a:solidFill>
                <a:srgbClr val="226DF6"/>
              </a:solidFill>
              <a:latin typeface="Playfair Display" panose="00000500000000000000" pitchFamily="2" charset="0"/>
            </a:endParaRPr>
          </a:p>
        </p:txBody>
      </p:sp>
      <p:sp>
        <p:nvSpPr>
          <p:cNvPr id="9" name="Oval 8">
            <a:extLst>
              <a:ext uri="{FF2B5EF4-FFF2-40B4-BE49-F238E27FC236}">
                <a16:creationId xmlns:a16="http://schemas.microsoft.com/office/drawing/2014/main" id="{CC2DF52C-C686-9216-BC38-AC19136011F3}"/>
              </a:ext>
            </a:extLst>
          </p:cNvPr>
          <p:cNvSpPr/>
          <p:nvPr/>
        </p:nvSpPr>
        <p:spPr>
          <a:xfrm>
            <a:off x="2802184" y="5172916"/>
            <a:ext cx="822960" cy="822960"/>
          </a:xfrm>
          <a:prstGeom prst="ellipse">
            <a:avLst/>
          </a:prstGeom>
          <a:solidFill>
            <a:srgbClr val="226DF6"/>
          </a:solidFill>
          <a:ln w="28575" cmpd="sng">
            <a:solidFill>
              <a:srgbClr val="226DF6"/>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sp>
        <p:nvSpPr>
          <p:cNvPr id="10" name="Oval 9">
            <a:extLst>
              <a:ext uri="{FF2B5EF4-FFF2-40B4-BE49-F238E27FC236}">
                <a16:creationId xmlns:a16="http://schemas.microsoft.com/office/drawing/2014/main" id="{FB42C31A-52D4-B579-E703-A355C250E092}"/>
              </a:ext>
            </a:extLst>
          </p:cNvPr>
          <p:cNvSpPr/>
          <p:nvPr/>
        </p:nvSpPr>
        <p:spPr>
          <a:xfrm>
            <a:off x="4727140" y="3910089"/>
            <a:ext cx="822960" cy="822960"/>
          </a:xfrm>
          <a:prstGeom prst="ellipse">
            <a:avLst/>
          </a:prstGeom>
          <a:solidFill>
            <a:srgbClr val="226DF6"/>
          </a:solidFill>
          <a:ln w="28575" cmpd="sng">
            <a:solidFill>
              <a:srgbClr val="226DF6"/>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sp>
        <p:nvSpPr>
          <p:cNvPr id="11" name="TextBox 10">
            <a:extLst>
              <a:ext uri="{FF2B5EF4-FFF2-40B4-BE49-F238E27FC236}">
                <a16:creationId xmlns:a16="http://schemas.microsoft.com/office/drawing/2014/main" id="{59410919-5A8B-3327-2920-32C1C72827FF}"/>
              </a:ext>
            </a:extLst>
          </p:cNvPr>
          <p:cNvSpPr txBox="1"/>
          <p:nvPr/>
        </p:nvSpPr>
        <p:spPr>
          <a:xfrm>
            <a:off x="2937787" y="5353563"/>
            <a:ext cx="551754" cy="461665"/>
          </a:xfrm>
          <a:prstGeom prst="rect">
            <a:avLst/>
          </a:prstGeom>
          <a:noFill/>
        </p:spPr>
        <p:txBody>
          <a:bodyPr wrap="square" rtlCol="0">
            <a:spAutoFit/>
          </a:bodyPr>
          <a:lstStyle/>
          <a:p>
            <a:r>
              <a:rPr lang="en-US" sz="2400" b="1" dirty="0">
                <a:solidFill>
                  <a:schemeClr val="bg1"/>
                </a:solidFill>
                <a:latin typeface="Libre Baskerville" panose="02000000000000000000" pitchFamily="2" charset="0"/>
              </a:rPr>
              <a:t>01</a:t>
            </a:r>
            <a:endParaRPr lang="fr-FR" sz="2400" b="1" dirty="0">
              <a:solidFill>
                <a:schemeClr val="bg1"/>
              </a:solidFill>
              <a:latin typeface="Libre Baskerville" panose="02000000000000000000" pitchFamily="2" charset="0"/>
            </a:endParaRPr>
          </a:p>
        </p:txBody>
      </p:sp>
      <p:sp>
        <p:nvSpPr>
          <p:cNvPr id="12" name="TextBox 11">
            <a:extLst>
              <a:ext uri="{FF2B5EF4-FFF2-40B4-BE49-F238E27FC236}">
                <a16:creationId xmlns:a16="http://schemas.microsoft.com/office/drawing/2014/main" id="{A45FDDCC-5877-0C55-F32F-657E686DEEEF}"/>
              </a:ext>
            </a:extLst>
          </p:cNvPr>
          <p:cNvSpPr txBox="1"/>
          <p:nvPr/>
        </p:nvSpPr>
        <p:spPr>
          <a:xfrm>
            <a:off x="4829881" y="4090736"/>
            <a:ext cx="617477" cy="461665"/>
          </a:xfrm>
          <a:prstGeom prst="rect">
            <a:avLst/>
          </a:prstGeom>
          <a:noFill/>
        </p:spPr>
        <p:txBody>
          <a:bodyPr wrap="square" rtlCol="0">
            <a:spAutoFit/>
          </a:bodyPr>
          <a:lstStyle/>
          <a:p>
            <a:r>
              <a:rPr lang="en-US" sz="2400" b="1" dirty="0">
                <a:solidFill>
                  <a:schemeClr val="bg1"/>
                </a:solidFill>
                <a:latin typeface="Libre Baskerville" panose="02000000000000000000" pitchFamily="2" charset="0"/>
              </a:rPr>
              <a:t>02</a:t>
            </a:r>
            <a:endParaRPr lang="fr-FR" sz="2400" b="1" dirty="0">
              <a:solidFill>
                <a:schemeClr val="bg1"/>
              </a:solidFill>
              <a:latin typeface="Libre Baskerville" panose="02000000000000000000" pitchFamily="2" charset="0"/>
            </a:endParaRPr>
          </a:p>
        </p:txBody>
      </p:sp>
      <p:sp>
        <p:nvSpPr>
          <p:cNvPr id="6" name="TextBox 5">
            <a:extLst>
              <a:ext uri="{FF2B5EF4-FFF2-40B4-BE49-F238E27FC236}">
                <a16:creationId xmlns:a16="http://schemas.microsoft.com/office/drawing/2014/main" id="{1D520A47-C12C-6E0F-D7CF-3B2A86B2DBE3}"/>
              </a:ext>
            </a:extLst>
          </p:cNvPr>
          <p:cNvSpPr txBox="1"/>
          <p:nvPr/>
        </p:nvSpPr>
        <p:spPr>
          <a:xfrm>
            <a:off x="3761351" y="5397400"/>
            <a:ext cx="1176925" cy="461665"/>
          </a:xfrm>
          <a:prstGeom prst="rect">
            <a:avLst/>
          </a:prstGeom>
          <a:noFill/>
        </p:spPr>
        <p:txBody>
          <a:bodyPr wrap="none" rtlCol="0">
            <a:spAutoFit/>
          </a:bodyPr>
          <a:lstStyle/>
          <a:p>
            <a:r>
              <a:rPr lang="en-US" sz="2400" b="1" dirty="0">
                <a:latin typeface="Playfair Display" panose="00000500000000000000" pitchFamily="2" charset="0"/>
              </a:rPr>
              <a:t>Design</a:t>
            </a:r>
            <a:endParaRPr lang="fr-FR" sz="2400" b="1" dirty="0">
              <a:latin typeface="Playfair Display" panose="00000500000000000000" pitchFamily="2" charset="0"/>
            </a:endParaRPr>
          </a:p>
        </p:txBody>
      </p:sp>
      <p:sp>
        <p:nvSpPr>
          <p:cNvPr id="14" name="TextBox 13">
            <a:extLst>
              <a:ext uri="{FF2B5EF4-FFF2-40B4-BE49-F238E27FC236}">
                <a16:creationId xmlns:a16="http://schemas.microsoft.com/office/drawing/2014/main" id="{84D76431-8E11-1C8F-AA5F-99BD0CB61408}"/>
              </a:ext>
            </a:extLst>
          </p:cNvPr>
          <p:cNvSpPr txBox="1"/>
          <p:nvPr/>
        </p:nvSpPr>
        <p:spPr>
          <a:xfrm>
            <a:off x="5652841" y="3859903"/>
            <a:ext cx="3198311" cy="461665"/>
          </a:xfrm>
          <a:prstGeom prst="rect">
            <a:avLst/>
          </a:prstGeom>
          <a:noFill/>
        </p:spPr>
        <p:txBody>
          <a:bodyPr wrap="none" rtlCol="0">
            <a:spAutoFit/>
          </a:bodyPr>
          <a:lstStyle/>
          <a:p>
            <a:r>
              <a:rPr lang="en-US" sz="2400" b="1" dirty="0">
                <a:latin typeface="Playfair Display" panose="00000500000000000000" pitchFamily="2" charset="0"/>
              </a:rPr>
              <a:t>Database Conception</a:t>
            </a:r>
            <a:endParaRPr lang="fr-FR" sz="2400" b="1" dirty="0">
              <a:latin typeface="Playfair Display" panose="00000500000000000000" pitchFamily="2" charset="0"/>
            </a:endParaRPr>
          </a:p>
        </p:txBody>
      </p:sp>
      <p:sp>
        <p:nvSpPr>
          <p:cNvPr id="16" name="TextBox 15">
            <a:extLst>
              <a:ext uri="{FF2B5EF4-FFF2-40B4-BE49-F238E27FC236}">
                <a16:creationId xmlns:a16="http://schemas.microsoft.com/office/drawing/2014/main" id="{1431F002-B38E-A335-B4C7-56285393D0C2}"/>
              </a:ext>
            </a:extLst>
          </p:cNvPr>
          <p:cNvSpPr txBox="1"/>
          <p:nvPr/>
        </p:nvSpPr>
        <p:spPr>
          <a:xfrm>
            <a:off x="3771892" y="5939925"/>
            <a:ext cx="1228221" cy="400110"/>
          </a:xfrm>
          <a:prstGeom prst="rect">
            <a:avLst/>
          </a:prstGeom>
          <a:noFill/>
        </p:spPr>
        <p:txBody>
          <a:bodyPr wrap="none" rtlCol="0">
            <a:spAutoFit/>
          </a:bodyPr>
          <a:lstStyle/>
          <a:p>
            <a:r>
              <a:rPr lang="en-US" sz="2000" dirty="0">
                <a:latin typeface="Playfair Display" panose="00000500000000000000" pitchFamily="2" charset="0"/>
              </a:rPr>
              <a:t>Mockups</a:t>
            </a:r>
            <a:endParaRPr lang="fr-FR" sz="2000" dirty="0">
              <a:latin typeface="Playfair Display" panose="00000500000000000000" pitchFamily="2" charset="0"/>
            </a:endParaRPr>
          </a:p>
        </p:txBody>
      </p:sp>
      <p:sp>
        <p:nvSpPr>
          <p:cNvPr id="17" name="TextBox 16">
            <a:extLst>
              <a:ext uri="{FF2B5EF4-FFF2-40B4-BE49-F238E27FC236}">
                <a16:creationId xmlns:a16="http://schemas.microsoft.com/office/drawing/2014/main" id="{6C318198-258E-7434-940B-2044C8E61830}"/>
              </a:ext>
            </a:extLst>
          </p:cNvPr>
          <p:cNvSpPr txBox="1"/>
          <p:nvPr/>
        </p:nvSpPr>
        <p:spPr>
          <a:xfrm>
            <a:off x="5652841" y="4503863"/>
            <a:ext cx="3328155" cy="707886"/>
          </a:xfrm>
          <a:prstGeom prst="rect">
            <a:avLst/>
          </a:prstGeom>
          <a:noFill/>
        </p:spPr>
        <p:txBody>
          <a:bodyPr wrap="none" rtlCol="0">
            <a:spAutoFit/>
          </a:bodyPr>
          <a:lstStyle/>
          <a:p>
            <a:r>
              <a:rPr lang="en-US" sz="2000" dirty="0">
                <a:latin typeface="Playfair Display" panose="00000500000000000000" pitchFamily="2" charset="0"/>
              </a:rPr>
              <a:t>Entity Association Diagram</a:t>
            </a:r>
            <a:br>
              <a:rPr lang="en-US" sz="2000" dirty="0">
                <a:latin typeface="Playfair Display" panose="00000500000000000000" pitchFamily="2" charset="0"/>
              </a:rPr>
            </a:br>
            <a:r>
              <a:rPr lang="en-US" sz="2000" dirty="0">
                <a:latin typeface="Playfair Display" panose="00000500000000000000" pitchFamily="2" charset="0"/>
              </a:rPr>
              <a:t>Databases Technologies</a:t>
            </a:r>
            <a:endParaRPr lang="fr-FR" sz="2000" dirty="0">
              <a:latin typeface="Playfair Display" panose="00000500000000000000" pitchFamily="2" charset="0"/>
            </a:endParaRPr>
          </a:p>
        </p:txBody>
      </p:sp>
    </p:spTree>
    <p:extLst>
      <p:ext uri="{BB962C8B-B14F-4D97-AF65-F5344CB8AC3E}">
        <p14:creationId xmlns:p14="http://schemas.microsoft.com/office/powerpoint/2010/main" val="29278866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8D3B1-A2D6-2645-436D-705C8CA79749}"/>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67A9A5D6-55AA-D991-E249-BF985F45D7B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1"/>
            <a:ext cx="12192000" cy="6830253"/>
          </a:xfrm>
          <a:prstGeom prst="rect">
            <a:avLst/>
          </a:prstGeom>
        </p:spPr>
      </p:pic>
      <p:sp>
        <p:nvSpPr>
          <p:cNvPr id="6" name="TextBox 5">
            <a:extLst>
              <a:ext uri="{FF2B5EF4-FFF2-40B4-BE49-F238E27FC236}">
                <a16:creationId xmlns:a16="http://schemas.microsoft.com/office/drawing/2014/main" id="{22B45E1C-D09E-A3E7-31EB-2799840B92EC}"/>
              </a:ext>
            </a:extLst>
          </p:cNvPr>
          <p:cNvSpPr txBox="1"/>
          <p:nvPr/>
        </p:nvSpPr>
        <p:spPr>
          <a:xfrm>
            <a:off x="790483" y="2644170"/>
            <a:ext cx="6583854" cy="1569660"/>
          </a:xfrm>
          <a:prstGeom prst="rect">
            <a:avLst/>
          </a:prstGeom>
          <a:noFill/>
        </p:spPr>
        <p:txBody>
          <a:bodyPr wrap="none" rtlCol="0">
            <a:spAutoFit/>
          </a:bodyPr>
          <a:lstStyle/>
          <a:p>
            <a:r>
              <a:rPr lang="en-US" sz="9600" b="1" spc="300" dirty="0">
                <a:solidFill>
                  <a:srgbClr val="226DF6"/>
                </a:solidFill>
                <a:latin typeface="Playfair Display" panose="00000500000000000000" pitchFamily="2" charset="0"/>
              </a:rPr>
              <a:t>Thank you</a:t>
            </a:r>
            <a:endParaRPr lang="fr-FR" sz="9600" b="1" spc="300" dirty="0">
              <a:solidFill>
                <a:srgbClr val="226DF6"/>
              </a:solidFill>
              <a:latin typeface="Playfair Display" panose="00000500000000000000" pitchFamily="2" charset="0"/>
            </a:endParaRPr>
          </a:p>
        </p:txBody>
      </p:sp>
    </p:spTree>
    <p:extLst>
      <p:ext uri="{BB962C8B-B14F-4D97-AF65-F5344CB8AC3E}">
        <p14:creationId xmlns:p14="http://schemas.microsoft.com/office/powerpoint/2010/main" val="3978255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2462</TotalTime>
  <Words>368</Words>
  <Application>Microsoft Office PowerPoint</Application>
  <PresentationFormat>Widescreen</PresentationFormat>
  <Paragraphs>62</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(Body)</vt:lpstr>
      <vt:lpstr>Aptos Display</vt:lpstr>
      <vt:lpstr>Arial</vt:lpstr>
      <vt:lpstr>Libre Baskerville</vt:lpstr>
      <vt:lpstr>Playfair Display</vt:lpstr>
      <vt:lpstr>Office Theme</vt:lpstr>
      <vt:lpstr>AI-Based Freelance-Startup System Progress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Chaima Djekhrab</dc:creator>
  <cp:lastModifiedBy>Chaima Djekhrab</cp:lastModifiedBy>
  <cp:revision>14</cp:revision>
  <dcterms:created xsi:type="dcterms:W3CDTF">2026-02-18T11:11:58Z</dcterms:created>
  <dcterms:modified xsi:type="dcterms:W3CDTF">2026-03-01T21:29:43Z</dcterms:modified>
</cp:coreProperties>
</file>