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9" r:id="rId4"/>
    <p:sldId id="298" r:id="rId5"/>
    <p:sldId id="270" r:id="rId6"/>
    <p:sldId id="271" r:id="rId7"/>
    <p:sldId id="259" r:id="rId8"/>
    <p:sldId id="275" r:id="rId9"/>
    <p:sldId id="296" r:id="rId10"/>
    <p:sldId id="297" r:id="rId11"/>
    <p:sldId id="304" r:id="rId12"/>
    <p:sldId id="299" r:id="rId13"/>
    <p:sldId id="300" r:id="rId14"/>
    <p:sldId id="301" r:id="rId15"/>
    <p:sldId id="302" r:id="rId16"/>
    <p:sldId id="303" r:id="rId17"/>
    <p:sldId id="260" r:id="rId18"/>
    <p:sldId id="264" r:id="rId19"/>
    <p:sldId id="265" r:id="rId2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26DF6"/>
    <a:srgbClr val="FCFCFE"/>
    <a:srgbClr val="EEF1F5"/>
    <a:srgbClr val="F5F6FA"/>
    <a:srgbClr val="F2F2F2"/>
    <a:srgbClr val="FDFDFD"/>
    <a:srgbClr val="FAFA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26" autoAdjust="0"/>
    <p:restoredTop sz="94660"/>
  </p:normalViewPr>
  <p:slideViewPr>
    <p:cSldViewPr snapToGrid="0">
      <p:cViewPr varScale="1">
        <p:scale>
          <a:sx n="65" d="100"/>
          <a:sy n="65" d="100"/>
        </p:scale>
        <p:origin x="84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1A224-4944-0243-5223-6249A499BC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0CCA0B-3A75-F99D-D91B-52F67F2E72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65C5C1-BF2B-C300-A166-BE8734A3A3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35059-BEE1-43CC-9E11-FA1C55B0A8F7}" type="datetimeFigureOut">
              <a:rPr lang="fr-FR" smtClean="0"/>
              <a:t>17/04/2026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DDDF11-2D5C-A387-E06D-642070D60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2D35D5-B812-5367-56FE-9D4D5E8F1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D19D0-6058-474D-BE98-77F42B5C682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159162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CD80B-F623-55D9-B885-627EAF262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6EECFD-ECFF-3A2E-9A79-B4FD23A45A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93C239-EBC1-4C19-74CE-3F584539B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35059-BEE1-43CC-9E11-FA1C55B0A8F7}" type="datetimeFigureOut">
              <a:rPr lang="fr-FR" smtClean="0"/>
              <a:t>17/04/2026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4D92E9-5121-16C5-FE48-86A66D221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090BD6-5205-0243-E66A-A0B0005BB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D19D0-6058-474D-BE98-77F42B5C682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661713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E1605-CFAF-7D5F-6DE6-C3D7AD74C0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8450F8-5C37-B083-B483-8484BDFACD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33D890-B2FE-D3B7-1889-E6A1F1FDF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35059-BEE1-43CC-9E11-FA1C55B0A8F7}" type="datetimeFigureOut">
              <a:rPr lang="fr-FR" smtClean="0"/>
              <a:t>17/04/2026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C92CEF-1512-30BE-75C6-635438C2F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9503A4-8D07-A277-1AFF-C0EEE90ED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D19D0-6058-474D-BE98-77F42B5C682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89982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E67D5-3C4D-C7FC-C967-700EB2110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2F9C36-F34D-F0E2-E00D-452B63D7DF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84CD25-ED2F-F5DC-654B-F4997A9E16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793C62-51C0-4D3F-4E19-2F489036D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35059-BEE1-43CC-9E11-FA1C55B0A8F7}" type="datetimeFigureOut">
              <a:rPr lang="fr-FR" smtClean="0"/>
              <a:t>17/04/2026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4A1DC1-7FB7-3721-A5AA-CC9C08678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C504F4-56AF-0405-F74C-43773396D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D19D0-6058-474D-BE98-77F42B5C682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333283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06E78-B744-21B7-37E5-C7004AC55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344491-FAAF-78E2-8BBA-BFE375B424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9BDD96-AE80-A50E-602C-4C888C2BFD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827390-2EF4-9797-A3E8-860895C782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932108-59EC-5CCD-985B-17E1000EDB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AEEF739-5B1D-2DB5-605E-D84C3F892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35059-BEE1-43CC-9E11-FA1C55B0A8F7}" type="datetimeFigureOut">
              <a:rPr lang="fr-FR" smtClean="0"/>
              <a:t>17/04/2026</a:t>
            </a:fld>
            <a:endParaRPr lang="fr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107178-5F68-E13A-AAB2-CFDE225D0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0343D91-3B14-474D-7D24-80E240C4F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D19D0-6058-474D-BE98-77F42B5C682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137757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A3EAF-71FE-A7C8-B535-68A29FE98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796918-7B0F-8371-7492-4294EBB08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35059-BEE1-43CC-9E11-FA1C55B0A8F7}" type="datetimeFigureOut">
              <a:rPr lang="fr-FR" smtClean="0"/>
              <a:t>17/04/2026</a:t>
            </a:fld>
            <a:endParaRPr lang="fr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06B4E7-5DE4-E1EC-591C-9D38F6B7B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396F15-CF21-DBB7-566F-266A0AA7E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D19D0-6058-474D-BE98-77F42B5C682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025384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F196AF-AAB1-5484-E390-CCB7D3C17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35059-BEE1-43CC-9E11-FA1C55B0A8F7}" type="datetimeFigureOut">
              <a:rPr lang="fr-FR" smtClean="0"/>
              <a:t>17/04/2026</a:t>
            </a:fld>
            <a:endParaRPr lang="fr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CEB36B-69BB-AA86-F20B-9FC686E61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936F8C-0B3F-8DD8-25B6-72003AA0A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D19D0-6058-474D-BE98-77F42B5C682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557559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1C3DD-43AE-AC87-3745-BBFCD0222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15FF30-8DF7-AF8C-BB8D-A3C1550118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6280F1-C958-D502-793D-94331F8B8A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B02A1E-04C4-16A3-D77F-117CF7A9F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35059-BEE1-43CC-9E11-FA1C55B0A8F7}" type="datetimeFigureOut">
              <a:rPr lang="fr-FR" smtClean="0"/>
              <a:t>17/04/2026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67B52D-FDFF-C151-D8C9-D293FAA93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EEF3A2-3590-5E55-59D3-CEED81DF4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D19D0-6058-474D-BE98-77F42B5C682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709874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7C062-A8D9-9FDA-E2E5-5246B0455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7B4456B-2980-BF55-71B1-95853EF1B9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48E323-DACE-BC85-B6EB-3F528CDA15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71C307-A617-02DE-72DF-AFC16DFBFE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35059-BEE1-43CC-9E11-FA1C55B0A8F7}" type="datetimeFigureOut">
              <a:rPr lang="fr-FR" smtClean="0"/>
              <a:t>17/04/2026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E180C5-65B0-7FFF-B07C-11184162A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318F96-DBD2-7519-B63F-FEBF3B42E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D19D0-6058-474D-BE98-77F42B5C682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166225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4E268-5020-FAD3-EC19-B436E4EE0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A0AB5F-4809-AC07-84A2-DCA5134148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BD1DA6-897A-65B9-4B2C-3F91569B6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35059-BEE1-43CC-9E11-FA1C55B0A8F7}" type="datetimeFigureOut">
              <a:rPr lang="fr-FR" smtClean="0"/>
              <a:t>17/04/2026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6B49E7-B851-D505-05C0-9823083E4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B8EB13-BB07-2677-2EAA-63B378940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D19D0-6058-474D-BE98-77F42B5C682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862916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7B4C3B2-2276-5867-EA34-46BE99218F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DF495B-73FB-9784-3013-BACD021613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1D150C-28FB-D359-6DDB-AFF07AE1C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35059-BEE1-43CC-9E11-FA1C55B0A8F7}" type="datetimeFigureOut">
              <a:rPr lang="fr-FR" smtClean="0"/>
              <a:t>17/04/2026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F4D040-1AD1-A970-B49A-247257792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A43EB9-D1A8-A337-86EA-CE5812F62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D19D0-6058-474D-BE98-77F42B5C682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824051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2F51B7-E955-D7AB-AC01-133AB0659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6067A7-BCE9-B2AE-05D9-8CD38E5E62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5B833B-9C2C-3BBB-03A6-A8AC22CD91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035059-BEE1-43CC-9E11-FA1C55B0A8F7}" type="datetimeFigureOut">
              <a:rPr lang="fr-FR" smtClean="0"/>
              <a:t>17/04/2026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2E1C50-25CF-F000-A250-F8425C2069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5C00A1-1D73-384C-18F7-9866C0392A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ED19D0-6058-474D-BE98-77F42B5C682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927832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svg"/><Relationship Id="rId10" Type="http://schemas.openxmlformats.org/officeDocument/2006/relationships/image" Target="../media/image16.svg"/><Relationship Id="rId4" Type="http://schemas.openxmlformats.org/officeDocument/2006/relationships/image" Target="../media/image10.png"/><Relationship Id="rId9" Type="http://schemas.openxmlformats.org/officeDocument/2006/relationships/image" Target="../media/image15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0.png"/><Relationship Id="rId7" Type="http://schemas.openxmlformats.org/officeDocument/2006/relationships/image" Target="../media/image13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6.svg"/><Relationship Id="rId4" Type="http://schemas.openxmlformats.org/officeDocument/2006/relationships/image" Target="../media/image11.svg"/><Relationship Id="rId9" Type="http://schemas.openxmlformats.org/officeDocument/2006/relationships/image" Target="../media/image15.sv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A158638-D32E-A51A-B079-90F10EBE3C5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80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A078D81-19FC-5434-7CAE-F8FF3191C3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7805" y="1379210"/>
            <a:ext cx="10938389" cy="2680019"/>
          </a:xfrm>
        </p:spPr>
        <p:txBody>
          <a:bodyPr>
            <a:noAutofit/>
          </a:bodyPr>
          <a:lstStyle/>
          <a:p>
            <a:pPr algn="l">
              <a:lnSpc>
                <a:spcPct val="100000"/>
              </a:lnSpc>
              <a:spcAft>
                <a:spcPts val="1800"/>
              </a:spcAft>
            </a:pPr>
            <a:r>
              <a:rPr lang="en-US" b="1" dirty="0">
                <a:solidFill>
                  <a:srgbClr val="226DF6"/>
                </a:solidFill>
                <a:latin typeface="Aptos (Body)"/>
                <a:cs typeface="Arial" panose="020B0604020202020204" pitchFamily="34" charset="0"/>
              </a:rPr>
              <a:t>AI-Based Freelance-Startup System</a:t>
            </a:r>
            <a:br>
              <a:rPr lang="en-US" b="1" dirty="0">
                <a:solidFill>
                  <a:srgbClr val="226DF6"/>
                </a:solidFill>
                <a:latin typeface="Aptos (Body)"/>
                <a:cs typeface="Arial" panose="020B0604020202020204" pitchFamily="34" charset="0"/>
              </a:rPr>
            </a:br>
            <a:r>
              <a:rPr lang="en-US" b="1" dirty="0">
                <a:solidFill>
                  <a:srgbClr val="226DF6"/>
                </a:solidFill>
                <a:latin typeface="Aptos (Body)"/>
                <a:cs typeface="Arial" panose="020B0604020202020204" pitchFamily="34" charset="0"/>
              </a:rPr>
              <a:t>Progress Presentation</a:t>
            </a:r>
            <a:endParaRPr lang="fr-FR" dirty="0">
              <a:solidFill>
                <a:srgbClr val="226DF6"/>
              </a:solidFill>
              <a:latin typeface="Aptos (Body)"/>
              <a:cs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D8033E-0FB5-F78F-3B1B-2D4A136186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07806" y="4434815"/>
            <a:ext cx="9833448" cy="1655762"/>
          </a:xfrm>
        </p:spPr>
        <p:txBody>
          <a:bodyPr>
            <a:normAutofit/>
          </a:bodyPr>
          <a:lstStyle/>
          <a:p>
            <a:pPr algn="l"/>
            <a:r>
              <a:rPr lang="fr-FR" sz="3600" dirty="0">
                <a:latin typeface="Aptos (Body)"/>
                <a:cs typeface="Arial" panose="020B0604020202020204" pitchFamily="34" charset="0"/>
              </a:rPr>
              <a:t>Week</a:t>
            </a:r>
            <a:r>
              <a:rPr lang="fr-FR" sz="3600" dirty="0">
                <a:latin typeface="Aptos (Body)"/>
              </a:rPr>
              <a:t> 06</a:t>
            </a:r>
          </a:p>
        </p:txBody>
      </p:sp>
    </p:spTree>
    <p:extLst>
      <p:ext uri="{BB962C8B-B14F-4D97-AF65-F5344CB8AC3E}">
        <p14:creationId xmlns:p14="http://schemas.microsoft.com/office/powerpoint/2010/main" val="29716431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Content Placeholder 17">
            <a:extLst>
              <a:ext uri="{FF2B5EF4-FFF2-40B4-BE49-F238E27FC236}">
                <a16:creationId xmlns:a16="http://schemas.microsoft.com/office/drawing/2014/main" id="{777BBFE1-508C-690A-B5B9-9FCDB2D456F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306589" cy="6858000"/>
          </a:xfr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664A5578-3080-1E16-04B3-6CF0BEC539A4}"/>
              </a:ext>
            </a:extLst>
          </p:cNvPr>
          <p:cNvGrpSpPr/>
          <p:nvPr/>
        </p:nvGrpSpPr>
        <p:grpSpPr>
          <a:xfrm>
            <a:off x="904568" y="2864575"/>
            <a:ext cx="2626934" cy="1128850"/>
            <a:chOff x="904568" y="2669482"/>
            <a:chExt cx="2626934" cy="1128850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2C20B18-A40E-74E5-B1F6-B3EEED87A6E4}"/>
                </a:ext>
              </a:extLst>
            </p:cNvPr>
            <p:cNvSpPr txBox="1">
              <a:spLocks/>
            </p:cNvSpPr>
            <p:nvPr/>
          </p:nvSpPr>
          <p:spPr>
            <a:xfrm>
              <a:off x="904568" y="2669482"/>
              <a:ext cx="2626934" cy="68480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buNone/>
              </a:pPr>
              <a:r>
                <a:rPr lang="fr-FR" sz="3850" b="1" dirty="0">
                  <a:solidFill>
                    <a:srgbClr val="226DF6"/>
                  </a:solidFill>
                  <a:effectLst/>
                  <a:latin typeface="Playfair Display" panose="020F0502020204030204" pitchFamily="2" charset="0"/>
                </a:rPr>
                <a:t>Contents</a:t>
              </a:r>
              <a:endParaRPr lang="fr-FR" sz="3850" dirty="0">
                <a:effectLst/>
                <a:latin typeface="Playfair Display" panose="020F0502020204030204" pitchFamily="2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7409096-D706-90CA-46D5-02D2703D6A3A}"/>
                </a:ext>
              </a:extLst>
            </p:cNvPr>
            <p:cNvSpPr txBox="1">
              <a:spLocks/>
            </p:cNvSpPr>
            <p:nvPr/>
          </p:nvSpPr>
          <p:spPr>
            <a:xfrm>
              <a:off x="904568" y="3429000"/>
              <a:ext cx="262693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buNone/>
              </a:pPr>
              <a:r>
                <a:rPr lang="en-US" spc="300" dirty="0">
                  <a:solidFill>
                    <a:srgbClr val="226DF6"/>
                  </a:solidFill>
                  <a:latin typeface="Libre Baskerville" panose="020F0502020204030204" pitchFamily="2" charset="0"/>
                </a:rPr>
                <a:t>CATALOGUE</a:t>
              </a:r>
              <a:endParaRPr lang="fr-FR" spc="300" dirty="0">
                <a:effectLst/>
                <a:latin typeface="Libre Baskerville" panose="020F0502020204030204" pitchFamily="2" charset="0"/>
              </a:endParaRPr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BDC79FDF-94A0-969E-E35E-3CA1E288C28B}"/>
              </a:ext>
            </a:extLst>
          </p:cNvPr>
          <p:cNvSpPr txBox="1"/>
          <p:nvPr/>
        </p:nvSpPr>
        <p:spPr>
          <a:xfrm>
            <a:off x="5235679" y="1684901"/>
            <a:ext cx="7561006" cy="34881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Clr>
                <a:srgbClr val="226DF6"/>
              </a:buClr>
            </a:pPr>
            <a:r>
              <a:rPr lang="en-US" sz="3000" b="1" dirty="0">
                <a:solidFill>
                  <a:srgbClr val="226DF6"/>
                </a:solidFill>
              </a:rPr>
              <a:t>01</a:t>
            </a:r>
            <a:r>
              <a:rPr lang="en-US" sz="3000" dirty="0"/>
              <a:t>   </a:t>
            </a:r>
            <a:r>
              <a:rPr lang="fr-FR" sz="3000" dirty="0"/>
              <a:t>Project </a:t>
            </a:r>
            <a:r>
              <a:rPr lang="fr-FR" sz="3000" dirty="0" err="1"/>
              <a:t>Positioning</a:t>
            </a:r>
            <a:endParaRPr lang="en-US" sz="3000" dirty="0"/>
          </a:p>
          <a:p>
            <a:pPr>
              <a:lnSpc>
                <a:spcPct val="150000"/>
              </a:lnSpc>
              <a:buClr>
                <a:srgbClr val="226DF6"/>
              </a:buClr>
            </a:pPr>
            <a:r>
              <a:rPr lang="en-US" sz="3000" b="1" dirty="0">
                <a:solidFill>
                  <a:srgbClr val="226DF6"/>
                </a:solidFill>
              </a:rPr>
              <a:t>02   </a:t>
            </a:r>
            <a:r>
              <a:rPr lang="en-US" sz="3000" dirty="0"/>
              <a:t>Weekly Progress</a:t>
            </a:r>
          </a:p>
          <a:p>
            <a:pPr lvl="1">
              <a:lnSpc>
                <a:spcPct val="150000"/>
              </a:lnSpc>
              <a:buClr>
                <a:srgbClr val="226DF6"/>
              </a:buClr>
            </a:pPr>
            <a:r>
              <a:rPr lang="en-US" sz="3000" b="1" dirty="0">
                <a:solidFill>
                  <a:srgbClr val="226DF6"/>
                </a:solidFill>
              </a:rPr>
              <a:t>2.1 </a:t>
            </a:r>
            <a:r>
              <a:rPr lang="fr-FR" sz="3000" dirty="0"/>
              <a:t>Platform Architecture</a:t>
            </a:r>
          </a:p>
          <a:p>
            <a:pPr lvl="1">
              <a:lnSpc>
                <a:spcPct val="150000"/>
              </a:lnSpc>
              <a:buClr>
                <a:srgbClr val="226DF6"/>
              </a:buClr>
            </a:pPr>
            <a:r>
              <a:rPr lang="fr-FR" sz="3000" b="1" dirty="0">
                <a:solidFill>
                  <a:srgbClr val="226DF6"/>
                </a:solidFill>
              </a:rPr>
              <a:t>2.2 </a:t>
            </a:r>
            <a:r>
              <a:rPr lang="fr-FR" sz="3000" dirty="0"/>
              <a:t>AI &amp; Intelligent Layer</a:t>
            </a:r>
          </a:p>
          <a:p>
            <a:pPr>
              <a:lnSpc>
                <a:spcPct val="150000"/>
              </a:lnSpc>
              <a:buClr>
                <a:srgbClr val="226DF6"/>
              </a:buClr>
            </a:pPr>
            <a:r>
              <a:rPr lang="en-US" sz="3000" b="1" dirty="0">
                <a:solidFill>
                  <a:srgbClr val="226DF6"/>
                </a:solidFill>
              </a:rPr>
              <a:t>03    </a:t>
            </a:r>
            <a:r>
              <a:rPr lang="en-US" sz="3000" dirty="0"/>
              <a:t>Planning and Next Steps</a:t>
            </a:r>
            <a:endParaRPr lang="fr-FR" sz="3000" dirty="0"/>
          </a:p>
        </p:txBody>
      </p:sp>
    </p:spTree>
    <p:extLst>
      <p:ext uri="{BB962C8B-B14F-4D97-AF65-F5344CB8AC3E}">
        <p14:creationId xmlns:p14="http://schemas.microsoft.com/office/powerpoint/2010/main" val="35033113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1F29278-D45F-10F8-0A34-2B02531A4CE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612"/>
            <a:ext cx="12192000" cy="686122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CC46A47-4813-6B0B-DCFF-FD5EA9A45B8F}"/>
              </a:ext>
            </a:extLst>
          </p:cNvPr>
          <p:cNvSpPr txBox="1"/>
          <p:nvPr/>
        </p:nvSpPr>
        <p:spPr>
          <a:xfrm>
            <a:off x="6371303" y="4940711"/>
            <a:ext cx="5397910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5400" b="1" dirty="0">
                <a:solidFill>
                  <a:srgbClr val="226DF6"/>
                </a:solidFill>
                <a:latin typeface="Playfair Display" panose="00000500000000000000" pitchFamily="2" charset="0"/>
              </a:rPr>
              <a:t>01</a:t>
            </a:r>
            <a:br>
              <a:rPr lang="en-US" sz="4000" b="1" dirty="0">
                <a:latin typeface="Playfair Display" panose="00000500000000000000" pitchFamily="2" charset="0"/>
              </a:rPr>
            </a:br>
            <a:r>
              <a:rPr lang="en-US" sz="4000" b="1" dirty="0">
                <a:latin typeface="Playfair Display" panose="00000500000000000000" pitchFamily="2" charset="0"/>
              </a:rPr>
              <a:t>Project Positioning</a:t>
            </a:r>
            <a:endParaRPr lang="fr-FR" sz="4000" b="1" dirty="0">
              <a:latin typeface="Playfair Display" panose="00000500000000000000" pitchFamily="2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810C65D-B695-A872-05B0-44F2CD8C18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50846"/>
          <a:stretch>
            <a:fillRect/>
          </a:stretch>
        </p:blipFill>
        <p:spPr>
          <a:xfrm>
            <a:off x="1" y="0"/>
            <a:ext cx="505378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99389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12D195-51E2-546F-DF99-725F79DABA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7B6100E-D582-0411-9CDF-0700DC624A8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612"/>
            <a:ext cx="12192000" cy="686122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551A7F3-B399-8CBA-047D-5924DAF5E798}"/>
              </a:ext>
            </a:extLst>
          </p:cNvPr>
          <p:cNvSpPr txBox="1"/>
          <p:nvPr/>
        </p:nvSpPr>
        <p:spPr>
          <a:xfrm>
            <a:off x="560437" y="250723"/>
            <a:ext cx="29274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 err="1">
                <a:solidFill>
                  <a:srgbClr val="226DF6"/>
                </a:solidFill>
                <a:latin typeface="Playfair Display" panose="00000500000000000000" pitchFamily="2" charset="0"/>
              </a:rPr>
              <a:t>Current</a:t>
            </a:r>
            <a:r>
              <a:rPr lang="fr-FR" sz="3200" b="1" dirty="0">
                <a:solidFill>
                  <a:srgbClr val="226DF6"/>
                </a:solidFill>
                <a:latin typeface="Playfair Display" panose="00000500000000000000" pitchFamily="2" charset="0"/>
              </a:rPr>
              <a:t> Phase</a:t>
            </a:r>
            <a:endParaRPr lang="fr-FR" sz="4800" dirty="0">
              <a:solidFill>
                <a:srgbClr val="226DF6"/>
              </a:solidFill>
              <a:effectLst/>
              <a:latin typeface="Playfair Display" panose="00000500000000000000" pitchFamily="2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7496C9F-E9C5-09B5-F52A-7F99F95E5883}"/>
              </a:ext>
            </a:extLst>
          </p:cNvPr>
          <p:cNvSpPr/>
          <p:nvPr/>
        </p:nvSpPr>
        <p:spPr>
          <a:xfrm>
            <a:off x="565248" y="938698"/>
            <a:ext cx="9796406" cy="1498598"/>
          </a:xfrm>
          <a:prstGeom prst="roundRect">
            <a:avLst/>
          </a:prstGeom>
          <a:gradFill flip="none" rotWithShape="1">
            <a:gsLst>
              <a:gs pos="0">
                <a:srgbClr val="FCFCFE"/>
              </a:gs>
              <a:gs pos="74000">
                <a:srgbClr val="FCFCFE"/>
              </a:gs>
              <a:gs pos="83000">
                <a:srgbClr val="FCFCFE"/>
              </a:gs>
              <a:gs pos="100000">
                <a:srgbClr val="FCFCFE"/>
              </a:gs>
            </a:gsLst>
            <a:lin ang="10800000" scaled="1"/>
            <a:tileRect/>
          </a:gra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  <a:endParaRPr lang="fr-FR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BEFAE20-F2EB-72EE-8D8A-7B8173B1A9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5350" y="1087833"/>
            <a:ext cx="8935459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layfair Display" panose="00000500000000000000" pitchFamily="2" charset="0"/>
              </a:rPr>
              <a:t>Phase 1: Intelligent </a:t>
            </a:r>
            <a:r>
              <a:rPr kumimoji="0" lang="fr-FR" altLang="fr-F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Playfair Display" panose="00000500000000000000" pitchFamily="2" charset="0"/>
              </a:rPr>
              <a:t>Foundation</a:t>
            </a:r>
            <a:endParaRPr kumimoji="0" lang="fr-FR" altLang="fr-F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Playfair Display" panose="00000500000000000000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layfair Display" panose="00000500000000000000" pitchFamily="2" charset="0"/>
              </a:rPr>
              <a:t>Focus: System Design and </a:t>
            </a:r>
            <a:r>
              <a:rPr kumimoji="0" lang="fr-FR" altLang="fr-F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Playfair Display" panose="00000500000000000000" pitchFamily="2" charset="0"/>
              </a:rPr>
              <a:t>Core</a:t>
            </a: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layfair Display" panose="00000500000000000000" pitchFamily="2" charset="0"/>
              </a:rPr>
              <a:t> Architecture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layfair Display" panose="00000500000000000000" pitchFamily="2" charset="0"/>
              </a:rPr>
              <a:t>Goal of Week 06: </a:t>
            </a:r>
            <a:r>
              <a:rPr lang="en-US" sz="2400" dirty="0">
                <a:latin typeface="Playfair Display" panose="00000500000000000000" pitchFamily="2" charset="0"/>
              </a:rPr>
              <a:t>Link all components together to get a real app</a:t>
            </a:r>
            <a:endParaRPr kumimoji="0" lang="fr-FR" altLang="fr-F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Playfair Display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02928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013C3-E9BE-7FD0-22CC-E18DE5A142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D0B430D-CD5F-717F-5C5D-DF149DB64FE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612"/>
            <a:ext cx="12192000" cy="686122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4D4064C-DCD1-D44C-04F7-A3E5D2B5BD7F}"/>
              </a:ext>
            </a:extLst>
          </p:cNvPr>
          <p:cNvSpPr txBox="1"/>
          <p:nvPr/>
        </p:nvSpPr>
        <p:spPr>
          <a:xfrm>
            <a:off x="560437" y="250723"/>
            <a:ext cx="29274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 err="1">
                <a:solidFill>
                  <a:srgbClr val="226DF6"/>
                </a:solidFill>
                <a:latin typeface="Playfair Display" panose="00000500000000000000" pitchFamily="2" charset="0"/>
              </a:rPr>
              <a:t>Current</a:t>
            </a:r>
            <a:r>
              <a:rPr lang="fr-FR" sz="3200" b="1" dirty="0">
                <a:solidFill>
                  <a:srgbClr val="226DF6"/>
                </a:solidFill>
                <a:latin typeface="Playfair Display" panose="00000500000000000000" pitchFamily="2" charset="0"/>
              </a:rPr>
              <a:t> Phase</a:t>
            </a:r>
            <a:endParaRPr lang="fr-FR" sz="4800" dirty="0">
              <a:solidFill>
                <a:srgbClr val="226DF6"/>
              </a:solidFill>
              <a:effectLst/>
              <a:latin typeface="Playfair Display" panose="00000500000000000000" pitchFamily="2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3110A9B-3E9F-2991-9D05-A69E838D4717}"/>
              </a:ext>
            </a:extLst>
          </p:cNvPr>
          <p:cNvSpPr/>
          <p:nvPr/>
        </p:nvSpPr>
        <p:spPr>
          <a:xfrm>
            <a:off x="117987" y="1087833"/>
            <a:ext cx="5068529" cy="4737780"/>
          </a:xfrm>
          <a:prstGeom prst="roundRect">
            <a:avLst/>
          </a:prstGeom>
          <a:gradFill flip="none" rotWithShape="1">
            <a:gsLst>
              <a:gs pos="0">
                <a:srgbClr val="FCFCFE"/>
              </a:gs>
              <a:gs pos="74000">
                <a:srgbClr val="FCFCFE"/>
              </a:gs>
              <a:gs pos="83000">
                <a:srgbClr val="FCFCFE"/>
              </a:gs>
              <a:gs pos="100000">
                <a:srgbClr val="FCFCFE"/>
              </a:gs>
            </a:gsLst>
            <a:lin ang="10800000" scaled="1"/>
            <a:tileRect/>
          </a:gra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rgbClr val="226DF6"/>
                </a:solidFill>
                <a:latin typeface="Playfair Display" panose="00000500000000000000" pitchFamily="2" charset="0"/>
              </a:rPr>
              <a:t>P</a:t>
            </a:r>
            <a:r>
              <a:rPr lang="fr-FR" dirty="0">
                <a:solidFill>
                  <a:srgbClr val="226DF6"/>
                </a:solidFill>
                <a:latin typeface="Playfair Display" panose="00000500000000000000" pitchFamily="2" charset="0"/>
              </a:rPr>
              <a:t>hase </a:t>
            </a:r>
            <a:r>
              <a:rPr lang="fr-FR" dirty="0" err="1">
                <a:solidFill>
                  <a:srgbClr val="226DF6"/>
                </a:solidFill>
                <a:latin typeface="Playfair Display" panose="00000500000000000000" pitchFamily="2" charset="0"/>
              </a:rPr>
              <a:t>Tasks</a:t>
            </a:r>
            <a:r>
              <a:rPr lang="fr-FR" dirty="0">
                <a:solidFill>
                  <a:srgbClr val="226DF6"/>
                </a:solidFill>
                <a:latin typeface="Playfair Display" panose="00000500000000000000" pitchFamily="2" charset="0"/>
              </a:rPr>
              <a:t>:</a:t>
            </a:r>
            <a:endParaRPr lang="fr-FR" sz="3200" dirty="0">
              <a:solidFill>
                <a:srgbClr val="226DF6"/>
              </a:solidFill>
              <a:latin typeface="Playfair Display" panose="00000500000000000000" pitchFamily="2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CA" dirty="0">
                <a:solidFill>
                  <a:schemeClr val="tx1"/>
                </a:solidFill>
                <a:latin typeface="Playfair Display" panose="00000500000000000000" pitchFamily="2" charset="0"/>
              </a:rPr>
              <a:t>Database Modeling</a:t>
            </a:r>
            <a:endParaRPr lang="en-US" dirty="0">
              <a:solidFill>
                <a:schemeClr val="tx1"/>
              </a:solidFill>
              <a:latin typeface="Playfair Display" panose="00000500000000000000" pitchFamily="2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  <a:latin typeface="Playfair Display" panose="00000500000000000000" pitchFamily="2" charset="0"/>
              </a:rPr>
              <a:t>AI Recommendation Tool (Candidate Match)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  <a:latin typeface="Playfair Display" panose="00000500000000000000" pitchFamily="2" charset="0"/>
              </a:rPr>
              <a:t>Profile Analyzer Tool</a:t>
            </a:r>
            <a:endParaRPr lang="fr-FR" dirty="0">
              <a:solidFill>
                <a:schemeClr val="tx1"/>
              </a:solidFill>
              <a:latin typeface="Playfair Display" panose="00000500000000000000" pitchFamily="2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fr-FR" dirty="0">
                <a:solidFill>
                  <a:schemeClr val="tx1"/>
                </a:solidFill>
                <a:latin typeface="Playfair Display" panose="00000500000000000000" pitchFamily="2" charset="0"/>
              </a:rPr>
              <a:t>AI </a:t>
            </a:r>
            <a:r>
              <a:rPr lang="fr-FR" dirty="0" err="1">
                <a:solidFill>
                  <a:schemeClr val="tx1"/>
                </a:solidFill>
                <a:latin typeface="Playfair Display" panose="00000500000000000000" pitchFamily="2" charset="0"/>
              </a:rPr>
              <a:t>Predictive</a:t>
            </a:r>
            <a:r>
              <a:rPr lang="fr-FR" dirty="0">
                <a:solidFill>
                  <a:schemeClr val="tx1"/>
                </a:solidFill>
                <a:latin typeface="Playfair Display" panose="00000500000000000000" pitchFamily="2" charset="0"/>
              </a:rPr>
              <a:t> Tool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  <a:latin typeface="Playfair Display" panose="00000500000000000000" pitchFamily="2" charset="0"/>
              </a:rPr>
              <a:t>Selection and Mission Update</a:t>
            </a:r>
            <a:endParaRPr lang="fr-FR" dirty="0">
              <a:solidFill>
                <a:schemeClr val="tx1"/>
              </a:solidFill>
              <a:latin typeface="Playfair Display" panose="00000500000000000000" pitchFamily="2" charset="0"/>
            </a:endParaRP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  <a:latin typeface="Playfair Display" panose="00000500000000000000" pitchFamily="2" charset="0"/>
              </a:rPr>
              <a:t>Mission Deployment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CA" dirty="0">
                <a:solidFill>
                  <a:schemeClr val="tx1"/>
                </a:solidFill>
                <a:latin typeface="Playfair Display" panose="00000500000000000000" pitchFamily="2" charset="0"/>
              </a:rPr>
              <a:t>Application Tracking System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  <a:latin typeface="Playfair Display" panose="00000500000000000000" pitchFamily="2" charset="0"/>
              </a:rPr>
              <a:t>Profile Engineering and Authentication </a:t>
            </a:r>
            <a:endParaRPr lang="fr-FR" dirty="0">
              <a:solidFill>
                <a:schemeClr val="tx1"/>
              </a:solidFill>
              <a:latin typeface="Playfair Display" panose="00000500000000000000" pitchFamily="2" charset="0"/>
            </a:endParaRPr>
          </a:p>
          <a:p>
            <a:endParaRPr lang="fr-FR" dirty="0"/>
          </a:p>
        </p:txBody>
      </p:sp>
      <p:pic>
        <p:nvPicPr>
          <p:cNvPr id="8" name="Graphic 7" descr="Line arrow: Slight curve with solid fill">
            <a:extLst>
              <a:ext uri="{FF2B5EF4-FFF2-40B4-BE49-F238E27FC236}">
                <a16:creationId xmlns:a16="http://schemas.microsoft.com/office/drawing/2014/main" id="{7BA7A4E2-D75C-B1C5-9292-2376B06A36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86516" y="3628104"/>
            <a:ext cx="914400" cy="914400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F88C6E3-48A6-24F0-C418-63D4A03138DD}"/>
              </a:ext>
            </a:extLst>
          </p:cNvPr>
          <p:cNvSpPr/>
          <p:nvPr/>
        </p:nvSpPr>
        <p:spPr>
          <a:xfrm>
            <a:off x="6331974" y="1087833"/>
            <a:ext cx="5628968" cy="5519444"/>
          </a:xfrm>
          <a:prstGeom prst="roundRect">
            <a:avLst/>
          </a:prstGeom>
          <a:gradFill flip="none" rotWithShape="1">
            <a:gsLst>
              <a:gs pos="0">
                <a:srgbClr val="FCFCFE"/>
              </a:gs>
              <a:gs pos="74000">
                <a:srgbClr val="FCFCFE"/>
              </a:gs>
              <a:gs pos="83000">
                <a:srgbClr val="FCFCFE"/>
              </a:gs>
              <a:gs pos="100000">
                <a:srgbClr val="FCFCFE"/>
              </a:gs>
            </a:gsLst>
            <a:lin ang="10800000" scaled="1"/>
            <a:tileRect/>
          </a:gra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rgbClr val="226DF6"/>
                </a:solidFill>
                <a:latin typeface="Playfair Display" panose="00000500000000000000" pitchFamily="2" charset="0"/>
              </a:rPr>
              <a:t>P</a:t>
            </a:r>
            <a:r>
              <a:rPr lang="fr-FR" dirty="0">
                <a:solidFill>
                  <a:srgbClr val="226DF6"/>
                </a:solidFill>
                <a:latin typeface="Playfair Display" panose="00000500000000000000" pitchFamily="2" charset="0"/>
              </a:rPr>
              <a:t>hase </a:t>
            </a:r>
            <a:r>
              <a:rPr lang="fr-FR" dirty="0" err="1">
                <a:solidFill>
                  <a:srgbClr val="226DF6"/>
                </a:solidFill>
                <a:latin typeface="Playfair Display" panose="00000500000000000000" pitchFamily="2" charset="0"/>
              </a:rPr>
              <a:t>Tasks</a:t>
            </a:r>
            <a:r>
              <a:rPr lang="fr-FR" dirty="0">
                <a:solidFill>
                  <a:srgbClr val="226DF6"/>
                </a:solidFill>
                <a:latin typeface="Playfair Display" panose="00000500000000000000" pitchFamily="2" charset="0"/>
              </a:rPr>
              <a:t>:</a:t>
            </a:r>
            <a:endParaRPr lang="fr-FR" sz="3200" dirty="0">
              <a:solidFill>
                <a:srgbClr val="226DF6"/>
              </a:solidFill>
              <a:latin typeface="Playfair Display" panose="00000500000000000000" pitchFamily="2" charset="0"/>
            </a:endParaRP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CA" dirty="0">
                <a:solidFill>
                  <a:schemeClr val="tx1"/>
                </a:solidFill>
                <a:latin typeface="Playfair Display" panose="00000500000000000000" pitchFamily="2" charset="0"/>
              </a:rPr>
              <a:t>Database Modeling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CA" dirty="0">
                <a:solidFill>
                  <a:schemeClr val="tx1"/>
                </a:solidFill>
                <a:latin typeface="Playfair Display" panose="00000500000000000000" pitchFamily="2" charset="0"/>
              </a:rPr>
              <a:t>AI Recommendation Tool (Candidate Match)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 err="1">
                <a:solidFill>
                  <a:schemeClr val="tx1"/>
                </a:solidFill>
                <a:latin typeface="Playfair Display" panose="00000500000000000000" pitchFamily="2" charset="0"/>
              </a:rPr>
              <a:t>Profie</a:t>
            </a:r>
            <a:r>
              <a:rPr lang="en-US" dirty="0">
                <a:solidFill>
                  <a:schemeClr val="tx1"/>
                </a:solidFill>
                <a:latin typeface="Playfair Display" panose="00000500000000000000" pitchFamily="2" charset="0"/>
              </a:rPr>
              <a:t> Analyzer</a:t>
            </a:r>
            <a:r>
              <a:rPr lang="fr-FR" dirty="0">
                <a:solidFill>
                  <a:schemeClr val="tx1"/>
                </a:solidFill>
                <a:latin typeface="Playfair Display" panose="00000500000000000000" pitchFamily="2" charset="0"/>
              </a:rPr>
              <a:t> Tool</a:t>
            </a:r>
            <a:endParaRPr lang="en-CA" dirty="0">
              <a:solidFill>
                <a:schemeClr val="tx1"/>
              </a:solidFill>
              <a:latin typeface="Playfair Display" panose="00000500000000000000" pitchFamily="2" charset="0"/>
            </a:endParaRP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CA" dirty="0">
                <a:solidFill>
                  <a:schemeClr val="tx1"/>
                </a:solidFill>
                <a:latin typeface="Playfair Display" panose="00000500000000000000" pitchFamily="2" charset="0"/>
              </a:rPr>
              <a:t>Selection and Mission Update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CA" dirty="0">
                <a:solidFill>
                  <a:schemeClr val="tx1"/>
                </a:solidFill>
                <a:latin typeface="Playfair Display" panose="00000500000000000000" pitchFamily="2" charset="0"/>
              </a:rPr>
              <a:t>Mission Deployment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CA" dirty="0">
                <a:solidFill>
                  <a:schemeClr val="tx1"/>
                </a:solidFill>
                <a:latin typeface="Playfair Display" panose="00000500000000000000" pitchFamily="2" charset="0"/>
              </a:rPr>
              <a:t>Application Tracking System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CA" dirty="0">
                <a:solidFill>
                  <a:schemeClr val="tx1"/>
                </a:solidFill>
                <a:latin typeface="Playfair Display" panose="00000500000000000000" pitchFamily="2" charset="0"/>
              </a:rPr>
              <a:t>Real -Time  notification system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CA" dirty="0">
                <a:solidFill>
                  <a:schemeClr val="tx1"/>
                </a:solidFill>
                <a:latin typeface="Playfair Display" panose="00000500000000000000" pitchFamily="2" charset="0"/>
              </a:rPr>
              <a:t>Profile Engineering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CA" dirty="0">
                <a:solidFill>
                  <a:schemeClr val="tx1"/>
                </a:solidFill>
                <a:latin typeface="Playfair Display" panose="00000500000000000000" pitchFamily="2" charset="0"/>
              </a:rPr>
              <a:t>Performance Score (Freelancer Side)</a:t>
            </a:r>
            <a:endParaRPr lang="fr-FR" dirty="0">
              <a:solidFill>
                <a:schemeClr val="tx1"/>
              </a:solidFill>
              <a:latin typeface="Playfair Display" panose="00000500000000000000" pitchFamily="2" charset="0"/>
            </a:endParaRP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CA" dirty="0">
                <a:solidFill>
                  <a:schemeClr val="tx1"/>
                </a:solidFill>
                <a:latin typeface="Playfair Display" panose="00000500000000000000" pitchFamily="2" charset="0"/>
              </a:rPr>
              <a:t>Contract Generation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CA" dirty="0">
                <a:solidFill>
                  <a:schemeClr val="tx1"/>
                </a:solidFill>
                <a:latin typeface="Playfair Display" panose="00000500000000000000" pitchFamily="2" charset="0"/>
              </a:rPr>
              <a:t>Sign-in / Sign-up (JWT Authentication)</a:t>
            </a:r>
            <a:endParaRPr lang="fr-FR" dirty="0">
              <a:solidFill>
                <a:schemeClr val="tx1"/>
              </a:solidFill>
              <a:latin typeface="Playfair Display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84437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79D967-A683-5283-57D7-AEEE461B43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1286ADA-6E98-9A44-569A-773E3663542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612"/>
            <a:ext cx="12192000" cy="686122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3ADF2D7-CA42-4757-057E-83F89BEB8A7A}"/>
              </a:ext>
            </a:extLst>
          </p:cNvPr>
          <p:cNvSpPr txBox="1"/>
          <p:nvPr/>
        </p:nvSpPr>
        <p:spPr>
          <a:xfrm>
            <a:off x="560437" y="250723"/>
            <a:ext cx="34612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>
                <a:solidFill>
                  <a:srgbClr val="226DF6"/>
                </a:solidFill>
                <a:latin typeface="Playfair Display" panose="00000500000000000000" pitchFamily="2" charset="0"/>
              </a:rPr>
              <a:t>Weekly Objective</a:t>
            </a:r>
            <a:endParaRPr lang="fr-FR" sz="4800" dirty="0">
              <a:solidFill>
                <a:srgbClr val="226DF6"/>
              </a:solidFill>
              <a:effectLst/>
              <a:latin typeface="Playfair Display" panose="00000500000000000000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AD39B33-0F32-1DDC-5C67-884998C975B2}"/>
              </a:ext>
            </a:extLst>
          </p:cNvPr>
          <p:cNvSpPr txBox="1"/>
          <p:nvPr/>
        </p:nvSpPr>
        <p:spPr>
          <a:xfrm>
            <a:off x="2045172" y="1503932"/>
            <a:ext cx="64300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Playfair Display" panose="00000500000000000000" pitchFamily="2" charset="0"/>
              </a:rPr>
              <a:t>Integrate all Phase </a:t>
            </a:r>
            <a:r>
              <a:rPr lang="en-US" sz="2400" dirty="0"/>
              <a:t>1</a:t>
            </a:r>
            <a:r>
              <a:rPr lang="en-US" sz="2400" dirty="0">
                <a:latin typeface="Playfair Display" panose="00000500000000000000" pitchFamily="2" charset="0"/>
              </a:rPr>
              <a:t> components into a fully functional system </a:t>
            </a:r>
            <a:r>
              <a:rPr lang="en-US" sz="2400" dirty="0">
                <a:solidFill>
                  <a:srgbClr val="226DF6"/>
                </a:solidFill>
                <a:latin typeface="Playfair Display" panose="00000500000000000000" pitchFamily="2" charset="0"/>
              </a:rPr>
              <a:t>(main objective).</a:t>
            </a:r>
            <a:endParaRPr lang="fr-FR" sz="2400" dirty="0">
              <a:latin typeface="Playfair Display" panose="00000500000000000000" pitchFamily="2" charset="0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0C3FE3A-7C5D-25E7-6581-4030EB17C565}"/>
              </a:ext>
            </a:extLst>
          </p:cNvPr>
          <p:cNvSpPr/>
          <p:nvPr/>
        </p:nvSpPr>
        <p:spPr>
          <a:xfrm>
            <a:off x="1335261" y="1661262"/>
            <a:ext cx="548640" cy="548640"/>
          </a:xfrm>
          <a:prstGeom prst="ellipse">
            <a:avLst/>
          </a:prstGeom>
          <a:solidFill>
            <a:srgbClr val="226DF6"/>
          </a:solidFill>
          <a:ln w="28575" cmpd="sng">
            <a:solidFill>
              <a:srgbClr val="226DF6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3200" dirty="0">
              <a:solidFill>
                <a:schemeClr val="bg1"/>
              </a:solidFill>
              <a:latin typeface="Playfair Display" panose="00000500000000000000" pitchFamily="2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BDF0305-2B2D-717F-FD59-FAE1F4E74B39}"/>
              </a:ext>
            </a:extLst>
          </p:cNvPr>
          <p:cNvSpPr txBox="1"/>
          <p:nvPr/>
        </p:nvSpPr>
        <p:spPr>
          <a:xfrm>
            <a:off x="1460058" y="1615895"/>
            <a:ext cx="3225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Playfair Display" panose="00000500000000000000" pitchFamily="2" charset="0"/>
              </a:rPr>
              <a:t>1</a:t>
            </a:r>
            <a:endParaRPr lang="fr-FR" sz="2800" b="1" dirty="0">
              <a:solidFill>
                <a:schemeClr val="bg1"/>
              </a:solidFill>
              <a:latin typeface="Playfair Display" panose="00000500000000000000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15F0AC9-D362-4A6F-84BF-DF839E43E1B4}"/>
              </a:ext>
            </a:extLst>
          </p:cNvPr>
          <p:cNvSpPr txBox="1"/>
          <p:nvPr/>
        </p:nvSpPr>
        <p:spPr>
          <a:xfrm>
            <a:off x="2045172" y="2923703"/>
            <a:ext cx="64300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Playfair Display" panose="00000500000000000000" pitchFamily="2" charset="0"/>
              </a:rPr>
              <a:t>Launch Phase 2 and Phase 3 concurrently to accelerate overall development.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645EB1E2-9907-1EC5-8FA3-ED75E4839411}"/>
              </a:ext>
            </a:extLst>
          </p:cNvPr>
          <p:cNvSpPr/>
          <p:nvPr/>
        </p:nvSpPr>
        <p:spPr>
          <a:xfrm>
            <a:off x="1335261" y="3081033"/>
            <a:ext cx="548640" cy="548640"/>
          </a:xfrm>
          <a:prstGeom prst="ellipse">
            <a:avLst/>
          </a:prstGeom>
          <a:solidFill>
            <a:srgbClr val="226DF6"/>
          </a:solidFill>
          <a:ln w="28575" cmpd="sng">
            <a:solidFill>
              <a:srgbClr val="226DF6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3200" dirty="0">
              <a:solidFill>
                <a:schemeClr val="bg1"/>
              </a:solidFill>
              <a:latin typeface="Playfair Display" panose="00000500000000000000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F703A9C-85AF-324E-F89D-202C3B34A189}"/>
              </a:ext>
            </a:extLst>
          </p:cNvPr>
          <p:cNvSpPr txBox="1"/>
          <p:nvPr/>
        </p:nvSpPr>
        <p:spPr>
          <a:xfrm>
            <a:off x="1460058" y="3035666"/>
            <a:ext cx="3722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Playfair Display" panose="00000500000000000000" pitchFamily="2" charset="0"/>
              </a:rPr>
              <a:t>2</a:t>
            </a:r>
            <a:endParaRPr lang="fr-FR" sz="2800" b="1" dirty="0">
              <a:solidFill>
                <a:schemeClr val="bg1"/>
              </a:solidFill>
              <a:latin typeface="Playfair Display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7140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0A0755-A06C-49D8-78D7-59CB564AF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BE7DFC2-2AA5-D2D7-6EA5-CEE3B57FB77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612"/>
            <a:ext cx="12192000" cy="686122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C2C9DF1-4DB8-D7F7-4782-5A0FF54E7996}"/>
              </a:ext>
            </a:extLst>
          </p:cNvPr>
          <p:cNvSpPr txBox="1"/>
          <p:nvPr/>
        </p:nvSpPr>
        <p:spPr>
          <a:xfrm>
            <a:off x="7138219" y="4940711"/>
            <a:ext cx="4630994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5400" b="1" dirty="0">
                <a:solidFill>
                  <a:srgbClr val="226DF6"/>
                </a:solidFill>
                <a:latin typeface="Playfair Display" panose="00000500000000000000" pitchFamily="2" charset="0"/>
              </a:rPr>
              <a:t>02</a:t>
            </a:r>
            <a:br>
              <a:rPr lang="en-US" sz="4000" b="1" dirty="0">
                <a:latin typeface="Playfair Display" panose="00000500000000000000" pitchFamily="2" charset="0"/>
              </a:rPr>
            </a:br>
            <a:r>
              <a:rPr lang="en-US" sz="4000" b="1" dirty="0">
                <a:latin typeface="Playfair Display" panose="00000500000000000000" pitchFamily="2" charset="0"/>
              </a:rPr>
              <a:t>Weekly Progress</a:t>
            </a:r>
            <a:endParaRPr lang="fr-FR" sz="4000" b="1" dirty="0">
              <a:latin typeface="Playfair Display" panose="00000500000000000000" pitchFamily="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E8F0D8-C412-D8F8-C3B6-869896E1B4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937" t="24" r="37812" b="-24"/>
          <a:stretch>
            <a:fillRect/>
          </a:stretch>
        </p:blipFill>
        <p:spPr>
          <a:xfrm>
            <a:off x="0" y="0"/>
            <a:ext cx="50292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86995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5F7D34-45AA-3599-AACC-95598A94A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ED8408B-81CA-3C59-F9C9-7657A0B613B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612"/>
            <a:ext cx="12192000" cy="686122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64725F3-FF7E-D889-2DAC-03610EB67F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18" t="2619" r="1563" b="3526"/>
          <a:stretch>
            <a:fillRect/>
          </a:stretch>
        </p:blipFill>
        <p:spPr>
          <a:xfrm>
            <a:off x="0" y="0"/>
            <a:ext cx="12225552" cy="686668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14F8B4C-13FE-CC13-13A6-B8C34334C6BD}"/>
              </a:ext>
            </a:extLst>
          </p:cNvPr>
          <p:cNvSpPr txBox="1"/>
          <p:nvPr/>
        </p:nvSpPr>
        <p:spPr>
          <a:xfrm>
            <a:off x="147484" y="353964"/>
            <a:ext cx="41442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>
                <a:solidFill>
                  <a:srgbClr val="226DF6"/>
                </a:solidFill>
                <a:latin typeface="Playfair Display" panose="00000500000000000000" pitchFamily="2" charset="0"/>
              </a:rPr>
              <a:t>Project Architecture</a:t>
            </a:r>
            <a:endParaRPr lang="fr-FR" sz="2800" dirty="0">
              <a:solidFill>
                <a:srgbClr val="226DF6"/>
              </a:solidFill>
              <a:latin typeface="Playfair Display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7786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17505E-BBB2-642A-EDA6-6BC6F2FC90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3B7AB9A-96A3-EFB3-2B53-58FDF8FB858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612"/>
            <a:ext cx="12192000" cy="686122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3A20FDB-7B64-4B69-DA23-346AB1D0051F}"/>
              </a:ext>
            </a:extLst>
          </p:cNvPr>
          <p:cNvSpPr txBox="1"/>
          <p:nvPr/>
        </p:nvSpPr>
        <p:spPr>
          <a:xfrm>
            <a:off x="147484" y="353964"/>
            <a:ext cx="59485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>
                <a:solidFill>
                  <a:srgbClr val="226DF6"/>
                </a:solidFill>
                <a:latin typeface="Playfair Display" panose="00000500000000000000" pitchFamily="2" charset="0"/>
              </a:rPr>
              <a:t>Project Architecture (Phase 01)</a:t>
            </a:r>
            <a:endParaRPr lang="fr-FR" sz="2800" dirty="0">
              <a:solidFill>
                <a:srgbClr val="226DF6"/>
              </a:solidFill>
              <a:latin typeface="Playfair Display" panose="00000500000000000000" pitchFamily="2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DE9C6D-4397-29A6-B0DC-8C89935D1B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089" b="20773"/>
          <a:stretch>
            <a:fillRect/>
          </a:stretch>
        </p:blipFill>
        <p:spPr>
          <a:xfrm>
            <a:off x="0" y="1145627"/>
            <a:ext cx="12298237" cy="5830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80360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F033ED-FAF9-8E56-0B30-981102055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542844D-E189-BBC1-368C-A8910F960AC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612"/>
            <a:ext cx="12192000" cy="6861223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CED3776-32BE-EE71-B067-65A7FCC652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089" b="20773"/>
          <a:stretch>
            <a:fillRect/>
          </a:stretch>
        </p:blipFill>
        <p:spPr>
          <a:xfrm>
            <a:off x="0" y="1145627"/>
            <a:ext cx="12298237" cy="5830359"/>
          </a:xfrm>
          <a:prstGeom prst="rect">
            <a:avLst/>
          </a:prstGeom>
        </p:spPr>
      </p:pic>
      <p:pic>
        <p:nvPicPr>
          <p:cNvPr id="6" name="Graphic 5" descr="Badge Tick1 with solid fill">
            <a:extLst>
              <a:ext uri="{FF2B5EF4-FFF2-40B4-BE49-F238E27FC236}">
                <a16:creationId xmlns:a16="http://schemas.microsoft.com/office/drawing/2014/main" id="{361D2EA0-96CA-F153-5ED2-776365164E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77035" y="2024423"/>
            <a:ext cx="274320" cy="274320"/>
          </a:xfrm>
          <a:prstGeom prst="rect">
            <a:avLst/>
          </a:prstGeom>
        </p:spPr>
      </p:pic>
      <p:pic>
        <p:nvPicPr>
          <p:cNvPr id="8" name="Graphic 7" descr="Hourglass Finished with solid fill">
            <a:extLst>
              <a:ext uri="{FF2B5EF4-FFF2-40B4-BE49-F238E27FC236}">
                <a16:creationId xmlns:a16="http://schemas.microsoft.com/office/drawing/2014/main" id="{9BFEA653-0B06-604C-15A4-CA9C62C56C0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335221" y="2822290"/>
            <a:ext cx="274320" cy="274320"/>
          </a:xfrm>
          <a:prstGeom prst="rect">
            <a:avLst/>
          </a:prstGeom>
        </p:spPr>
      </p:pic>
      <p:pic>
        <p:nvPicPr>
          <p:cNvPr id="10" name="Graphic 9" descr="Warning with solid fill">
            <a:extLst>
              <a:ext uri="{FF2B5EF4-FFF2-40B4-BE49-F238E27FC236}">
                <a16:creationId xmlns:a16="http://schemas.microsoft.com/office/drawing/2014/main" id="{42DB264C-DBF1-D531-2C30-87F20638F4A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335221" y="3857974"/>
            <a:ext cx="274320" cy="274320"/>
          </a:xfrm>
          <a:prstGeom prst="rect">
            <a:avLst/>
          </a:prstGeom>
        </p:spPr>
      </p:pic>
      <p:pic>
        <p:nvPicPr>
          <p:cNvPr id="11" name="Graphic 10" descr="Badge Tick1 with solid fill">
            <a:extLst>
              <a:ext uri="{FF2B5EF4-FFF2-40B4-BE49-F238E27FC236}">
                <a16:creationId xmlns:a16="http://schemas.microsoft.com/office/drawing/2014/main" id="{496C946A-2F3B-F849-F7E6-BC6E6CD1F69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335221" y="4686661"/>
            <a:ext cx="274320" cy="27432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A16AD24-CE29-AE31-CADB-B9A9E8AC3C77}"/>
              </a:ext>
            </a:extLst>
          </p:cNvPr>
          <p:cNvSpPr txBox="1"/>
          <p:nvPr/>
        </p:nvSpPr>
        <p:spPr>
          <a:xfrm>
            <a:off x="147484" y="353964"/>
            <a:ext cx="59485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>
                <a:solidFill>
                  <a:srgbClr val="226DF6"/>
                </a:solidFill>
                <a:latin typeface="Playfair Display" panose="00000500000000000000" pitchFamily="2" charset="0"/>
              </a:rPr>
              <a:t>Project Architecture (Phase 01)</a:t>
            </a:r>
            <a:endParaRPr lang="fr-FR" sz="2800" dirty="0">
              <a:solidFill>
                <a:srgbClr val="226DF6"/>
              </a:solidFill>
              <a:latin typeface="Playfair Display" panose="00000500000000000000" pitchFamily="2" charset="0"/>
            </a:endParaRPr>
          </a:p>
        </p:txBody>
      </p:sp>
      <p:pic>
        <p:nvPicPr>
          <p:cNvPr id="3" name="Graphic 2" descr="Badge Tick1 with solid fill">
            <a:extLst>
              <a:ext uri="{FF2B5EF4-FFF2-40B4-BE49-F238E27FC236}">
                <a16:creationId xmlns:a16="http://schemas.microsoft.com/office/drawing/2014/main" id="{9FC3C25D-CAE6-155A-F690-6F5F500721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335221" y="5671760"/>
            <a:ext cx="274320" cy="274320"/>
          </a:xfrm>
          <a:prstGeom prst="rect">
            <a:avLst/>
          </a:prstGeom>
        </p:spPr>
      </p:pic>
      <p:pic>
        <p:nvPicPr>
          <p:cNvPr id="7" name="Graphic 6" descr="Hourglass Finished with solid fill">
            <a:extLst>
              <a:ext uri="{FF2B5EF4-FFF2-40B4-BE49-F238E27FC236}">
                <a16:creationId xmlns:a16="http://schemas.microsoft.com/office/drawing/2014/main" id="{3BAB3F77-36ED-0008-AEAD-56C4D4BFE9E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874798" y="4549501"/>
            <a:ext cx="274320" cy="274320"/>
          </a:xfrm>
          <a:prstGeom prst="rect">
            <a:avLst/>
          </a:prstGeom>
        </p:spPr>
      </p:pic>
      <p:pic>
        <p:nvPicPr>
          <p:cNvPr id="9" name="Graphic 8" descr="Badge Tick1 with solid fill">
            <a:extLst>
              <a:ext uri="{FF2B5EF4-FFF2-40B4-BE49-F238E27FC236}">
                <a16:creationId xmlns:a16="http://schemas.microsoft.com/office/drawing/2014/main" id="{2440415E-117B-E67E-F00D-65C836F9AFF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725951" y="3720814"/>
            <a:ext cx="274320" cy="274320"/>
          </a:xfrm>
          <a:prstGeom prst="rect">
            <a:avLst/>
          </a:prstGeom>
        </p:spPr>
      </p:pic>
      <p:pic>
        <p:nvPicPr>
          <p:cNvPr id="13" name="Graphic 12" descr="Badge Tick1 with solid fill">
            <a:extLst>
              <a:ext uri="{FF2B5EF4-FFF2-40B4-BE49-F238E27FC236}">
                <a16:creationId xmlns:a16="http://schemas.microsoft.com/office/drawing/2014/main" id="{69A0F9ED-2965-EC26-D9BE-C44C31D386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26450" y="3995134"/>
            <a:ext cx="274320" cy="274320"/>
          </a:xfrm>
          <a:prstGeom prst="rect">
            <a:avLst/>
          </a:prstGeom>
        </p:spPr>
      </p:pic>
      <p:pic>
        <p:nvPicPr>
          <p:cNvPr id="4" name="Graphic 3" descr="Badge Tick1 with solid fill">
            <a:extLst>
              <a:ext uri="{FF2B5EF4-FFF2-40B4-BE49-F238E27FC236}">
                <a16:creationId xmlns:a16="http://schemas.microsoft.com/office/drawing/2014/main" id="{AAAE1F58-BA67-38C6-14EA-2ED4DCA3C8B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466558" y="1008467"/>
            <a:ext cx="274320" cy="274320"/>
          </a:xfrm>
          <a:prstGeom prst="rect">
            <a:avLst/>
          </a:prstGeom>
        </p:spPr>
      </p:pic>
      <p:pic>
        <p:nvPicPr>
          <p:cNvPr id="16" name="Graphic 15" descr="Warning with solid fill">
            <a:extLst>
              <a:ext uri="{FF2B5EF4-FFF2-40B4-BE49-F238E27FC236}">
                <a16:creationId xmlns:a16="http://schemas.microsoft.com/office/drawing/2014/main" id="{613F940E-450C-C153-FF18-F831002B744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466558" y="1493335"/>
            <a:ext cx="274320" cy="274320"/>
          </a:xfrm>
          <a:prstGeom prst="rect">
            <a:avLst/>
          </a:prstGeom>
        </p:spPr>
      </p:pic>
      <p:pic>
        <p:nvPicPr>
          <p:cNvPr id="17" name="Graphic 16" descr="Hourglass Finished with solid fill">
            <a:extLst>
              <a:ext uri="{FF2B5EF4-FFF2-40B4-BE49-F238E27FC236}">
                <a16:creationId xmlns:a16="http://schemas.microsoft.com/office/drawing/2014/main" id="{68F74DBE-55CF-14D2-6CC8-026DB6CA9E0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66558" y="1978203"/>
            <a:ext cx="274320" cy="27432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A49F57DA-B751-4989-2A24-CF49DE05D75F}"/>
              </a:ext>
            </a:extLst>
          </p:cNvPr>
          <p:cNvSpPr txBox="1"/>
          <p:nvPr/>
        </p:nvSpPr>
        <p:spPr>
          <a:xfrm>
            <a:off x="8740878" y="1008467"/>
            <a:ext cx="7585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Libre Baskerville" panose="02000000000000000000" pitchFamily="2" charset="0"/>
              </a:rPr>
              <a:t>Done</a:t>
            </a:r>
            <a:endParaRPr lang="fr-FR" sz="1600" dirty="0">
              <a:latin typeface="Libre Baskerville" panose="02000000000000000000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1F7F04C-C56F-F305-85FB-0FA85AAC3593}"/>
              </a:ext>
            </a:extLst>
          </p:cNvPr>
          <p:cNvSpPr txBox="1"/>
          <p:nvPr/>
        </p:nvSpPr>
        <p:spPr>
          <a:xfrm>
            <a:off x="8757084" y="1493335"/>
            <a:ext cx="15311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>
                <a:latin typeface="Libre Baskerville" panose="02000000000000000000" pitchFamily="2" charset="0"/>
              </a:rPr>
              <a:t>Incompleted</a:t>
            </a:r>
            <a:endParaRPr lang="fr-FR" sz="1600" dirty="0">
              <a:latin typeface="Libre Baskerville" panose="02000000000000000000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2162C50-62DA-F764-291F-3CCE82E04401}"/>
              </a:ext>
            </a:extLst>
          </p:cNvPr>
          <p:cNvSpPr txBox="1"/>
          <p:nvPr/>
        </p:nvSpPr>
        <p:spPr>
          <a:xfrm>
            <a:off x="8740878" y="1972797"/>
            <a:ext cx="10438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Libre Baskerville" panose="02000000000000000000" pitchFamily="2" charset="0"/>
              </a:rPr>
              <a:t>Planned</a:t>
            </a:r>
            <a:endParaRPr lang="fr-FR" sz="1600" dirty="0">
              <a:latin typeface="Libre Baskerville" panose="02000000000000000000" pitchFamily="2" charset="0"/>
            </a:endParaRPr>
          </a:p>
        </p:txBody>
      </p:sp>
      <p:pic>
        <p:nvPicPr>
          <p:cNvPr id="21" name="Graphic 20" descr="Hourglass Finished with solid fill">
            <a:extLst>
              <a:ext uri="{FF2B5EF4-FFF2-40B4-BE49-F238E27FC236}">
                <a16:creationId xmlns:a16="http://schemas.microsoft.com/office/drawing/2014/main" id="{2A8AEB10-3A5D-ACB3-ECFA-0D2DA4C113A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447758" y="3786486"/>
            <a:ext cx="274320" cy="274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7255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430D2C-CD3F-245D-D796-7FEFEF1B7D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0C2E3D2-E834-9543-E64C-48D2BDB3B05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612"/>
            <a:ext cx="12192000" cy="686122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6BC0755-781E-CB5C-5786-F38B1E9314EA}"/>
              </a:ext>
            </a:extLst>
          </p:cNvPr>
          <p:cNvSpPr txBox="1"/>
          <p:nvPr/>
        </p:nvSpPr>
        <p:spPr>
          <a:xfrm>
            <a:off x="147484" y="353964"/>
            <a:ext cx="59485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>
                <a:solidFill>
                  <a:srgbClr val="226DF6"/>
                </a:solidFill>
                <a:latin typeface="Playfair Display" panose="00000500000000000000" pitchFamily="2" charset="0"/>
              </a:rPr>
              <a:t>Project Architecture (Phase 01)</a:t>
            </a:r>
            <a:endParaRPr lang="fr-FR" sz="2800" dirty="0">
              <a:solidFill>
                <a:srgbClr val="226DF6"/>
              </a:solidFill>
              <a:latin typeface="Playfair Display" panose="00000500000000000000" pitchFamily="2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4A7AEEB-7E28-B138-2B98-A8BE486B9620}"/>
              </a:ext>
            </a:extLst>
          </p:cNvPr>
          <p:cNvSpPr/>
          <p:nvPr/>
        </p:nvSpPr>
        <p:spPr>
          <a:xfrm>
            <a:off x="538807" y="877183"/>
            <a:ext cx="5948515" cy="5760621"/>
          </a:xfrm>
          <a:prstGeom prst="roundRect">
            <a:avLst/>
          </a:prstGeom>
          <a:gradFill flip="none" rotWithShape="1">
            <a:gsLst>
              <a:gs pos="0">
                <a:srgbClr val="FCFCFE"/>
              </a:gs>
              <a:gs pos="74000">
                <a:srgbClr val="FCFCFE"/>
              </a:gs>
              <a:gs pos="83000">
                <a:srgbClr val="FCFCFE"/>
              </a:gs>
              <a:gs pos="100000">
                <a:srgbClr val="FCFCFE"/>
              </a:gs>
            </a:gsLst>
            <a:lin ang="10800000" scaled="1"/>
            <a:tileRect/>
          </a:gra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rgbClr val="226DF6"/>
                </a:solidFill>
                <a:latin typeface="Playfair Display" panose="00000500000000000000" pitchFamily="2" charset="0"/>
              </a:rPr>
              <a:t>P</a:t>
            </a:r>
            <a:r>
              <a:rPr lang="fr-FR" dirty="0">
                <a:solidFill>
                  <a:srgbClr val="226DF6"/>
                </a:solidFill>
                <a:latin typeface="Playfair Display" panose="00000500000000000000" pitchFamily="2" charset="0"/>
              </a:rPr>
              <a:t>hase </a:t>
            </a:r>
            <a:r>
              <a:rPr lang="fr-FR" dirty="0" err="1">
                <a:solidFill>
                  <a:srgbClr val="226DF6"/>
                </a:solidFill>
                <a:latin typeface="Playfair Display" panose="00000500000000000000" pitchFamily="2" charset="0"/>
              </a:rPr>
              <a:t>Tasks</a:t>
            </a:r>
            <a:r>
              <a:rPr lang="fr-FR" dirty="0">
                <a:solidFill>
                  <a:srgbClr val="226DF6"/>
                </a:solidFill>
                <a:latin typeface="Playfair Display" panose="00000500000000000000" pitchFamily="2" charset="0"/>
              </a:rPr>
              <a:t>:</a:t>
            </a:r>
            <a:endParaRPr lang="fr-FR" sz="3200" dirty="0">
              <a:solidFill>
                <a:srgbClr val="226DF6"/>
              </a:solidFill>
              <a:latin typeface="Playfair Display" panose="00000500000000000000" pitchFamily="2" charset="0"/>
            </a:endParaRPr>
          </a:p>
          <a:p>
            <a:pPr lvl="0">
              <a:lnSpc>
                <a:spcPct val="200000"/>
              </a:lnSpc>
            </a:pPr>
            <a:r>
              <a:rPr lang="en-CA" dirty="0">
                <a:solidFill>
                  <a:schemeClr val="tx1"/>
                </a:solidFill>
                <a:latin typeface="Playfair Display" panose="00000500000000000000" pitchFamily="2" charset="0"/>
              </a:rPr>
              <a:t>Database Modeling</a:t>
            </a:r>
          </a:p>
          <a:p>
            <a:pPr lvl="0">
              <a:lnSpc>
                <a:spcPct val="200000"/>
              </a:lnSpc>
            </a:pPr>
            <a:r>
              <a:rPr lang="en-CA" dirty="0">
                <a:solidFill>
                  <a:schemeClr val="tx1"/>
                </a:solidFill>
                <a:latin typeface="Playfair Display" panose="00000500000000000000" pitchFamily="2" charset="0"/>
              </a:rPr>
              <a:t>AI Recommendation Tool (Candidate Match)</a:t>
            </a:r>
          </a:p>
          <a:p>
            <a:pPr>
              <a:lnSpc>
                <a:spcPct val="200000"/>
              </a:lnSpc>
            </a:pPr>
            <a:r>
              <a:rPr lang="en-US" dirty="0" err="1">
                <a:solidFill>
                  <a:schemeClr val="tx1"/>
                </a:solidFill>
                <a:latin typeface="Playfair Display" panose="00000500000000000000" pitchFamily="2" charset="0"/>
              </a:rPr>
              <a:t>Profie</a:t>
            </a:r>
            <a:r>
              <a:rPr lang="en-US" dirty="0">
                <a:solidFill>
                  <a:schemeClr val="tx1"/>
                </a:solidFill>
                <a:latin typeface="Playfair Display" panose="00000500000000000000" pitchFamily="2" charset="0"/>
              </a:rPr>
              <a:t> Analyzer</a:t>
            </a:r>
            <a:r>
              <a:rPr lang="fr-FR" dirty="0">
                <a:solidFill>
                  <a:schemeClr val="tx1"/>
                </a:solidFill>
                <a:latin typeface="Playfair Display" panose="00000500000000000000" pitchFamily="2" charset="0"/>
              </a:rPr>
              <a:t> Tool</a:t>
            </a:r>
            <a:endParaRPr lang="en-CA" dirty="0">
              <a:solidFill>
                <a:schemeClr val="tx1"/>
              </a:solidFill>
              <a:latin typeface="Playfair Display" panose="00000500000000000000" pitchFamily="2" charset="0"/>
            </a:endParaRPr>
          </a:p>
          <a:p>
            <a:pPr lvl="0">
              <a:lnSpc>
                <a:spcPct val="200000"/>
              </a:lnSpc>
            </a:pPr>
            <a:r>
              <a:rPr lang="en-CA" dirty="0">
                <a:solidFill>
                  <a:schemeClr val="tx1"/>
                </a:solidFill>
                <a:latin typeface="Playfair Display" panose="00000500000000000000" pitchFamily="2" charset="0"/>
              </a:rPr>
              <a:t>Selection and Mission Update</a:t>
            </a:r>
          </a:p>
          <a:p>
            <a:pPr lvl="0">
              <a:lnSpc>
                <a:spcPct val="200000"/>
              </a:lnSpc>
            </a:pPr>
            <a:r>
              <a:rPr lang="en-CA" dirty="0">
                <a:solidFill>
                  <a:schemeClr val="tx1"/>
                </a:solidFill>
                <a:latin typeface="Playfair Display" panose="00000500000000000000" pitchFamily="2" charset="0"/>
              </a:rPr>
              <a:t>Mission Deployment</a:t>
            </a:r>
          </a:p>
          <a:p>
            <a:pPr>
              <a:lnSpc>
                <a:spcPct val="200000"/>
              </a:lnSpc>
            </a:pPr>
            <a:r>
              <a:rPr lang="en-CA" dirty="0">
                <a:solidFill>
                  <a:schemeClr val="tx1"/>
                </a:solidFill>
                <a:latin typeface="Playfair Display" panose="00000500000000000000" pitchFamily="2" charset="0"/>
              </a:rPr>
              <a:t>Real -Time  notification system</a:t>
            </a:r>
          </a:p>
          <a:p>
            <a:pPr lvl="0">
              <a:lnSpc>
                <a:spcPct val="200000"/>
              </a:lnSpc>
            </a:pPr>
            <a:r>
              <a:rPr lang="en-CA" dirty="0">
                <a:solidFill>
                  <a:schemeClr val="tx1"/>
                </a:solidFill>
                <a:latin typeface="Playfair Display" panose="00000500000000000000" pitchFamily="2" charset="0"/>
              </a:rPr>
              <a:t>Profile Engineering</a:t>
            </a:r>
          </a:p>
          <a:p>
            <a:pPr lvl="0">
              <a:lnSpc>
                <a:spcPct val="200000"/>
              </a:lnSpc>
            </a:pPr>
            <a:r>
              <a:rPr lang="en-CA" dirty="0">
                <a:solidFill>
                  <a:schemeClr val="tx1"/>
                </a:solidFill>
                <a:latin typeface="Playfair Display" panose="00000500000000000000" pitchFamily="2" charset="0"/>
              </a:rPr>
              <a:t>Performance Score (Freelancer Side)</a:t>
            </a:r>
            <a:endParaRPr lang="fr-FR" dirty="0">
              <a:solidFill>
                <a:schemeClr val="tx1"/>
              </a:solidFill>
              <a:latin typeface="Playfair Display" panose="00000500000000000000" pitchFamily="2" charset="0"/>
            </a:endParaRPr>
          </a:p>
          <a:p>
            <a:pPr lvl="0">
              <a:lnSpc>
                <a:spcPct val="200000"/>
              </a:lnSpc>
            </a:pPr>
            <a:r>
              <a:rPr lang="en-CA" dirty="0">
                <a:solidFill>
                  <a:schemeClr val="tx1"/>
                </a:solidFill>
                <a:latin typeface="Playfair Display" panose="00000500000000000000" pitchFamily="2" charset="0"/>
              </a:rPr>
              <a:t>Contract Generation</a:t>
            </a:r>
            <a:endParaRPr lang="fr-FR" dirty="0">
              <a:solidFill>
                <a:schemeClr val="tx1"/>
              </a:solidFill>
              <a:latin typeface="Playfair Display" panose="00000500000000000000" pitchFamily="2" charset="0"/>
            </a:endParaRPr>
          </a:p>
        </p:txBody>
      </p:sp>
      <p:pic>
        <p:nvPicPr>
          <p:cNvPr id="6" name="Graphic 5" descr="Badge Tick1 with solid fill">
            <a:extLst>
              <a:ext uri="{FF2B5EF4-FFF2-40B4-BE49-F238E27FC236}">
                <a16:creationId xmlns:a16="http://schemas.microsoft.com/office/drawing/2014/main" id="{1151DCD3-1ABB-92E7-81C9-89ADF65052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84582" y="1755979"/>
            <a:ext cx="274320" cy="274320"/>
          </a:xfrm>
          <a:prstGeom prst="rect">
            <a:avLst/>
          </a:prstGeom>
        </p:spPr>
      </p:pic>
      <p:pic>
        <p:nvPicPr>
          <p:cNvPr id="14" name="Graphic 13" descr="Badge Tick1 with solid fill">
            <a:extLst>
              <a:ext uri="{FF2B5EF4-FFF2-40B4-BE49-F238E27FC236}">
                <a16:creationId xmlns:a16="http://schemas.microsoft.com/office/drawing/2014/main" id="{288E3CB9-7E3D-076E-CE79-7E7A880966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58902" y="2906616"/>
            <a:ext cx="274320" cy="274320"/>
          </a:xfrm>
          <a:prstGeom prst="rect">
            <a:avLst/>
          </a:prstGeom>
        </p:spPr>
      </p:pic>
      <p:pic>
        <p:nvPicPr>
          <p:cNvPr id="15" name="Graphic 14" descr="Badge Tick1 with solid fill">
            <a:extLst>
              <a:ext uri="{FF2B5EF4-FFF2-40B4-BE49-F238E27FC236}">
                <a16:creationId xmlns:a16="http://schemas.microsoft.com/office/drawing/2014/main" id="{A2D71B1C-81AB-AB66-118B-06091700B9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55717" y="2394587"/>
            <a:ext cx="274320" cy="274320"/>
          </a:xfrm>
          <a:prstGeom prst="rect">
            <a:avLst/>
          </a:prstGeom>
        </p:spPr>
      </p:pic>
      <p:pic>
        <p:nvPicPr>
          <p:cNvPr id="16" name="Graphic 15" descr="Badge Tick1 with solid fill">
            <a:extLst>
              <a:ext uri="{FF2B5EF4-FFF2-40B4-BE49-F238E27FC236}">
                <a16:creationId xmlns:a16="http://schemas.microsoft.com/office/drawing/2014/main" id="{EA6F9E79-FC0F-A705-5B28-793AA2D878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51382" y="3478390"/>
            <a:ext cx="274320" cy="274320"/>
          </a:xfrm>
          <a:prstGeom prst="rect">
            <a:avLst/>
          </a:prstGeom>
        </p:spPr>
      </p:pic>
      <p:pic>
        <p:nvPicPr>
          <p:cNvPr id="8" name="Graphic 7" descr="Hourglass Finished with solid fill">
            <a:extLst>
              <a:ext uri="{FF2B5EF4-FFF2-40B4-BE49-F238E27FC236}">
                <a16:creationId xmlns:a16="http://schemas.microsoft.com/office/drawing/2014/main" id="{791746A9-C6D3-F9B8-B538-05A743FB7BF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121742" y="6226325"/>
            <a:ext cx="274320" cy="274320"/>
          </a:xfrm>
          <a:prstGeom prst="rect">
            <a:avLst/>
          </a:prstGeom>
        </p:spPr>
      </p:pic>
      <p:pic>
        <p:nvPicPr>
          <p:cNvPr id="10" name="Graphic 9" descr="Warning with solid fill">
            <a:extLst>
              <a:ext uri="{FF2B5EF4-FFF2-40B4-BE49-F238E27FC236}">
                <a16:creationId xmlns:a16="http://schemas.microsoft.com/office/drawing/2014/main" id="{E231867A-0BF2-FD81-93F6-5F464CCA7C3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121742" y="5073210"/>
            <a:ext cx="274320" cy="274320"/>
          </a:xfrm>
          <a:prstGeom prst="rect">
            <a:avLst/>
          </a:prstGeom>
        </p:spPr>
      </p:pic>
      <p:pic>
        <p:nvPicPr>
          <p:cNvPr id="19" name="Graphic 18" descr="Warning with solid fill">
            <a:extLst>
              <a:ext uri="{FF2B5EF4-FFF2-40B4-BE49-F238E27FC236}">
                <a16:creationId xmlns:a16="http://schemas.microsoft.com/office/drawing/2014/main" id="{4F891C2B-DC2C-5097-2616-2F2CDB2F005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125675" y="3989913"/>
            <a:ext cx="274320" cy="274320"/>
          </a:xfrm>
          <a:prstGeom prst="rect">
            <a:avLst/>
          </a:prstGeom>
        </p:spPr>
      </p:pic>
      <p:pic>
        <p:nvPicPr>
          <p:cNvPr id="20" name="Graphic 19" descr="Badge Tick1 with solid fill">
            <a:extLst>
              <a:ext uri="{FF2B5EF4-FFF2-40B4-BE49-F238E27FC236}">
                <a16:creationId xmlns:a16="http://schemas.microsoft.com/office/drawing/2014/main" id="{0FF6EB45-DA82-518A-33E5-D4814F5802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88542" y="4494345"/>
            <a:ext cx="274320" cy="274320"/>
          </a:xfrm>
          <a:prstGeom prst="rect">
            <a:avLst/>
          </a:prstGeom>
        </p:spPr>
      </p:pic>
      <p:pic>
        <p:nvPicPr>
          <p:cNvPr id="23" name="Graphic 22" descr="Badge Tick1 with solid fill">
            <a:extLst>
              <a:ext uri="{FF2B5EF4-FFF2-40B4-BE49-F238E27FC236}">
                <a16:creationId xmlns:a16="http://schemas.microsoft.com/office/drawing/2014/main" id="{273E8DE1-A0D3-6643-6334-F4D6DB03D7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09652" y="5706497"/>
            <a:ext cx="274320" cy="274320"/>
          </a:xfrm>
          <a:prstGeom prst="rect">
            <a:avLst/>
          </a:prstGeom>
        </p:spPr>
      </p:pic>
      <p:pic>
        <p:nvPicPr>
          <p:cNvPr id="2" name="Graphic 1" descr="Badge Tick1 with solid fill">
            <a:extLst>
              <a:ext uri="{FF2B5EF4-FFF2-40B4-BE49-F238E27FC236}">
                <a16:creationId xmlns:a16="http://schemas.microsoft.com/office/drawing/2014/main" id="{626F19FF-5B5A-2CDD-F195-4E63292B3E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66558" y="1008467"/>
            <a:ext cx="274320" cy="274320"/>
          </a:xfrm>
          <a:prstGeom prst="rect">
            <a:avLst/>
          </a:prstGeom>
        </p:spPr>
      </p:pic>
      <p:pic>
        <p:nvPicPr>
          <p:cNvPr id="3" name="Graphic 2" descr="Warning with solid fill">
            <a:extLst>
              <a:ext uri="{FF2B5EF4-FFF2-40B4-BE49-F238E27FC236}">
                <a16:creationId xmlns:a16="http://schemas.microsoft.com/office/drawing/2014/main" id="{C79BE518-0333-B046-D9C5-53C05746EA8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466558" y="1493335"/>
            <a:ext cx="274320" cy="274320"/>
          </a:xfrm>
          <a:prstGeom prst="rect">
            <a:avLst/>
          </a:prstGeom>
        </p:spPr>
      </p:pic>
      <p:pic>
        <p:nvPicPr>
          <p:cNvPr id="7" name="Graphic 6" descr="Hourglass Finished with solid fill">
            <a:extLst>
              <a:ext uri="{FF2B5EF4-FFF2-40B4-BE49-F238E27FC236}">
                <a16:creationId xmlns:a16="http://schemas.microsoft.com/office/drawing/2014/main" id="{35A18F3F-304E-31A9-7B77-3A926BAB211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66558" y="1978203"/>
            <a:ext cx="274320" cy="27432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FC7EA33-75F4-D5D3-1697-EF944BC421EE}"/>
              </a:ext>
            </a:extLst>
          </p:cNvPr>
          <p:cNvSpPr txBox="1"/>
          <p:nvPr/>
        </p:nvSpPr>
        <p:spPr>
          <a:xfrm>
            <a:off x="8740878" y="1008467"/>
            <a:ext cx="7585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Libre Baskerville" panose="02000000000000000000" pitchFamily="2" charset="0"/>
              </a:rPr>
              <a:t>Done</a:t>
            </a:r>
            <a:endParaRPr lang="fr-FR" sz="1600" dirty="0">
              <a:latin typeface="Libre Baskerville" panose="02000000000000000000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26F9ABF-EFA7-23F0-9F84-CDFFEEBE8816}"/>
              </a:ext>
            </a:extLst>
          </p:cNvPr>
          <p:cNvSpPr txBox="1"/>
          <p:nvPr/>
        </p:nvSpPr>
        <p:spPr>
          <a:xfrm>
            <a:off x="8757084" y="1493335"/>
            <a:ext cx="15311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>
                <a:latin typeface="Libre Baskerville" panose="02000000000000000000" pitchFamily="2" charset="0"/>
              </a:rPr>
              <a:t>Incompleted</a:t>
            </a:r>
            <a:endParaRPr lang="fr-FR" sz="1600" dirty="0">
              <a:latin typeface="Libre Baskerville" panose="02000000000000000000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ACF46FC-795E-9AE6-5231-1B954A56516F}"/>
              </a:ext>
            </a:extLst>
          </p:cNvPr>
          <p:cNvSpPr txBox="1"/>
          <p:nvPr/>
        </p:nvSpPr>
        <p:spPr>
          <a:xfrm>
            <a:off x="8740878" y="1972797"/>
            <a:ext cx="10438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Libre Baskerville" panose="02000000000000000000" pitchFamily="2" charset="0"/>
              </a:rPr>
              <a:t>Planned</a:t>
            </a:r>
            <a:endParaRPr lang="fr-FR" sz="1600" dirty="0">
              <a:latin typeface="Libre Baskerville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32684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C79251-AA02-DF31-F41A-4DB8DFEF2F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AC5BDCA-DDDD-6D7B-274C-659C3E3577F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612"/>
            <a:ext cx="12192000" cy="686122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3C8479F-1077-5C4C-666D-4EF1CBE043A2}"/>
              </a:ext>
            </a:extLst>
          </p:cNvPr>
          <p:cNvSpPr txBox="1"/>
          <p:nvPr/>
        </p:nvSpPr>
        <p:spPr>
          <a:xfrm>
            <a:off x="353962" y="250723"/>
            <a:ext cx="5118709" cy="7554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  <a:buClr>
                <a:srgbClr val="226DF6"/>
              </a:buClr>
            </a:pPr>
            <a:r>
              <a:rPr lang="en-US" sz="3200" b="1" dirty="0">
                <a:solidFill>
                  <a:srgbClr val="226DF6"/>
                </a:solidFill>
                <a:latin typeface="Libre Baskerville" panose="02000000000000000000" pitchFamily="2" charset="0"/>
              </a:rPr>
              <a:t>2</a:t>
            </a:r>
            <a:r>
              <a:rPr lang="en-US" sz="3200" b="1" dirty="0">
                <a:solidFill>
                  <a:srgbClr val="226DF6"/>
                </a:solidFill>
              </a:rPr>
              <a:t> </a:t>
            </a:r>
            <a:r>
              <a:rPr lang="fr-FR" sz="3200" b="1" dirty="0">
                <a:solidFill>
                  <a:srgbClr val="226DF6"/>
                </a:solidFill>
                <a:latin typeface="Playfair Display" panose="00000500000000000000" pitchFamily="2" charset="0"/>
              </a:rPr>
              <a:t>AI and Intelligent Layer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18E0D2B-66CC-76F4-41F7-63FCC3CAE911}"/>
              </a:ext>
            </a:extLst>
          </p:cNvPr>
          <p:cNvSpPr/>
          <p:nvPr/>
        </p:nvSpPr>
        <p:spPr>
          <a:xfrm>
            <a:off x="1190052" y="2628643"/>
            <a:ext cx="4572000" cy="1650010"/>
          </a:xfrm>
          <a:prstGeom prst="roundRect">
            <a:avLst/>
          </a:prstGeom>
          <a:solidFill>
            <a:srgbClr val="FCFCFE"/>
          </a:soli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fr-FR" sz="2000" dirty="0">
                <a:solidFill>
                  <a:srgbClr val="226DF6"/>
                </a:solidFill>
                <a:latin typeface="Playfair Display" panose="00000500000000000000" pitchFamily="2" charset="0"/>
              </a:rPr>
              <a:t>1. Freelancer Tools </a:t>
            </a:r>
          </a:p>
          <a:p>
            <a:pPr lvl="1"/>
            <a:r>
              <a:rPr lang="fr-FR" sz="2000" dirty="0" err="1">
                <a:solidFill>
                  <a:schemeClr val="tx1"/>
                </a:solidFill>
                <a:latin typeface="Playfair Display" panose="00000500000000000000" pitchFamily="2" charset="0"/>
              </a:rPr>
              <a:t>search</a:t>
            </a:r>
            <a:r>
              <a:rPr lang="fr-FR" sz="2000" dirty="0">
                <a:solidFill>
                  <a:schemeClr val="tx1"/>
                </a:solidFill>
                <a:latin typeface="Playfair Display" panose="00000500000000000000" pitchFamily="2" charset="0"/>
              </a:rPr>
              <a:t> </a:t>
            </a:r>
            <a:r>
              <a:rPr lang="fr-FR" sz="2000" dirty="0" err="1">
                <a:solidFill>
                  <a:schemeClr val="tx1"/>
                </a:solidFill>
                <a:latin typeface="Playfair Display" panose="00000500000000000000" pitchFamily="2" charset="0"/>
              </a:rPr>
              <a:t>freelancer</a:t>
            </a:r>
            <a:endParaRPr lang="fr-FR" sz="2000" dirty="0">
              <a:solidFill>
                <a:schemeClr val="tx1"/>
              </a:solidFill>
              <a:latin typeface="Playfair Display" panose="00000500000000000000" pitchFamily="2" charset="0"/>
            </a:endParaRPr>
          </a:p>
          <a:p>
            <a:pPr lvl="1"/>
            <a:r>
              <a:rPr lang="fr-FR" sz="2000" dirty="0" err="1">
                <a:solidFill>
                  <a:schemeClr val="tx1"/>
                </a:solidFill>
                <a:latin typeface="Playfair Display" panose="00000500000000000000" pitchFamily="2" charset="0"/>
              </a:rPr>
              <a:t>get</a:t>
            </a:r>
            <a:r>
              <a:rPr lang="fr-FR" sz="2000" dirty="0">
                <a:solidFill>
                  <a:schemeClr val="tx1"/>
                </a:solidFill>
                <a:latin typeface="Playfair Display" panose="00000500000000000000" pitchFamily="2" charset="0"/>
              </a:rPr>
              <a:t> </a:t>
            </a:r>
            <a:r>
              <a:rPr lang="fr-FR" sz="2000" dirty="0" err="1">
                <a:solidFill>
                  <a:schemeClr val="tx1"/>
                </a:solidFill>
                <a:latin typeface="Playfair Display" panose="00000500000000000000" pitchFamily="2" charset="0"/>
              </a:rPr>
              <a:t>freelancer</a:t>
            </a:r>
            <a:r>
              <a:rPr lang="fr-FR" sz="2000" dirty="0">
                <a:solidFill>
                  <a:schemeClr val="tx1"/>
                </a:solidFill>
                <a:latin typeface="Playfair Display" panose="00000500000000000000" pitchFamily="2" charset="0"/>
              </a:rPr>
              <a:t> profile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4A70820-84E6-218C-C628-DE63EA0A6627}"/>
              </a:ext>
            </a:extLst>
          </p:cNvPr>
          <p:cNvSpPr txBox="1"/>
          <p:nvPr/>
        </p:nvSpPr>
        <p:spPr>
          <a:xfrm>
            <a:off x="0" y="1580692"/>
            <a:ext cx="612795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800"/>
              </a:spcBef>
              <a:spcAft>
                <a:spcPts val="1200"/>
              </a:spcAft>
            </a:pPr>
            <a:r>
              <a:rPr lang="en-US" sz="2800" b="1" dirty="0">
                <a:solidFill>
                  <a:schemeClr val="tx1"/>
                </a:solidFill>
                <a:latin typeface="Libre Baskerville" panose="02000000000000000000" pitchFamily="2" charset="0"/>
              </a:rPr>
              <a:t>2.1</a:t>
            </a:r>
            <a:r>
              <a:rPr lang="en-US" sz="2800" b="1" dirty="0">
                <a:solidFill>
                  <a:schemeClr val="tx1"/>
                </a:solidFill>
                <a:latin typeface="Playfair Display" panose="00000500000000000000" pitchFamily="2" charset="0"/>
              </a:rPr>
              <a:t> Integrated Tools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EBFBCB7-F824-DA55-7F1D-F24F737AE7FF}"/>
              </a:ext>
            </a:extLst>
          </p:cNvPr>
          <p:cNvSpPr/>
          <p:nvPr/>
        </p:nvSpPr>
        <p:spPr>
          <a:xfrm>
            <a:off x="1190052" y="4627092"/>
            <a:ext cx="4572000" cy="1650010"/>
          </a:xfrm>
          <a:prstGeom prst="roundRect">
            <a:avLst/>
          </a:prstGeom>
          <a:solidFill>
            <a:srgbClr val="FCFCFE"/>
          </a:soli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fr-FR" sz="2000" dirty="0">
                <a:solidFill>
                  <a:srgbClr val="226DF6"/>
                </a:solidFill>
                <a:latin typeface="Playfair Display" panose="00000500000000000000" pitchFamily="2" charset="0"/>
              </a:rPr>
              <a:t>3. AI Matching and </a:t>
            </a:r>
            <a:r>
              <a:rPr lang="fr-FR" sz="2000" dirty="0" err="1">
                <a:solidFill>
                  <a:srgbClr val="226DF6"/>
                </a:solidFill>
                <a:latin typeface="Playfair Display" panose="00000500000000000000" pitchFamily="2" charset="0"/>
              </a:rPr>
              <a:t>Analysis</a:t>
            </a:r>
            <a:r>
              <a:rPr lang="fr-FR" sz="2000" dirty="0">
                <a:solidFill>
                  <a:srgbClr val="226DF6"/>
                </a:solidFill>
                <a:latin typeface="Playfair Display" panose="00000500000000000000" pitchFamily="2" charset="0"/>
              </a:rPr>
              <a:t> </a:t>
            </a:r>
          </a:p>
          <a:p>
            <a:pPr lvl="1"/>
            <a:r>
              <a:rPr lang="fr-FR" sz="2000" dirty="0" err="1">
                <a:solidFill>
                  <a:schemeClr val="tx1"/>
                </a:solidFill>
                <a:latin typeface="Playfair Display" panose="00000500000000000000" pitchFamily="2" charset="0"/>
              </a:rPr>
              <a:t>calculate</a:t>
            </a:r>
            <a:r>
              <a:rPr lang="fr-FR" sz="2000" dirty="0">
                <a:solidFill>
                  <a:schemeClr val="tx1"/>
                </a:solidFill>
                <a:latin typeface="Playfair Display" panose="00000500000000000000" pitchFamily="2" charset="0"/>
              </a:rPr>
              <a:t> compatibility score </a:t>
            </a:r>
          </a:p>
          <a:p>
            <a:pPr lvl="1"/>
            <a:r>
              <a:rPr lang="fr-FR" sz="2000" dirty="0" err="1">
                <a:solidFill>
                  <a:schemeClr val="tx1"/>
                </a:solidFill>
                <a:latin typeface="Playfair Display" panose="00000500000000000000" pitchFamily="2" charset="0"/>
              </a:rPr>
              <a:t>find</a:t>
            </a:r>
            <a:r>
              <a:rPr lang="fr-FR" sz="2000" dirty="0">
                <a:solidFill>
                  <a:schemeClr val="tx1"/>
                </a:solidFill>
                <a:latin typeface="Playfair Display" panose="00000500000000000000" pitchFamily="2" charset="0"/>
              </a:rPr>
              <a:t> best </a:t>
            </a:r>
            <a:r>
              <a:rPr lang="fr-FR" sz="2000" dirty="0" err="1">
                <a:solidFill>
                  <a:schemeClr val="tx1"/>
                </a:solidFill>
                <a:latin typeface="Playfair Display" panose="00000500000000000000" pitchFamily="2" charset="0"/>
              </a:rPr>
              <a:t>matching</a:t>
            </a:r>
            <a:r>
              <a:rPr lang="fr-FR" sz="2000" dirty="0">
                <a:solidFill>
                  <a:schemeClr val="tx1"/>
                </a:solidFill>
                <a:latin typeface="Playfair Display" panose="00000500000000000000" pitchFamily="2" charset="0"/>
              </a:rPr>
              <a:t> mission </a:t>
            </a:r>
            <a:r>
              <a:rPr lang="fr-FR" sz="2000" dirty="0" err="1">
                <a:solidFill>
                  <a:schemeClr val="tx1"/>
                </a:solidFill>
                <a:latin typeface="Playfair Display" panose="00000500000000000000" pitchFamily="2" charset="0"/>
              </a:rPr>
              <a:t>get</a:t>
            </a:r>
            <a:r>
              <a:rPr lang="fr-FR" sz="2000" dirty="0">
                <a:solidFill>
                  <a:schemeClr val="tx1"/>
                </a:solidFill>
                <a:latin typeface="Playfair Display" panose="00000500000000000000" pitchFamily="2" charset="0"/>
              </a:rPr>
              <a:t> </a:t>
            </a:r>
            <a:r>
              <a:rPr lang="fr-FR" sz="2000" dirty="0" err="1">
                <a:solidFill>
                  <a:schemeClr val="tx1"/>
                </a:solidFill>
                <a:latin typeface="Playfair Display" panose="00000500000000000000" pitchFamily="2" charset="0"/>
              </a:rPr>
              <a:t>matching</a:t>
            </a:r>
            <a:r>
              <a:rPr lang="fr-FR" sz="2000" dirty="0">
                <a:solidFill>
                  <a:schemeClr val="tx1"/>
                </a:solidFill>
                <a:latin typeface="Playfair Display" panose="00000500000000000000" pitchFamily="2" charset="0"/>
              </a:rPr>
              <a:t> missions 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1EFC6BC-D74A-FD45-F89F-75017373DDF3}"/>
              </a:ext>
            </a:extLst>
          </p:cNvPr>
          <p:cNvSpPr/>
          <p:nvPr/>
        </p:nvSpPr>
        <p:spPr>
          <a:xfrm>
            <a:off x="6095998" y="4627092"/>
            <a:ext cx="4572000" cy="1650010"/>
          </a:xfrm>
          <a:prstGeom prst="roundRect">
            <a:avLst/>
          </a:prstGeom>
          <a:solidFill>
            <a:srgbClr val="FCFCFE"/>
          </a:soli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fr-FR" sz="2000" dirty="0">
                <a:solidFill>
                  <a:srgbClr val="226DF6"/>
                </a:solidFill>
                <a:latin typeface="Playfair Display" panose="00000500000000000000" pitchFamily="2" charset="0"/>
              </a:rPr>
              <a:t>4. Advanced Deep </a:t>
            </a:r>
            <a:r>
              <a:rPr lang="fr-FR" sz="2000" dirty="0" err="1">
                <a:solidFill>
                  <a:srgbClr val="226DF6"/>
                </a:solidFill>
                <a:latin typeface="Playfair Display" panose="00000500000000000000" pitchFamily="2" charset="0"/>
              </a:rPr>
              <a:t>Analyzers</a:t>
            </a:r>
            <a:r>
              <a:rPr lang="fr-FR" sz="2000" dirty="0">
                <a:solidFill>
                  <a:srgbClr val="226DF6"/>
                </a:solidFill>
                <a:latin typeface="Playfair Display" panose="00000500000000000000" pitchFamily="2" charset="0"/>
              </a:rPr>
              <a:t> </a:t>
            </a:r>
          </a:p>
          <a:p>
            <a:pPr lvl="1"/>
            <a:r>
              <a:rPr lang="fr-FR" sz="2000" dirty="0">
                <a:solidFill>
                  <a:schemeClr val="tx1"/>
                </a:solidFill>
                <a:latin typeface="Playfair Display" panose="00000500000000000000" pitchFamily="2" charset="0"/>
              </a:rPr>
              <a:t>analyser for </a:t>
            </a:r>
            <a:r>
              <a:rPr lang="fr-FR" sz="2000" dirty="0" err="1">
                <a:solidFill>
                  <a:schemeClr val="tx1"/>
                </a:solidFill>
                <a:latin typeface="Playfair Display" panose="00000500000000000000" pitchFamily="2" charset="0"/>
              </a:rPr>
              <a:t>freelancer</a:t>
            </a:r>
            <a:r>
              <a:rPr lang="fr-FR" sz="2000" dirty="0">
                <a:solidFill>
                  <a:schemeClr val="tx1"/>
                </a:solidFill>
                <a:latin typeface="Playfair Display" panose="00000500000000000000" pitchFamily="2" charset="0"/>
              </a:rPr>
              <a:t> profile</a:t>
            </a:r>
            <a:endParaRPr lang="en-US" sz="2000" dirty="0">
              <a:solidFill>
                <a:schemeClr val="tx1"/>
              </a:solidFill>
              <a:latin typeface="Playfair Display" panose="00000500000000000000" pitchFamily="2" charset="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2F61046F-7BA7-D1F2-624D-A5DEA96C51FF}"/>
              </a:ext>
            </a:extLst>
          </p:cNvPr>
          <p:cNvSpPr/>
          <p:nvPr/>
        </p:nvSpPr>
        <p:spPr>
          <a:xfrm>
            <a:off x="6095999" y="2628643"/>
            <a:ext cx="4572000" cy="1650010"/>
          </a:xfrm>
          <a:prstGeom prst="roundRect">
            <a:avLst/>
          </a:prstGeom>
          <a:solidFill>
            <a:srgbClr val="FCFCFE"/>
          </a:soli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fr-FR" sz="2000" dirty="0">
                <a:solidFill>
                  <a:srgbClr val="226DF6"/>
                </a:solidFill>
                <a:latin typeface="Playfair Display" panose="00000500000000000000" pitchFamily="2" charset="0"/>
              </a:rPr>
              <a:t>2. </a:t>
            </a:r>
            <a:r>
              <a:rPr lang="fr-FR" sz="2000" dirty="0" err="1">
                <a:solidFill>
                  <a:srgbClr val="226DF6"/>
                </a:solidFill>
                <a:latin typeface="Playfair Display" panose="00000500000000000000" pitchFamily="2" charset="0"/>
              </a:rPr>
              <a:t>Company</a:t>
            </a:r>
            <a:r>
              <a:rPr lang="fr-FR" sz="2000" dirty="0">
                <a:solidFill>
                  <a:srgbClr val="226DF6"/>
                </a:solidFill>
                <a:latin typeface="Playfair Display" panose="00000500000000000000" pitchFamily="2" charset="0"/>
              </a:rPr>
              <a:t> and Mission Tools </a:t>
            </a:r>
          </a:p>
          <a:p>
            <a:pPr lvl="1"/>
            <a:r>
              <a:rPr lang="fr-FR" sz="2000" dirty="0" err="1">
                <a:solidFill>
                  <a:schemeClr val="tx1"/>
                </a:solidFill>
                <a:latin typeface="Playfair Display" panose="00000500000000000000" pitchFamily="2" charset="0"/>
              </a:rPr>
              <a:t>get</a:t>
            </a:r>
            <a:r>
              <a:rPr lang="fr-FR" sz="2000" dirty="0">
                <a:solidFill>
                  <a:schemeClr val="tx1"/>
                </a:solidFill>
                <a:latin typeface="Playfair Display" panose="00000500000000000000" pitchFamily="2" charset="0"/>
              </a:rPr>
              <a:t> </a:t>
            </a:r>
            <a:r>
              <a:rPr lang="fr-FR" sz="2000" dirty="0" err="1">
                <a:solidFill>
                  <a:schemeClr val="tx1"/>
                </a:solidFill>
                <a:latin typeface="Playfair Display" panose="00000500000000000000" pitchFamily="2" charset="0"/>
              </a:rPr>
              <a:t>company</a:t>
            </a:r>
            <a:r>
              <a:rPr lang="fr-FR" sz="2000" dirty="0">
                <a:solidFill>
                  <a:schemeClr val="tx1"/>
                </a:solidFill>
                <a:latin typeface="Playfair Display" panose="00000500000000000000" pitchFamily="2" charset="0"/>
              </a:rPr>
              <a:t> profile </a:t>
            </a:r>
          </a:p>
          <a:p>
            <a:pPr lvl="1"/>
            <a:r>
              <a:rPr lang="fr-FR" sz="2000" dirty="0" err="1">
                <a:solidFill>
                  <a:schemeClr val="tx1"/>
                </a:solidFill>
                <a:latin typeface="Playfair Display" panose="00000500000000000000" pitchFamily="2" charset="0"/>
              </a:rPr>
              <a:t>search</a:t>
            </a:r>
            <a:r>
              <a:rPr lang="fr-FR" sz="2000" dirty="0">
                <a:solidFill>
                  <a:schemeClr val="tx1"/>
                </a:solidFill>
                <a:latin typeface="Playfair Display" panose="00000500000000000000" pitchFamily="2" charset="0"/>
              </a:rPr>
              <a:t> mission </a:t>
            </a:r>
          </a:p>
          <a:p>
            <a:pPr lvl="1"/>
            <a:r>
              <a:rPr lang="fr-FR" sz="2000" dirty="0" err="1">
                <a:solidFill>
                  <a:schemeClr val="tx1"/>
                </a:solidFill>
                <a:latin typeface="Playfair Display" panose="00000500000000000000" pitchFamily="2" charset="0"/>
              </a:rPr>
              <a:t>get</a:t>
            </a:r>
            <a:r>
              <a:rPr lang="fr-FR" sz="2000" dirty="0">
                <a:solidFill>
                  <a:schemeClr val="tx1"/>
                </a:solidFill>
                <a:latin typeface="Playfair Display" panose="00000500000000000000" pitchFamily="2" charset="0"/>
              </a:rPr>
              <a:t> mission </a:t>
            </a:r>
            <a:r>
              <a:rPr lang="fr-FR" sz="2000" dirty="0" err="1">
                <a:solidFill>
                  <a:schemeClr val="tx1"/>
                </a:solidFill>
                <a:latin typeface="Playfair Display" panose="00000500000000000000" pitchFamily="2" charset="0"/>
              </a:rPr>
              <a:t>details</a:t>
            </a:r>
            <a:r>
              <a:rPr lang="fr-FR" sz="2000" dirty="0">
                <a:solidFill>
                  <a:schemeClr val="tx1"/>
                </a:solidFill>
                <a:latin typeface="Playfair Display" panose="00000500000000000000" pitchFamily="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479885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F91736-8E9D-255E-F135-84109F33A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9B165C1-7CF9-EAC9-E95E-CDC1D2C37A6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612"/>
            <a:ext cx="12192000" cy="686122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0494587-77FF-4AF6-F0FF-6C878FD270CD}"/>
              </a:ext>
            </a:extLst>
          </p:cNvPr>
          <p:cNvSpPr txBox="1"/>
          <p:nvPr/>
        </p:nvSpPr>
        <p:spPr>
          <a:xfrm>
            <a:off x="353962" y="250723"/>
            <a:ext cx="5118709" cy="7554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  <a:buClr>
                <a:srgbClr val="226DF6"/>
              </a:buClr>
            </a:pPr>
            <a:r>
              <a:rPr lang="en-US" sz="3200" b="1" dirty="0">
                <a:solidFill>
                  <a:srgbClr val="226DF6"/>
                </a:solidFill>
                <a:latin typeface="Libre Baskerville" panose="02000000000000000000" pitchFamily="2" charset="0"/>
              </a:rPr>
              <a:t>2.</a:t>
            </a:r>
            <a:r>
              <a:rPr lang="en-US" sz="3200" b="1" dirty="0">
                <a:solidFill>
                  <a:srgbClr val="226DF6"/>
                </a:solidFill>
              </a:rPr>
              <a:t> </a:t>
            </a:r>
            <a:r>
              <a:rPr lang="fr-FR" sz="3200" b="1" dirty="0">
                <a:solidFill>
                  <a:srgbClr val="226DF6"/>
                </a:solidFill>
                <a:latin typeface="Playfair Display" panose="00000500000000000000" pitchFamily="2" charset="0"/>
              </a:rPr>
              <a:t>AI and Intelligent Layer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23168227-7978-4FEA-BA8F-E2247662D5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766" y="2301824"/>
            <a:ext cx="5984856" cy="2432408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2AFB5A8A-9BD2-4BEF-0B45-291DB7E7A69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95622" y="433627"/>
            <a:ext cx="5799057" cy="2773462"/>
          </a:xfrm>
          <a:prstGeom prst="rect">
            <a:avLst/>
          </a:prstGeom>
        </p:spPr>
      </p:pic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FE8F1534-B4C5-D111-692C-AF6F87BC5894}"/>
              </a:ext>
            </a:extLst>
          </p:cNvPr>
          <p:cNvSpPr/>
          <p:nvPr/>
        </p:nvSpPr>
        <p:spPr>
          <a:xfrm>
            <a:off x="6365074" y="3401885"/>
            <a:ext cx="5138668" cy="3238432"/>
          </a:xfrm>
          <a:prstGeom prst="roundRect">
            <a:avLst/>
          </a:prstGeom>
          <a:solidFill>
            <a:srgbClr val="FCFCFE"/>
          </a:soli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endParaRPr lang="fr-FR" sz="2000" dirty="0">
              <a:solidFill>
                <a:schemeClr val="tx1"/>
              </a:solidFill>
              <a:latin typeface="Playfair Display" panose="00000500000000000000" pitchFamily="2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244E568-01BC-B8EC-DACB-D9B9340A94FB}"/>
              </a:ext>
            </a:extLst>
          </p:cNvPr>
          <p:cNvSpPr txBox="1"/>
          <p:nvPr/>
        </p:nvSpPr>
        <p:spPr>
          <a:xfrm>
            <a:off x="6600944" y="3608718"/>
            <a:ext cx="5355185" cy="3031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algn="l" rtl="0">
              <a:lnSpc>
                <a:spcPct val="150000"/>
              </a:lnSpc>
            </a:pPr>
            <a:r>
              <a:rPr lang="fr-FR" sz="2400" b="0" i="0" u="none" strike="noStrike" dirty="0" err="1">
                <a:solidFill>
                  <a:srgbClr val="226DF6"/>
                </a:solidFill>
                <a:latin typeface="Playfair Display" panose="00000500000000000000" pitchFamily="2" charset="0"/>
              </a:rPr>
              <a:t>Weighted</a:t>
            </a:r>
            <a:r>
              <a:rPr lang="fr-FR" sz="2400" b="0" i="0" u="none" strike="noStrike" dirty="0">
                <a:solidFill>
                  <a:srgbClr val="226DF6"/>
                </a:solidFill>
                <a:latin typeface="Playfair Display" panose="00000500000000000000" pitchFamily="2" charset="0"/>
              </a:rPr>
              <a:t> Compatibility </a:t>
            </a:r>
            <a:r>
              <a:rPr lang="fr-FR" sz="2400" b="0" i="0" u="none" strike="noStrike" dirty="0" err="1">
                <a:solidFill>
                  <a:srgbClr val="226DF6"/>
                </a:solidFill>
                <a:latin typeface="Playfair Display" panose="00000500000000000000" pitchFamily="2" charset="0"/>
              </a:rPr>
              <a:t>Scoring</a:t>
            </a:r>
            <a:r>
              <a:rPr lang="fr-FR" sz="2400" b="0" i="0" u="none" strike="noStrike" dirty="0">
                <a:solidFill>
                  <a:srgbClr val="226DF6"/>
                </a:solidFill>
                <a:latin typeface="Playfair Display" panose="00000500000000000000" pitchFamily="2" charset="0"/>
              </a:rPr>
              <a:t>:</a:t>
            </a:r>
            <a:endParaRPr lang="fr-FR" sz="2400" b="0" i="0" u="none" strike="noStrike" dirty="0">
              <a:solidFill>
                <a:prstClr val="black"/>
              </a:solidFill>
              <a:latin typeface="Playfair Display" panose="00000500000000000000" pitchFamily="2" charset="0"/>
            </a:endParaRPr>
          </a:p>
          <a:p>
            <a:pPr marR="0" algn="l" rtl="0">
              <a:lnSpc>
                <a:spcPct val="150000"/>
              </a:lnSpc>
            </a:pPr>
            <a:r>
              <a:rPr lang="en-US" sz="1600" b="0" i="0" u="none" strike="noStrike" baseline="0" dirty="0">
                <a:solidFill>
                  <a:srgbClr val="000000"/>
                </a:solidFill>
                <a:latin typeface="Playfair Display" panose="00000500000000000000" pitchFamily="2" charset="0"/>
              </a:rPr>
              <a:t>It uses a multi-dimensional scoring algorithm that evaluates candidates based on:</a:t>
            </a:r>
            <a:br>
              <a:rPr lang="en-US" sz="1600" b="0" i="0" u="none" strike="noStrike" baseline="0" dirty="0">
                <a:solidFill>
                  <a:prstClr val="black"/>
                </a:solidFill>
                <a:latin typeface="Playfair Display" panose="00000500000000000000" pitchFamily="2" charset="0"/>
              </a:rPr>
            </a:br>
            <a:r>
              <a:rPr lang="en-US" sz="1600" b="0" i="0" u="none" strike="noStrike" baseline="0" dirty="0">
                <a:solidFill>
                  <a:srgbClr val="000000"/>
                </a:solidFill>
                <a:latin typeface="Playfair Display" panose="00000500000000000000" pitchFamily="2" charset="0"/>
              </a:rPr>
              <a:t> * Skill Overlap and Proficiency: (</a:t>
            </a:r>
            <a:r>
              <a:rPr lang="en-US" sz="1600" b="0" i="0" u="none" strike="noStrike" baseline="0" dirty="0">
                <a:solidFill>
                  <a:srgbClr val="000000"/>
                </a:solidFill>
                <a:latin typeface="Libre Baskerville" panose="02000000000000000000" pitchFamily="2" charset="0"/>
              </a:rPr>
              <a:t>35</a:t>
            </a:r>
            <a:r>
              <a:rPr lang="en-US" sz="1600" b="0" i="0" u="none" strike="noStrike" baseline="0" dirty="0">
                <a:solidFill>
                  <a:srgbClr val="000000"/>
                </a:solidFill>
                <a:latin typeface="Playfair Display" panose="00000500000000000000" pitchFamily="2" charset="0"/>
              </a:rPr>
              <a:t>%)</a:t>
            </a:r>
            <a:br>
              <a:rPr lang="en-US" sz="1600" b="0" i="0" u="none" strike="noStrike" baseline="0" dirty="0">
                <a:solidFill>
                  <a:prstClr val="black"/>
                </a:solidFill>
                <a:latin typeface="Playfair Display" panose="00000500000000000000" pitchFamily="2" charset="0"/>
              </a:rPr>
            </a:br>
            <a:r>
              <a:rPr lang="en-US" sz="1600" b="0" i="0" u="none" strike="noStrike" baseline="0" dirty="0">
                <a:solidFill>
                  <a:srgbClr val="000000"/>
                </a:solidFill>
                <a:latin typeface="Playfair Display" panose="00000500000000000000" pitchFamily="2" charset="0"/>
              </a:rPr>
              <a:t> * Rate Alignment: (</a:t>
            </a:r>
            <a:r>
              <a:rPr lang="en-US" sz="1600" b="0" i="0" u="none" strike="noStrike" baseline="0" dirty="0">
                <a:solidFill>
                  <a:srgbClr val="000000"/>
                </a:solidFill>
                <a:latin typeface="Libre Baskerville" panose="02000000000000000000" pitchFamily="2" charset="0"/>
              </a:rPr>
              <a:t>25</a:t>
            </a:r>
            <a:r>
              <a:rPr lang="en-US" sz="1600" b="0" i="0" u="none" strike="noStrike" baseline="0" dirty="0">
                <a:solidFill>
                  <a:srgbClr val="000000"/>
                </a:solidFill>
                <a:latin typeface="Playfair Display" panose="00000500000000000000" pitchFamily="2" charset="0"/>
              </a:rPr>
              <a:t>%)</a:t>
            </a:r>
            <a:br>
              <a:rPr lang="en-US" sz="1600" b="0" i="0" u="none" strike="noStrike" baseline="0" dirty="0">
                <a:solidFill>
                  <a:prstClr val="black"/>
                </a:solidFill>
                <a:latin typeface="Playfair Display" panose="00000500000000000000" pitchFamily="2" charset="0"/>
              </a:rPr>
            </a:br>
            <a:r>
              <a:rPr lang="en-US" sz="1600" b="0" i="0" u="none" strike="noStrike" baseline="0" dirty="0">
                <a:solidFill>
                  <a:srgbClr val="000000"/>
                </a:solidFill>
                <a:latin typeface="Playfair Display" panose="00000500000000000000" pitchFamily="2" charset="0"/>
              </a:rPr>
              <a:t> * Experience Level: (</a:t>
            </a:r>
            <a:r>
              <a:rPr lang="en-US" sz="1600" b="0" i="0" u="none" strike="noStrike" baseline="0" dirty="0">
                <a:solidFill>
                  <a:srgbClr val="000000"/>
                </a:solidFill>
                <a:latin typeface="Libre Baskerville" panose="02000000000000000000" pitchFamily="2" charset="0"/>
              </a:rPr>
              <a:t>25</a:t>
            </a:r>
            <a:r>
              <a:rPr lang="en-US" sz="1600" b="0" i="0" u="none" strike="noStrike" baseline="0" dirty="0">
                <a:solidFill>
                  <a:srgbClr val="000000"/>
                </a:solidFill>
                <a:latin typeface="Playfair Display" panose="00000500000000000000" pitchFamily="2" charset="0"/>
              </a:rPr>
              <a:t>%) </a:t>
            </a:r>
            <a:br>
              <a:rPr lang="en-US" sz="1600" b="0" i="0" u="none" strike="noStrike" baseline="0" dirty="0">
                <a:solidFill>
                  <a:prstClr val="black"/>
                </a:solidFill>
                <a:latin typeface="Playfair Display" panose="00000500000000000000" pitchFamily="2" charset="0"/>
              </a:rPr>
            </a:br>
            <a:r>
              <a:rPr lang="en-US" sz="1600" b="0" i="0" u="none" strike="noStrike" baseline="0" dirty="0">
                <a:solidFill>
                  <a:srgbClr val="000000"/>
                </a:solidFill>
                <a:latin typeface="Playfair Display" panose="00000500000000000000" pitchFamily="2" charset="0"/>
              </a:rPr>
              <a:t> * Success Rate/History: (</a:t>
            </a:r>
            <a:r>
              <a:rPr lang="en-US" sz="1600" b="0" i="0" u="none" strike="noStrike" baseline="0" dirty="0">
                <a:solidFill>
                  <a:srgbClr val="000000"/>
                </a:solidFill>
                <a:latin typeface="Libre Baskerville" panose="02000000000000000000" pitchFamily="2" charset="0"/>
              </a:rPr>
              <a:t>15</a:t>
            </a:r>
            <a:r>
              <a:rPr lang="en-US" sz="1600" b="0" i="0" u="none" strike="noStrike" baseline="0" dirty="0">
                <a:solidFill>
                  <a:srgbClr val="000000"/>
                </a:solidFill>
                <a:latin typeface="Playfair Display" panose="00000500000000000000" pitchFamily="2" charset="0"/>
              </a:rPr>
              <a:t>%)</a:t>
            </a:r>
            <a:endParaRPr lang="en-US" sz="1600" b="0" i="0" u="none" strike="noStrike" baseline="0" dirty="0">
              <a:solidFill>
                <a:prstClr val="black"/>
              </a:solidFill>
              <a:latin typeface="Playfair Display" panose="00000500000000000000" pitchFamily="2" charset="0"/>
            </a:endParaRPr>
          </a:p>
          <a:p>
            <a:pPr marR="0" algn="l" rtl="0"/>
            <a:endParaRPr lang="fr-FR" sz="1100" b="0" i="0" u="none" strike="noStrike" baseline="0" dirty="0">
              <a:solidFill>
                <a:prstClr val="black"/>
              </a:solidFill>
              <a:latin typeface="Playfair Display" panose="00000500000000000000" pitchFamily="2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D26B094-2E84-50F3-ECEA-067CBA03DA13}"/>
              </a:ext>
            </a:extLst>
          </p:cNvPr>
          <p:cNvSpPr txBox="1"/>
          <p:nvPr/>
        </p:nvSpPr>
        <p:spPr>
          <a:xfrm>
            <a:off x="-2836" y="1077197"/>
            <a:ext cx="60984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algn="ctr" rtl="0"/>
            <a:r>
              <a:rPr lang="fr-FR" sz="2400" b="1" i="0" u="none" strike="noStrike" dirty="0">
                <a:solidFill>
                  <a:srgbClr val="000000"/>
                </a:solidFill>
                <a:latin typeface="Playfair Display" panose="00000500000000000000" pitchFamily="2" charset="0"/>
              </a:rPr>
              <a:t> </a:t>
            </a:r>
            <a:r>
              <a:rPr lang="fr-FR" sz="2400" b="1" i="0" u="none" strike="noStrike" dirty="0">
                <a:solidFill>
                  <a:srgbClr val="000000"/>
                </a:solidFill>
                <a:latin typeface="Libre Baskerville" panose="02000000000000000000" pitchFamily="2" charset="0"/>
              </a:rPr>
              <a:t>2.2</a:t>
            </a:r>
            <a:r>
              <a:rPr lang="fr-FR" sz="2400" b="1" i="0" u="none" strike="noStrike" dirty="0">
                <a:solidFill>
                  <a:srgbClr val="000000"/>
                </a:solidFill>
                <a:latin typeface="Playfair Display" panose="00000500000000000000" pitchFamily="2" charset="0"/>
              </a:rPr>
              <a:t> Architecture and </a:t>
            </a:r>
            <a:r>
              <a:rPr lang="fr-FR" sz="2400" b="1" i="0" u="none" strike="noStrike" dirty="0" err="1">
                <a:solidFill>
                  <a:srgbClr val="000000"/>
                </a:solidFill>
                <a:latin typeface="Playfair Display" panose="00000500000000000000" pitchFamily="2" charset="0"/>
              </a:rPr>
              <a:t>Methodology</a:t>
            </a:r>
            <a:endParaRPr lang="fr-FR" sz="2400" b="1" i="0" u="none" strike="noStrike" dirty="0">
              <a:solidFill>
                <a:prstClr val="black"/>
              </a:solidFill>
              <a:latin typeface="Playfair Display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55137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9E920C-707C-4D47-5A3F-D99A8CD5C8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668E402-3EDE-E589-8472-8B3BAC912A8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612"/>
            <a:ext cx="12192000" cy="686122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87CB9E6-548E-799F-CCEB-E91BFF1CBB2E}"/>
              </a:ext>
            </a:extLst>
          </p:cNvPr>
          <p:cNvSpPr txBox="1"/>
          <p:nvPr/>
        </p:nvSpPr>
        <p:spPr>
          <a:xfrm>
            <a:off x="353962" y="250723"/>
            <a:ext cx="5118709" cy="7554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  <a:buClr>
                <a:srgbClr val="226DF6"/>
              </a:buClr>
            </a:pPr>
            <a:r>
              <a:rPr lang="en-US" sz="3200" b="1" dirty="0">
                <a:solidFill>
                  <a:srgbClr val="226DF6"/>
                </a:solidFill>
                <a:latin typeface="Libre Baskerville" panose="02000000000000000000" pitchFamily="2" charset="0"/>
              </a:rPr>
              <a:t>2.</a:t>
            </a:r>
            <a:r>
              <a:rPr lang="en-US" sz="3200" b="1" dirty="0">
                <a:solidFill>
                  <a:srgbClr val="226DF6"/>
                </a:solidFill>
              </a:rPr>
              <a:t> </a:t>
            </a:r>
            <a:r>
              <a:rPr lang="fr-FR" sz="3200" b="1" dirty="0">
                <a:solidFill>
                  <a:srgbClr val="226DF6"/>
                </a:solidFill>
                <a:latin typeface="Playfair Display" panose="00000500000000000000" pitchFamily="2" charset="0"/>
              </a:rPr>
              <a:t>AI and Intelligent Layer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6E122CFE-F739-C3CA-21A0-D3CF0D9A4A45}"/>
              </a:ext>
            </a:extLst>
          </p:cNvPr>
          <p:cNvSpPr/>
          <p:nvPr/>
        </p:nvSpPr>
        <p:spPr>
          <a:xfrm>
            <a:off x="334003" y="1609936"/>
            <a:ext cx="11685932" cy="3035806"/>
          </a:xfrm>
          <a:prstGeom prst="roundRect">
            <a:avLst/>
          </a:prstGeom>
          <a:solidFill>
            <a:srgbClr val="FCFCFE"/>
          </a:soli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endParaRPr lang="fr-FR" sz="2000" dirty="0">
              <a:solidFill>
                <a:schemeClr val="tx1"/>
              </a:solidFill>
              <a:latin typeface="Playfair Display" panose="00000500000000000000" pitchFamily="2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85D817B-700D-649B-ADEA-A802065EC503}"/>
              </a:ext>
            </a:extLst>
          </p:cNvPr>
          <p:cNvSpPr txBox="1"/>
          <p:nvPr/>
        </p:nvSpPr>
        <p:spPr>
          <a:xfrm>
            <a:off x="-2836" y="1077197"/>
            <a:ext cx="60984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algn="ctr" rtl="0"/>
            <a:r>
              <a:rPr lang="fr-FR" sz="2400" b="1" i="0" u="none" strike="noStrike" dirty="0">
                <a:solidFill>
                  <a:srgbClr val="000000"/>
                </a:solidFill>
                <a:latin typeface="Playfair Display" panose="00000500000000000000" pitchFamily="2" charset="0"/>
              </a:rPr>
              <a:t> </a:t>
            </a:r>
            <a:r>
              <a:rPr lang="fr-FR" sz="2400" b="1" i="0" u="none" strike="noStrike" dirty="0">
                <a:solidFill>
                  <a:srgbClr val="000000"/>
                </a:solidFill>
                <a:latin typeface="Libre Baskerville" panose="02000000000000000000" pitchFamily="2" charset="0"/>
              </a:rPr>
              <a:t>2.2</a:t>
            </a:r>
            <a:r>
              <a:rPr lang="fr-FR" sz="2400" b="1" i="0" u="none" strike="noStrike" dirty="0">
                <a:solidFill>
                  <a:srgbClr val="000000"/>
                </a:solidFill>
                <a:latin typeface="Playfair Display" panose="00000500000000000000" pitchFamily="2" charset="0"/>
              </a:rPr>
              <a:t> Architecture and </a:t>
            </a:r>
            <a:r>
              <a:rPr lang="fr-FR" sz="2400" b="1" i="0" u="none" strike="noStrike" dirty="0" err="1">
                <a:solidFill>
                  <a:srgbClr val="000000"/>
                </a:solidFill>
                <a:latin typeface="Playfair Display" panose="00000500000000000000" pitchFamily="2" charset="0"/>
              </a:rPr>
              <a:t>Methodology</a:t>
            </a:r>
            <a:endParaRPr lang="fr-FR" sz="2400" b="1" i="0" u="none" strike="noStrike" dirty="0">
              <a:solidFill>
                <a:prstClr val="black"/>
              </a:solidFill>
              <a:latin typeface="Playfair Display" panose="00000500000000000000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E999A5-31FA-43F3-BD0F-25EFFFFCAF64}"/>
              </a:ext>
            </a:extLst>
          </p:cNvPr>
          <p:cNvSpPr txBox="1"/>
          <p:nvPr/>
        </p:nvSpPr>
        <p:spPr>
          <a:xfrm>
            <a:off x="555523" y="1677856"/>
            <a:ext cx="11302474" cy="27759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algn="l" rtl="0">
              <a:lnSpc>
                <a:spcPct val="150000"/>
              </a:lnSpc>
            </a:pPr>
            <a:r>
              <a:rPr lang="fr-FR" sz="2000" b="0" i="0" u="none" strike="noStrike" dirty="0" err="1">
                <a:solidFill>
                  <a:srgbClr val="226DF6"/>
                </a:solidFill>
                <a:latin typeface="Playfair Display" panose="00000500000000000000" pitchFamily="2" charset="0"/>
              </a:rPr>
              <a:t>Automated</a:t>
            </a:r>
            <a:r>
              <a:rPr lang="fr-FR" sz="2000" b="0" i="0" u="none" strike="noStrike" dirty="0">
                <a:solidFill>
                  <a:srgbClr val="226DF6"/>
                </a:solidFill>
                <a:latin typeface="Playfair Display" panose="00000500000000000000" pitchFamily="2" charset="0"/>
              </a:rPr>
              <a:t> Matching Workflow :</a:t>
            </a:r>
            <a:endParaRPr lang="fr-FR" sz="2000" b="0" i="0" u="none" strike="noStrike" dirty="0">
              <a:solidFill>
                <a:prstClr val="black"/>
              </a:solidFill>
              <a:latin typeface="Playfair Display" panose="00000500000000000000" pitchFamily="2" charset="0"/>
            </a:endParaRPr>
          </a:p>
          <a:p>
            <a:pPr marR="0" algn="l" rtl="0">
              <a:lnSpc>
                <a:spcPct val="150000"/>
              </a:lnSpc>
            </a:pPr>
            <a:r>
              <a:rPr lang="en-US" sz="1400" b="0" i="0" u="none" strike="noStrike" baseline="0" dirty="0">
                <a:solidFill>
                  <a:srgbClr val="2A6099"/>
                </a:solidFill>
                <a:latin typeface="Playfair Display" panose="00000500000000000000" pitchFamily="2" charset="0"/>
              </a:rPr>
              <a:t>1. Event Trigger:</a:t>
            </a:r>
            <a:r>
              <a:rPr lang="en-US" sz="1400" b="0" i="0" u="none" strike="noStrike" baseline="0" dirty="0">
                <a:solidFill>
                  <a:srgbClr val="000000"/>
                </a:solidFill>
                <a:latin typeface="Playfair Display" panose="00000500000000000000" pitchFamily="2" charset="0"/>
              </a:rPr>
              <a:t> A Company publishes a mission → `mission-service` emits a `</a:t>
            </a:r>
            <a:r>
              <a:rPr lang="en-US" sz="1400" b="0" i="0" u="none" strike="noStrike" baseline="0" dirty="0" err="1">
                <a:solidFill>
                  <a:srgbClr val="000000"/>
                </a:solidFill>
                <a:latin typeface="Playfair Display" panose="00000500000000000000" pitchFamily="2" charset="0"/>
              </a:rPr>
              <a:t>mission_published</a:t>
            </a:r>
            <a:r>
              <a:rPr lang="en-US" sz="1400" b="0" i="0" u="none" strike="noStrike" baseline="0" dirty="0">
                <a:solidFill>
                  <a:srgbClr val="000000"/>
                </a:solidFill>
                <a:latin typeface="Playfair Display" panose="00000500000000000000" pitchFamily="2" charset="0"/>
              </a:rPr>
              <a:t>` message to RabbitMQ.</a:t>
            </a:r>
            <a:br>
              <a:rPr lang="en-US" sz="1400" b="0" i="0" u="none" strike="noStrike" baseline="0" dirty="0">
                <a:solidFill>
                  <a:prstClr val="black"/>
                </a:solidFill>
                <a:latin typeface="Playfair Display" panose="00000500000000000000" pitchFamily="2" charset="0"/>
              </a:rPr>
            </a:br>
            <a:r>
              <a:rPr lang="en-US" sz="1400" b="0" i="0" u="none" strike="noStrike" baseline="0" dirty="0">
                <a:solidFill>
                  <a:srgbClr val="2A6099"/>
                </a:solidFill>
                <a:latin typeface="Playfair Display" panose="00000500000000000000" pitchFamily="2" charset="0"/>
              </a:rPr>
              <a:t>2. Ingestion: </a:t>
            </a:r>
            <a:r>
              <a:rPr lang="en-US" sz="1400" b="1" i="0" u="none" strike="noStrike" baseline="0" dirty="0">
                <a:solidFill>
                  <a:srgbClr val="000000"/>
                </a:solidFill>
                <a:latin typeface="Playfair Display" panose="00000500000000000000" pitchFamily="2" charset="0"/>
              </a:rPr>
              <a:t>`worker.py`</a:t>
            </a:r>
            <a:r>
              <a:rPr lang="en-US" sz="1400" b="0" i="0" u="none" strike="noStrike" baseline="0" dirty="0">
                <a:solidFill>
                  <a:srgbClr val="000000"/>
                </a:solidFill>
                <a:latin typeface="Playfair Display" panose="00000500000000000000" pitchFamily="2" charset="0"/>
              </a:rPr>
              <a:t> receives the message and fetches the full mission details (skills, budget, requirements).</a:t>
            </a:r>
            <a:br>
              <a:rPr lang="en-US" sz="1400" b="0" i="0" u="none" strike="noStrike" baseline="0" dirty="0">
                <a:solidFill>
                  <a:prstClr val="black"/>
                </a:solidFill>
                <a:latin typeface="Playfair Display" panose="00000500000000000000" pitchFamily="2" charset="0"/>
              </a:rPr>
            </a:br>
            <a:r>
              <a:rPr lang="en-US" sz="1400" b="0" i="0" u="none" strike="noStrike" baseline="0" dirty="0">
                <a:solidFill>
                  <a:srgbClr val="2A6099"/>
                </a:solidFill>
                <a:latin typeface="Playfair Display" panose="00000500000000000000" pitchFamily="2" charset="0"/>
              </a:rPr>
              <a:t>3. Discovery:</a:t>
            </a:r>
            <a:r>
              <a:rPr lang="en-US" sz="1400" b="0" i="0" u="none" strike="noStrike" baseline="0" dirty="0">
                <a:solidFill>
                  <a:srgbClr val="000000"/>
                </a:solidFill>
                <a:latin typeface="Playfair Display" panose="00000500000000000000" pitchFamily="2" charset="0"/>
              </a:rPr>
              <a:t> The service queries the database to find freelancers whose skills overlap with the mission requirements.</a:t>
            </a:r>
            <a:br>
              <a:rPr lang="en-US" sz="1400" b="0" i="0" u="none" strike="noStrike" baseline="0" dirty="0">
                <a:solidFill>
                  <a:prstClr val="black"/>
                </a:solidFill>
                <a:latin typeface="Playfair Display" panose="00000500000000000000" pitchFamily="2" charset="0"/>
              </a:rPr>
            </a:br>
            <a:r>
              <a:rPr lang="en-US" sz="1400" b="0" i="0" u="none" strike="noStrike" baseline="0" dirty="0">
                <a:solidFill>
                  <a:srgbClr val="2A6099"/>
                </a:solidFill>
                <a:latin typeface="Playfair Display" panose="00000500000000000000" pitchFamily="2" charset="0"/>
              </a:rPr>
              <a:t>4. Scoring:</a:t>
            </a:r>
            <a:r>
              <a:rPr lang="en-US" sz="1400" b="0" i="0" u="none" strike="noStrike" baseline="0" dirty="0">
                <a:solidFill>
                  <a:srgbClr val="000000"/>
                </a:solidFill>
                <a:latin typeface="Playfair Display" panose="00000500000000000000" pitchFamily="2" charset="0"/>
              </a:rPr>
              <a:t> Each potential candidate is passed through the </a:t>
            </a:r>
            <a:r>
              <a:rPr lang="en-US" sz="1400" b="0" i="0" u="none" strike="noStrike" baseline="0" dirty="0">
                <a:solidFill>
                  <a:srgbClr val="2A6099"/>
                </a:solidFill>
                <a:latin typeface="Playfair Display" panose="00000500000000000000" pitchFamily="2" charset="0"/>
              </a:rPr>
              <a:t>AI Scorer</a:t>
            </a:r>
            <a:r>
              <a:rPr lang="en-US" sz="1400" b="0" i="0" u="none" strike="noStrike" baseline="0" dirty="0">
                <a:solidFill>
                  <a:srgbClr val="000000"/>
                </a:solidFill>
                <a:latin typeface="Playfair Display" panose="00000500000000000000" pitchFamily="2" charset="0"/>
              </a:rPr>
              <a:t> </a:t>
            </a:r>
            <a:r>
              <a:rPr lang="en-US" sz="1400" b="1" i="0" u="none" strike="noStrike" baseline="0" dirty="0">
                <a:solidFill>
                  <a:srgbClr val="000000"/>
                </a:solidFill>
                <a:latin typeface="Playfair Display" panose="00000500000000000000" pitchFamily="2" charset="0"/>
              </a:rPr>
              <a:t>(`database.py`)</a:t>
            </a:r>
            <a:r>
              <a:rPr lang="en-US" sz="1400" b="0" i="0" u="none" strike="noStrike" baseline="0" dirty="0">
                <a:solidFill>
                  <a:srgbClr val="000000"/>
                </a:solidFill>
                <a:latin typeface="Playfair Display" panose="00000500000000000000" pitchFamily="2" charset="0"/>
              </a:rPr>
              <a:t> to calculate a match percentage (0-100%).</a:t>
            </a:r>
            <a:br>
              <a:rPr lang="en-US" sz="1400" b="0" i="0" u="none" strike="noStrike" baseline="0" dirty="0">
                <a:solidFill>
                  <a:prstClr val="black"/>
                </a:solidFill>
                <a:latin typeface="Playfair Display" panose="00000500000000000000" pitchFamily="2" charset="0"/>
              </a:rPr>
            </a:br>
            <a:r>
              <a:rPr lang="en-US" sz="1400" b="0" i="0" u="none" strike="noStrike" baseline="0" dirty="0">
                <a:solidFill>
                  <a:srgbClr val="2A6099"/>
                </a:solidFill>
                <a:latin typeface="Playfair Display" panose="00000500000000000000" pitchFamily="2" charset="0"/>
              </a:rPr>
              <a:t>5. Recommendation:</a:t>
            </a:r>
            <a:r>
              <a:rPr lang="en-US" sz="1400" b="0" i="0" u="none" strike="noStrike" baseline="0" dirty="0">
                <a:solidFill>
                  <a:srgbClr val="000000"/>
                </a:solidFill>
                <a:latin typeface="Playfair Display" panose="00000500000000000000" pitchFamily="2" charset="0"/>
              </a:rPr>
              <a:t> Candidates with a score above 20 are sorted and sent back to RabbitMQ.</a:t>
            </a:r>
            <a:br>
              <a:rPr lang="en-US" sz="1400" b="0" i="0" u="none" strike="noStrike" baseline="0" dirty="0">
                <a:solidFill>
                  <a:prstClr val="black"/>
                </a:solidFill>
                <a:latin typeface="Playfair Display" panose="00000500000000000000" pitchFamily="2" charset="0"/>
              </a:rPr>
            </a:br>
            <a:r>
              <a:rPr lang="en-US" sz="1400" b="0" i="0" u="none" strike="noStrike" baseline="0" dirty="0">
                <a:solidFill>
                  <a:srgbClr val="2A6099"/>
                </a:solidFill>
                <a:latin typeface="Playfair Display" panose="00000500000000000000" pitchFamily="2" charset="0"/>
              </a:rPr>
              <a:t>6. Notification:</a:t>
            </a:r>
            <a:r>
              <a:rPr lang="en-US" sz="1400" b="0" i="0" u="none" strike="noStrike" baseline="0" dirty="0">
                <a:solidFill>
                  <a:srgbClr val="000000"/>
                </a:solidFill>
                <a:latin typeface="Playfair Display" panose="00000500000000000000" pitchFamily="2" charset="0"/>
              </a:rPr>
              <a:t> The platforms' WebSocket service picks up these matches and notifies the Freelancer: </a:t>
            </a:r>
            <a:r>
              <a:rPr lang="en-US" sz="1400" b="1" i="0" u="none" strike="noStrike" baseline="0" dirty="0">
                <a:solidFill>
                  <a:srgbClr val="000000"/>
                </a:solidFill>
                <a:latin typeface="Playfair Display" panose="00000500000000000000" pitchFamily="2" charset="0"/>
              </a:rPr>
              <a:t>"We found a mission that fits your profile!"</a:t>
            </a:r>
            <a:endParaRPr lang="en-US" sz="1400" b="0" i="0" u="none" strike="noStrike" baseline="0" dirty="0">
              <a:solidFill>
                <a:prstClr val="black"/>
              </a:solidFill>
              <a:latin typeface="Playfair Display" panose="00000500000000000000" pitchFamily="2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ED31463-535A-0E12-CB75-F670EBEF2EC6}"/>
              </a:ext>
            </a:extLst>
          </p:cNvPr>
          <p:cNvSpPr/>
          <p:nvPr/>
        </p:nvSpPr>
        <p:spPr>
          <a:xfrm>
            <a:off x="334003" y="4713662"/>
            <a:ext cx="11501809" cy="1893615"/>
          </a:xfrm>
          <a:prstGeom prst="roundRect">
            <a:avLst/>
          </a:prstGeom>
          <a:solidFill>
            <a:srgbClr val="FCFCFE"/>
          </a:soli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endParaRPr lang="fr-FR" sz="2000" dirty="0">
              <a:solidFill>
                <a:schemeClr val="tx1"/>
              </a:solidFill>
              <a:latin typeface="Playfair Display" panose="000005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9D7213-1A5B-DBBE-0E67-891866AE26E8}"/>
              </a:ext>
            </a:extLst>
          </p:cNvPr>
          <p:cNvSpPr txBox="1"/>
          <p:nvPr/>
        </p:nvSpPr>
        <p:spPr>
          <a:xfrm>
            <a:off x="729221" y="4713662"/>
            <a:ext cx="8896964" cy="18064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algn="l" rtl="0">
              <a:lnSpc>
                <a:spcPct val="150000"/>
              </a:lnSpc>
            </a:pPr>
            <a:r>
              <a:rPr lang="fr-FR" sz="2000" b="0" i="0" u="none" strike="noStrike" dirty="0">
                <a:solidFill>
                  <a:srgbClr val="226DF6"/>
                </a:solidFill>
                <a:latin typeface="Playfair Display" panose="00000500000000000000" pitchFamily="2" charset="0"/>
              </a:rPr>
              <a:t>Key Technologies :</a:t>
            </a:r>
            <a:endParaRPr lang="fr-FR" sz="2000" b="0" i="0" u="none" strike="noStrike" dirty="0">
              <a:solidFill>
                <a:prstClr val="black"/>
              </a:solidFill>
              <a:latin typeface="Playfair Display" panose="00000500000000000000" pitchFamily="2" charset="0"/>
            </a:endParaRPr>
          </a:p>
          <a:p>
            <a:pPr marR="0" algn="l" rtl="0">
              <a:lnSpc>
                <a:spcPct val="150000"/>
              </a:lnSpc>
            </a:pPr>
            <a:r>
              <a:rPr lang="fr-FR" sz="1400" b="0" i="0" u="none" strike="noStrike" baseline="0" dirty="0">
                <a:solidFill>
                  <a:srgbClr val="2A6099"/>
                </a:solidFill>
                <a:latin typeface="Playfair Display" panose="00000500000000000000" pitchFamily="2" charset="0"/>
              </a:rPr>
              <a:t>* </a:t>
            </a:r>
            <a:r>
              <a:rPr lang="fr-FR" sz="1400" b="0" i="0" u="none" strike="noStrike" baseline="0" dirty="0" err="1">
                <a:solidFill>
                  <a:srgbClr val="2A6099"/>
                </a:solidFill>
                <a:latin typeface="Playfair Display" panose="00000500000000000000" pitchFamily="2" charset="0"/>
              </a:rPr>
              <a:t>FastAPI</a:t>
            </a:r>
            <a:r>
              <a:rPr lang="fr-FR" sz="1400" b="0" i="0" u="none" strike="noStrike" baseline="0" dirty="0">
                <a:solidFill>
                  <a:srgbClr val="2A6099"/>
                </a:solidFill>
                <a:latin typeface="Playfair Display" panose="00000500000000000000" pitchFamily="2" charset="0"/>
              </a:rPr>
              <a:t>:</a:t>
            </a:r>
            <a:r>
              <a:rPr lang="fr-FR" sz="1400" b="0" i="0" u="none" strike="noStrike" baseline="0" dirty="0">
                <a:solidFill>
                  <a:prstClr val="black"/>
                </a:solidFill>
                <a:latin typeface="Playfair Display" panose="00000500000000000000" pitchFamily="2" charset="0"/>
              </a:rPr>
              <a:t> High-performance Python web </a:t>
            </a:r>
            <a:r>
              <a:rPr lang="fr-FR" sz="1400" b="0" i="0" u="none" strike="noStrike" baseline="0" dirty="0" err="1">
                <a:solidFill>
                  <a:prstClr val="black"/>
                </a:solidFill>
                <a:latin typeface="Playfair Display" panose="00000500000000000000" pitchFamily="2" charset="0"/>
              </a:rPr>
              <a:t>framework</a:t>
            </a:r>
            <a:r>
              <a:rPr lang="fr-FR" sz="1400" b="0" i="0" u="none" strike="noStrike" baseline="0" dirty="0">
                <a:solidFill>
                  <a:prstClr val="black"/>
                </a:solidFill>
                <a:latin typeface="Playfair Display" panose="00000500000000000000" pitchFamily="2" charset="0"/>
              </a:rPr>
              <a:t>.</a:t>
            </a:r>
            <a:br>
              <a:rPr lang="fr-FR" sz="1400" b="0" i="0" u="none" strike="noStrike" baseline="0" dirty="0">
                <a:solidFill>
                  <a:prstClr val="black"/>
                </a:solidFill>
                <a:latin typeface="Playfair Display" panose="00000500000000000000" pitchFamily="2" charset="0"/>
              </a:rPr>
            </a:br>
            <a:r>
              <a:rPr lang="fr-FR" sz="1400" b="0" i="0" u="none" strike="noStrike" baseline="0" dirty="0">
                <a:solidFill>
                  <a:srgbClr val="2A6099"/>
                </a:solidFill>
                <a:latin typeface="Playfair Display" panose="00000500000000000000" pitchFamily="2" charset="0"/>
              </a:rPr>
              <a:t>* </a:t>
            </a:r>
            <a:r>
              <a:rPr lang="fr-FR" sz="1400" b="0" i="0" u="none" strike="noStrike" baseline="0" dirty="0" err="1">
                <a:solidFill>
                  <a:srgbClr val="2A6099"/>
                </a:solidFill>
                <a:latin typeface="Playfair Display" panose="00000500000000000000" pitchFamily="2" charset="0"/>
              </a:rPr>
              <a:t>RabbitMQ</a:t>
            </a:r>
            <a:r>
              <a:rPr lang="fr-FR" sz="1400" b="0" i="0" u="none" strike="noStrike" baseline="0" dirty="0">
                <a:solidFill>
                  <a:srgbClr val="2A6099"/>
                </a:solidFill>
                <a:latin typeface="Playfair Display" panose="00000500000000000000" pitchFamily="2" charset="0"/>
              </a:rPr>
              <a:t> (</a:t>
            </a:r>
            <a:r>
              <a:rPr lang="fr-FR" sz="1400" b="0" i="0" u="none" strike="noStrike" baseline="0" dirty="0" err="1">
                <a:solidFill>
                  <a:srgbClr val="2A6099"/>
                </a:solidFill>
                <a:latin typeface="Playfair Display" panose="00000500000000000000" pitchFamily="2" charset="0"/>
              </a:rPr>
              <a:t>aio</a:t>
            </a:r>
            <a:r>
              <a:rPr lang="fr-FR" sz="1400" b="0" i="0" u="none" strike="noStrike" baseline="0" dirty="0">
                <a:solidFill>
                  <a:srgbClr val="2A6099"/>
                </a:solidFill>
                <a:latin typeface="Playfair Display" panose="00000500000000000000" pitchFamily="2" charset="0"/>
              </a:rPr>
              <a:t>-pika):</a:t>
            </a:r>
            <a:r>
              <a:rPr lang="fr-FR" sz="1400" b="0" i="0" u="none" strike="noStrike" baseline="0" dirty="0">
                <a:solidFill>
                  <a:prstClr val="black"/>
                </a:solidFill>
                <a:latin typeface="Playfair Display" panose="00000500000000000000" pitchFamily="2" charset="0"/>
              </a:rPr>
              <a:t> </a:t>
            </a:r>
            <a:r>
              <a:rPr lang="fr-FR" sz="1400" b="0" i="0" u="none" strike="noStrike" baseline="0" dirty="0" err="1">
                <a:solidFill>
                  <a:prstClr val="black"/>
                </a:solidFill>
                <a:latin typeface="Playfair Display" panose="00000500000000000000" pitchFamily="2" charset="0"/>
              </a:rPr>
              <a:t>Asynchronous</a:t>
            </a:r>
            <a:r>
              <a:rPr lang="fr-FR" sz="1400" b="0" i="0" u="none" strike="noStrike" baseline="0" dirty="0">
                <a:solidFill>
                  <a:prstClr val="black"/>
                </a:solidFill>
                <a:latin typeface="Playfair Display" panose="00000500000000000000" pitchFamily="2" charset="0"/>
              </a:rPr>
              <a:t> message </a:t>
            </a:r>
            <a:r>
              <a:rPr lang="fr-FR" sz="1400" b="0" i="0" u="none" strike="noStrike" baseline="0" dirty="0" err="1">
                <a:solidFill>
                  <a:prstClr val="black"/>
                </a:solidFill>
                <a:latin typeface="Playfair Display" panose="00000500000000000000" pitchFamily="2" charset="0"/>
              </a:rPr>
              <a:t>brokering</a:t>
            </a:r>
            <a:r>
              <a:rPr lang="fr-FR" sz="1400" b="0" i="0" u="none" strike="noStrike" baseline="0" dirty="0">
                <a:solidFill>
                  <a:prstClr val="black"/>
                </a:solidFill>
                <a:latin typeface="Playfair Display" panose="00000500000000000000" pitchFamily="2" charset="0"/>
              </a:rPr>
              <a:t> for the </a:t>
            </a:r>
            <a:r>
              <a:rPr lang="fr-FR" sz="1400" b="0" i="0" u="none" strike="noStrike" baseline="0" dirty="0" err="1">
                <a:solidFill>
                  <a:prstClr val="black"/>
                </a:solidFill>
                <a:latin typeface="Playfair Display" panose="00000500000000000000" pitchFamily="2" charset="0"/>
              </a:rPr>
              <a:t>event-driven</a:t>
            </a:r>
            <a:r>
              <a:rPr lang="fr-FR" sz="1400" b="0" i="0" u="none" strike="noStrike" baseline="0" dirty="0">
                <a:solidFill>
                  <a:prstClr val="black"/>
                </a:solidFill>
                <a:latin typeface="Playfair Display" panose="00000500000000000000" pitchFamily="2" charset="0"/>
              </a:rPr>
              <a:t> </a:t>
            </a:r>
            <a:r>
              <a:rPr lang="fr-FR" sz="1400" b="0" i="0" u="none" strike="noStrike" baseline="0" dirty="0" err="1">
                <a:solidFill>
                  <a:prstClr val="black"/>
                </a:solidFill>
                <a:latin typeface="Playfair Display" panose="00000500000000000000" pitchFamily="2" charset="0"/>
              </a:rPr>
              <a:t>worker</a:t>
            </a:r>
            <a:r>
              <a:rPr lang="fr-FR" sz="1400" b="0" i="0" u="none" strike="noStrike" baseline="0" dirty="0">
                <a:solidFill>
                  <a:prstClr val="black"/>
                </a:solidFill>
                <a:latin typeface="Playfair Display" panose="00000500000000000000" pitchFamily="2" charset="0"/>
              </a:rPr>
              <a:t>.</a:t>
            </a:r>
            <a:br>
              <a:rPr lang="fr-FR" sz="1400" b="0" i="0" u="none" strike="noStrike" baseline="0" dirty="0">
                <a:solidFill>
                  <a:prstClr val="black"/>
                </a:solidFill>
                <a:latin typeface="Playfair Display" panose="00000500000000000000" pitchFamily="2" charset="0"/>
              </a:rPr>
            </a:br>
            <a:r>
              <a:rPr lang="fr-FR" sz="1400" b="0" i="0" u="none" strike="noStrike" baseline="0" dirty="0">
                <a:solidFill>
                  <a:srgbClr val="2A6099"/>
                </a:solidFill>
                <a:latin typeface="Playfair Display" panose="00000500000000000000" pitchFamily="2" charset="0"/>
              </a:rPr>
              <a:t>* PostgreSQL:</a:t>
            </a:r>
            <a:r>
              <a:rPr lang="fr-FR" sz="1400" b="0" i="0" u="none" strike="noStrike" baseline="0" dirty="0">
                <a:solidFill>
                  <a:prstClr val="black"/>
                </a:solidFill>
                <a:latin typeface="Playfair Display" panose="00000500000000000000" pitchFamily="2" charset="0"/>
              </a:rPr>
              <a:t> </a:t>
            </a:r>
            <a:r>
              <a:rPr lang="fr-FR" sz="1400" b="0" i="0" u="none" strike="noStrike" baseline="0" dirty="0" err="1">
                <a:solidFill>
                  <a:prstClr val="black"/>
                </a:solidFill>
                <a:latin typeface="Playfair Display" panose="00000500000000000000" pitchFamily="2" charset="0"/>
              </a:rPr>
              <a:t>Primary</a:t>
            </a:r>
            <a:r>
              <a:rPr lang="fr-FR" sz="1400" b="0" i="0" u="none" strike="noStrike" baseline="0" dirty="0">
                <a:solidFill>
                  <a:prstClr val="black"/>
                </a:solidFill>
                <a:latin typeface="Playfair Display" panose="00000500000000000000" pitchFamily="2" charset="0"/>
              </a:rPr>
              <a:t> data source for the </a:t>
            </a:r>
            <a:r>
              <a:rPr lang="fr-FR" sz="1400" b="0" i="0" u="none" strike="noStrike" baseline="0" dirty="0" err="1">
                <a:solidFill>
                  <a:prstClr val="black"/>
                </a:solidFill>
                <a:latin typeface="Playfair Display" panose="00000500000000000000" pitchFamily="2" charset="0"/>
              </a:rPr>
              <a:t>matching</a:t>
            </a:r>
            <a:r>
              <a:rPr lang="fr-FR" sz="1400" b="0" i="0" u="none" strike="noStrike" baseline="0" dirty="0">
                <a:solidFill>
                  <a:prstClr val="black"/>
                </a:solidFill>
                <a:latin typeface="Playfair Display" panose="00000500000000000000" pitchFamily="2" charset="0"/>
              </a:rPr>
              <a:t> engine.</a:t>
            </a:r>
            <a:br>
              <a:rPr lang="fr-FR" sz="1400" b="0" i="0" u="none" strike="noStrike" baseline="0" dirty="0">
                <a:solidFill>
                  <a:prstClr val="black"/>
                </a:solidFill>
                <a:latin typeface="Playfair Display" panose="00000500000000000000" pitchFamily="2" charset="0"/>
              </a:rPr>
            </a:br>
            <a:r>
              <a:rPr lang="fr-FR" sz="1400" b="0" i="0" u="none" strike="noStrike" baseline="0" dirty="0">
                <a:solidFill>
                  <a:srgbClr val="2A6099"/>
                </a:solidFill>
                <a:latin typeface="Playfair Display" panose="00000500000000000000" pitchFamily="2" charset="0"/>
              </a:rPr>
              <a:t>* </a:t>
            </a:r>
            <a:r>
              <a:rPr lang="fr-FR" sz="1400" b="0" i="0" u="none" strike="noStrike" baseline="0" dirty="0" err="1">
                <a:solidFill>
                  <a:srgbClr val="2A6099"/>
                </a:solidFill>
                <a:latin typeface="Playfair Display" panose="00000500000000000000" pitchFamily="2" charset="0"/>
              </a:rPr>
              <a:t>Llama</a:t>
            </a:r>
            <a:r>
              <a:rPr lang="fr-FR" sz="1400" b="0" i="0" u="none" strike="noStrike" baseline="0" dirty="0">
                <a:solidFill>
                  <a:srgbClr val="2A6099"/>
                </a:solidFill>
                <a:latin typeface="Playfair Display" panose="00000500000000000000" pitchFamily="2" charset="0"/>
              </a:rPr>
              <a:t> 3 :</a:t>
            </a:r>
            <a:r>
              <a:rPr lang="fr-FR" sz="1400" b="0" i="0" u="none" strike="noStrike" baseline="0" dirty="0">
                <a:solidFill>
                  <a:prstClr val="black"/>
                </a:solidFill>
                <a:latin typeface="Playfair Display" panose="00000500000000000000" pitchFamily="2" charset="0"/>
              </a:rPr>
              <a:t> Large </a:t>
            </a:r>
            <a:r>
              <a:rPr lang="fr-FR" sz="1400" b="0" i="0" u="none" strike="noStrike" baseline="0" dirty="0" err="1">
                <a:solidFill>
                  <a:prstClr val="black"/>
                </a:solidFill>
                <a:latin typeface="Playfair Display" panose="00000500000000000000" pitchFamily="2" charset="0"/>
              </a:rPr>
              <a:t>Language</a:t>
            </a:r>
            <a:r>
              <a:rPr lang="fr-FR" sz="1400" b="0" i="0" u="none" strike="noStrike" baseline="0" dirty="0">
                <a:solidFill>
                  <a:prstClr val="black"/>
                </a:solidFill>
                <a:latin typeface="Playfair Display" panose="00000500000000000000" pitchFamily="2" charset="0"/>
              </a:rPr>
              <a:t> </a:t>
            </a:r>
            <a:r>
              <a:rPr lang="fr-FR" sz="1400" b="0" i="0" u="none" strike="noStrike" baseline="0" dirty="0" err="1">
                <a:solidFill>
                  <a:prstClr val="black"/>
                </a:solidFill>
                <a:latin typeface="Playfair Display" panose="00000500000000000000" pitchFamily="2" charset="0"/>
              </a:rPr>
              <a:t>Models</a:t>
            </a:r>
            <a:r>
              <a:rPr lang="fr-FR" sz="1400" b="0" i="0" u="none" strike="noStrike" baseline="0" dirty="0">
                <a:solidFill>
                  <a:prstClr val="black"/>
                </a:solidFill>
                <a:latin typeface="Playfair Display" panose="00000500000000000000" pitchFamily="2" charset="0"/>
              </a:rPr>
              <a:t> </a:t>
            </a:r>
            <a:r>
              <a:rPr lang="fr-FR" sz="1400" b="0" i="0" u="none" strike="noStrike" baseline="0" dirty="0" err="1">
                <a:solidFill>
                  <a:prstClr val="black"/>
                </a:solidFill>
                <a:latin typeface="Playfair Display" panose="00000500000000000000" pitchFamily="2" charset="0"/>
              </a:rPr>
              <a:t>used</a:t>
            </a:r>
            <a:r>
              <a:rPr lang="fr-FR" sz="1400" b="0" i="0" u="none" strike="noStrike" baseline="0" dirty="0">
                <a:solidFill>
                  <a:prstClr val="black"/>
                </a:solidFill>
                <a:latin typeface="Playfair Display" panose="00000500000000000000" pitchFamily="2" charset="0"/>
              </a:rPr>
              <a:t> as the </a:t>
            </a:r>
            <a:r>
              <a:rPr lang="fr-FR" sz="1400" b="0" i="0" u="none" strike="noStrike" baseline="0" dirty="0" err="1">
                <a:solidFill>
                  <a:prstClr val="black"/>
                </a:solidFill>
                <a:latin typeface="Playfair Display" panose="00000500000000000000" pitchFamily="2" charset="0"/>
              </a:rPr>
              <a:t>reasoning</a:t>
            </a:r>
            <a:r>
              <a:rPr lang="fr-FR" sz="1400" b="0" i="0" u="none" strike="noStrike" baseline="0" dirty="0">
                <a:solidFill>
                  <a:prstClr val="black"/>
                </a:solidFill>
                <a:latin typeface="Playfair Display" panose="00000500000000000000" pitchFamily="2" charset="0"/>
              </a:rPr>
              <a:t> </a:t>
            </a:r>
            <a:r>
              <a:rPr lang="fr-FR" sz="1400" b="0" i="0" u="none" strike="noStrike" baseline="0" dirty="0" err="1">
                <a:solidFill>
                  <a:prstClr val="black"/>
                </a:solidFill>
                <a:latin typeface="Playfair Display" panose="00000500000000000000" pitchFamily="2" charset="0"/>
              </a:rPr>
              <a:t>core</a:t>
            </a:r>
            <a:endParaRPr lang="fr-FR" sz="1400" b="0" i="0" u="none" strike="noStrike" baseline="0" dirty="0">
              <a:solidFill>
                <a:prstClr val="black"/>
              </a:solidFill>
              <a:latin typeface="Playfair Display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15106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36E0E4-AF64-6576-C9C5-D43F778B7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DA12D39-7AC7-2327-5887-2FB597ADCB2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612"/>
            <a:ext cx="12192000" cy="686122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554D424-1B31-C415-4E07-C4D62A14FBB2}"/>
              </a:ext>
            </a:extLst>
          </p:cNvPr>
          <p:cNvSpPr txBox="1"/>
          <p:nvPr/>
        </p:nvSpPr>
        <p:spPr>
          <a:xfrm>
            <a:off x="353962" y="250723"/>
            <a:ext cx="5118709" cy="7554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  <a:buClr>
                <a:srgbClr val="226DF6"/>
              </a:buClr>
            </a:pPr>
            <a:r>
              <a:rPr lang="en-US" sz="3200" b="1" dirty="0">
                <a:solidFill>
                  <a:srgbClr val="226DF6"/>
                </a:solidFill>
                <a:latin typeface="Libre Baskerville" panose="02000000000000000000" pitchFamily="2" charset="0"/>
              </a:rPr>
              <a:t>2.</a:t>
            </a:r>
            <a:r>
              <a:rPr lang="en-US" sz="3200" b="1" dirty="0">
                <a:solidFill>
                  <a:srgbClr val="226DF6"/>
                </a:solidFill>
              </a:rPr>
              <a:t> </a:t>
            </a:r>
            <a:r>
              <a:rPr lang="fr-FR" sz="3200" b="1" dirty="0">
                <a:solidFill>
                  <a:srgbClr val="226DF6"/>
                </a:solidFill>
                <a:latin typeface="Playfair Display" panose="00000500000000000000" pitchFamily="2" charset="0"/>
              </a:rPr>
              <a:t>AI and Intelligent Layer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5749241-4540-74AF-4550-7A5EE7F78867}"/>
              </a:ext>
            </a:extLst>
          </p:cNvPr>
          <p:cNvSpPr txBox="1"/>
          <p:nvPr/>
        </p:nvSpPr>
        <p:spPr>
          <a:xfrm>
            <a:off x="-2836" y="1077197"/>
            <a:ext cx="60984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400" b="1" i="0" u="none" strike="noStrike" dirty="0">
                <a:solidFill>
                  <a:srgbClr val="000000"/>
                </a:solidFill>
                <a:latin typeface="Playfair Display" panose="00000500000000000000" pitchFamily="2" charset="0"/>
              </a:rPr>
              <a:t> </a:t>
            </a:r>
            <a:r>
              <a:rPr lang="fr-FR" sz="2400" b="1" i="0" u="none" strike="noStrike" dirty="0">
                <a:solidFill>
                  <a:srgbClr val="000000"/>
                </a:solidFill>
                <a:latin typeface="Libre Baskerville" panose="02000000000000000000" pitchFamily="2" charset="0"/>
              </a:rPr>
              <a:t>2.</a:t>
            </a:r>
            <a:r>
              <a:rPr lang="fr-FR" sz="2400" b="1" dirty="0">
                <a:solidFill>
                  <a:srgbClr val="000000"/>
                </a:solidFill>
                <a:latin typeface="Libre Baskerville" panose="02000000000000000000" pitchFamily="2" charset="0"/>
              </a:rPr>
              <a:t>3</a:t>
            </a:r>
            <a:r>
              <a:rPr lang="fr-FR" sz="2400" b="1" i="0" u="none" strike="noStrike" dirty="0">
                <a:solidFill>
                  <a:srgbClr val="000000"/>
                </a:solidFill>
                <a:latin typeface="Playfair Display" panose="00000500000000000000" pitchFamily="2" charset="0"/>
              </a:rPr>
              <a:t> </a:t>
            </a:r>
            <a:r>
              <a:rPr lang="fr-FR" sz="2400" b="1" dirty="0">
                <a:latin typeface="Playfair Display" panose="00000500000000000000" pitchFamily="2" charset="0"/>
              </a:rPr>
              <a:t>Matching Test </a:t>
            </a:r>
            <a:r>
              <a:rPr lang="fr-FR" sz="2400" b="1" dirty="0" err="1">
                <a:latin typeface="Playfair Display" panose="00000500000000000000" pitchFamily="2" charset="0"/>
              </a:rPr>
              <a:t>Screenshots</a:t>
            </a:r>
            <a:endParaRPr lang="fr-FR" b="1" dirty="0">
              <a:latin typeface="Playfair Display" panose="00000500000000000000" pitchFamily="2" charset="0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BDB3F61C-ED91-A72E-64EB-ECED64C65F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2836" y="1678733"/>
            <a:ext cx="12192000" cy="4928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51534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D6C7B1-0DD7-F922-A8CA-C382C24B0E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B641E57-5AD7-CE2F-86B9-7F4DE9A9170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612"/>
            <a:ext cx="12192000" cy="686122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56DD622-31E0-93F8-D5C2-799F2A2961A4}"/>
              </a:ext>
            </a:extLst>
          </p:cNvPr>
          <p:cNvSpPr txBox="1"/>
          <p:nvPr/>
        </p:nvSpPr>
        <p:spPr>
          <a:xfrm>
            <a:off x="353962" y="250723"/>
            <a:ext cx="5118709" cy="7554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  <a:buClr>
                <a:srgbClr val="226DF6"/>
              </a:buClr>
            </a:pPr>
            <a:r>
              <a:rPr lang="en-US" sz="3200" b="1" dirty="0">
                <a:solidFill>
                  <a:srgbClr val="226DF6"/>
                </a:solidFill>
                <a:latin typeface="Libre Baskerville" panose="02000000000000000000" pitchFamily="2" charset="0"/>
              </a:rPr>
              <a:t>2.</a:t>
            </a:r>
            <a:r>
              <a:rPr lang="en-US" sz="3200" b="1" dirty="0">
                <a:solidFill>
                  <a:srgbClr val="226DF6"/>
                </a:solidFill>
              </a:rPr>
              <a:t> </a:t>
            </a:r>
            <a:r>
              <a:rPr lang="fr-FR" sz="3200" b="1" dirty="0">
                <a:solidFill>
                  <a:srgbClr val="226DF6"/>
                </a:solidFill>
                <a:latin typeface="Playfair Display" panose="00000500000000000000" pitchFamily="2" charset="0"/>
              </a:rPr>
              <a:t>AI and Intelligent Layer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AC8F2D4-9865-B87B-B07E-D0E368482514}"/>
              </a:ext>
            </a:extLst>
          </p:cNvPr>
          <p:cNvSpPr txBox="1"/>
          <p:nvPr/>
        </p:nvSpPr>
        <p:spPr>
          <a:xfrm>
            <a:off x="-2836" y="1077197"/>
            <a:ext cx="60984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400" b="1" i="0" u="none" strike="noStrike" dirty="0">
                <a:solidFill>
                  <a:srgbClr val="000000"/>
                </a:solidFill>
                <a:latin typeface="Playfair Display" panose="00000500000000000000" pitchFamily="2" charset="0"/>
              </a:rPr>
              <a:t> </a:t>
            </a:r>
            <a:r>
              <a:rPr lang="fr-FR" sz="2400" b="1" i="0" u="none" strike="noStrike" dirty="0">
                <a:solidFill>
                  <a:srgbClr val="000000"/>
                </a:solidFill>
                <a:latin typeface="Libre Baskerville" panose="02000000000000000000" pitchFamily="2" charset="0"/>
              </a:rPr>
              <a:t>2.</a:t>
            </a:r>
            <a:r>
              <a:rPr lang="fr-FR" sz="2400" b="1" dirty="0">
                <a:solidFill>
                  <a:srgbClr val="000000"/>
                </a:solidFill>
                <a:latin typeface="Libre Baskerville" panose="02000000000000000000" pitchFamily="2" charset="0"/>
              </a:rPr>
              <a:t>3</a:t>
            </a:r>
            <a:r>
              <a:rPr lang="fr-FR" sz="2400" b="1" i="0" u="none" strike="noStrike" dirty="0">
                <a:solidFill>
                  <a:srgbClr val="000000"/>
                </a:solidFill>
                <a:latin typeface="Playfair Display" panose="00000500000000000000" pitchFamily="2" charset="0"/>
              </a:rPr>
              <a:t> </a:t>
            </a:r>
            <a:r>
              <a:rPr lang="fr-FR" sz="2400" b="1" dirty="0">
                <a:latin typeface="Playfair Display" panose="00000500000000000000" pitchFamily="2" charset="0"/>
              </a:rPr>
              <a:t>Matching Test </a:t>
            </a:r>
            <a:r>
              <a:rPr lang="fr-FR" sz="2400" b="1" dirty="0" err="1">
                <a:latin typeface="Playfair Display" panose="00000500000000000000" pitchFamily="2" charset="0"/>
              </a:rPr>
              <a:t>Screenshots</a:t>
            </a:r>
            <a:endParaRPr lang="fr-FR" b="1" dirty="0">
              <a:latin typeface="Playfair Display" panose="00000500000000000000" pitchFamily="2" charset="0"/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E00166C5-4D47-9B73-D6F0-B09EDA67F1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1611145"/>
            <a:ext cx="12192000" cy="4996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6078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E31FAD-FE95-7FFB-072C-CD88485CE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FCB13DC-14AF-81E0-E343-593D9ABF695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612"/>
            <a:ext cx="12192000" cy="686122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3543292-3975-9653-EC50-D3A08D8BB5A9}"/>
              </a:ext>
            </a:extLst>
          </p:cNvPr>
          <p:cNvSpPr txBox="1"/>
          <p:nvPr/>
        </p:nvSpPr>
        <p:spPr>
          <a:xfrm>
            <a:off x="5840361" y="4925963"/>
            <a:ext cx="5928852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5400" b="1" dirty="0">
                <a:solidFill>
                  <a:srgbClr val="226DF6"/>
                </a:solidFill>
                <a:latin typeface="Playfair Display" panose="00000500000000000000" pitchFamily="2" charset="0"/>
              </a:rPr>
              <a:t>03</a:t>
            </a:r>
            <a:br>
              <a:rPr lang="en-US" sz="4000" b="1" dirty="0">
                <a:latin typeface="Playfair Display" panose="00000500000000000000" pitchFamily="2" charset="0"/>
              </a:rPr>
            </a:br>
            <a:r>
              <a:rPr lang="en-US" sz="4000" b="1" dirty="0">
                <a:latin typeface="Playfair Display" panose="00000500000000000000" pitchFamily="2" charset="0"/>
              </a:rPr>
              <a:t>Planning and Next steps</a:t>
            </a:r>
            <a:endParaRPr lang="fr-FR" sz="4000" b="1" dirty="0">
              <a:latin typeface="Playfair Display" panose="00000500000000000000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C8733BB-9D34-8CD9-E2FD-A21192B691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333" r="24710"/>
          <a:stretch>
            <a:fillRect/>
          </a:stretch>
        </p:blipFill>
        <p:spPr>
          <a:xfrm>
            <a:off x="0" y="0"/>
            <a:ext cx="50292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08004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E908E4-428B-E42E-4E03-E10B675FA4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D03CBC4-0608-1C03-6784-E0822492682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612"/>
            <a:ext cx="12192000" cy="686122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EFA0AE9-A00E-BB05-B1D7-BEE2051934E0}"/>
              </a:ext>
            </a:extLst>
          </p:cNvPr>
          <p:cNvSpPr txBox="1"/>
          <p:nvPr/>
        </p:nvSpPr>
        <p:spPr>
          <a:xfrm>
            <a:off x="353962" y="250723"/>
            <a:ext cx="451437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>
                <a:solidFill>
                  <a:srgbClr val="226DF6"/>
                </a:solidFill>
                <a:latin typeface="Playfair Display" panose="00000500000000000000" pitchFamily="2" charset="0"/>
              </a:rPr>
              <a:t>Plan for the Next Week</a:t>
            </a:r>
            <a:endParaRPr lang="fr-FR" sz="3200" dirty="0">
              <a:solidFill>
                <a:srgbClr val="226DF6"/>
              </a:solidFill>
              <a:latin typeface="Playfair Display" panose="00000500000000000000" pitchFamily="2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0C85AA4-6DF7-9A04-E785-4A0017C3FA03}"/>
              </a:ext>
            </a:extLst>
          </p:cNvPr>
          <p:cNvSpPr txBox="1"/>
          <p:nvPr/>
        </p:nvSpPr>
        <p:spPr>
          <a:xfrm>
            <a:off x="2045172" y="1503932"/>
            <a:ext cx="64300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Playfair Display" panose="00000500000000000000" pitchFamily="2" charset="0"/>
              </a:rPr>
              <a:t>Integrate all Phase </a:t>
            </a:r>
            <a:r>
              <a:rPr lang="en-US" sz="2400" dirty="0"/>
              <a:t>1</a:t>
            </a:r>
            <a:r>
              <a:rPr lang="en-US" sz="2400" dirty="0">
                <a:latin typeface="Playfair Display" panose="00000500000000000000" pitchFamily="2" charset="0"/>
              </a:rPr>
              <a:t> components into a fully functional system </a:t>
            </a:r>
            <a:r>
              <a:rPr lang="en-US" sz="2400" dirty="0">
                <a:solidFill>
                  <a:srgbClr val="226DF6"/>
                </a:solidFill>
                <a:latin typeface="Playfair Display" panose="00000500000000000000" pitchFamily="2" charset="0"/>
              </a:rPr>
              <a:t>(main objective).</a:t>
            </a:r>
            <a:endParaRPr lang="fr-FR" sz="2400" dirty="0">
              <a:latin typeface="Playfair Display" panose="00000500000000000000" pitchFamily="2" charset="0"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912D9E94-F41B-E352-9A60-358F75752E48}"/>
              </a:ext>
            </a:extLst>
          </p:cNvPr>
          <p:cNvSpPr/>
          <p:nvPr/>
        </p:nvSpPr>
        <p:spPr>
          <a:xfrm>
            <a:off x="1335261" y="1661262"/>
            <a:ext cx="548640" cy="548640"/>
          </a:xfrm>
          <a:prstGeom prst="ellipse">
            <a:avLst/>
          </a:prstGeom>
          <a:solidFill>
            <a:srgbClr val="226DF6"/>
          </a:solidFill>
          <a:ln w="28575" cmpd="sng">
            <a:solidFill>
              <a:srgbClr val="226DF6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3200" dirty="0">
              <a:solidFill>
                <a:schemeClr val="bg1"/>
              </a:solidFill>
              <a:latin typeface="Playfair Display" panose="00000500000000000000" pitchFamily="2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AB84F77-07E8-68D9-4F2C-6381FAF12DAF}"/>
              </a:ext>
            </a:extLst>
          </p:cNvPr>
          <p:cNvSpPr txBox="1"/>
          <p:nvPr/>
        </p:nvSpPr>
        <p:spPr>
          <a:xfrm>
            <a:off x="1460058" y="1615895"/>
            <a:ext cx="3225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Playfair Display" panose="00000500000000000000" pitchFamily="2" charset="0"/>
              </a:rPr>
              <a:t>1</a:t>
            </a:r>
            <a:endParaRPr lang="fr-FR" sz="2800" b="1" dirty="0">
              <a:solidFill>
                <a:schemeClr val="bg1"/>
              </a:solidFill>
              <a:latin typeface="Playfair Display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78866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38D3B1-A2D6-2645-436D-705C8CA79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67A9A5D6-55AA-D991-E249-BF985F45D7B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3025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2B45E1C-D09E-A3E7-31EB-2799840B92EC}"/>
              </a:ext>
            </a:extLst>
          </p:cNvPr>
          <p:cNvSpPr txBox="1"/>
          <p:nvPr/>
        </p:nvSpPr>
        <p:spPr>
          <a:xfrm>
            <a:off x="790483" y="2644170"/>
            <a:ext cx="658385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600" b="1" spc="300" dirty="0">
                <a:solidFill>
                  <a:srgbClr val="226DF6"/>
                </a:solidFill>
                <a:latin typeface="Playfair Display" panose="00000500000000000000" pitchFamily="2" charset="0"/>
              </a:rPr>
              <a:t>Thank you</a:t>
            </a:r>
            <a:endParaRPr lang="fr-FR" sz="9600" b="1" spc="300" dirty="0">
              <a:solidFill>
                <a:srgbClr val="226DF6"/>
              </a:solidFill>
              <a:latin typeface="Playfair Display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82558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3442</TotalTime>
  <Words>625</Words>
  <Application>Microsoft Office PowerPoint</Application>
  <PresentationFormat>Widescreen</PresentationFormat>
  <Paragraphs>96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Aptos</vt:lpstr>
      <vt:lpstr>Aptos (Body)</vt:lpstr>
      <vt:lpstr>Aptos Display</vt:lpstr>
      <vt:lpstr>Arial</vt:lpstr>
      <vt:lpstr>Libre Baskerville</vt:lpstr>
      <vt:lpstr>Playfair Display</vt:lpstr>
      <vt:lpstr>Office Theme</vt:lpstr>
      <vt:lpstr>AI-Based Freelance-Startup System Progress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AI-Based Freelance-Startup System Progress Presentation</dc:title>
  <dc:creator>Chaima Djekhrab</dc:creator>
  <cp:lastModifiedBy>Chaima Djekhrab</cp:lastModifiedBy>
  <cp:revision>31</cp:revision>
  <dcterms:created xsi:type="dcterms:W3CDTF">2026-02-18T11:11:58Z</dcterms:created>
  <dcterms:modified xsi:type="dcterms:W3CDTF">2026-04-17T11:53:38Z</dcterms:modified>
</cp:coreProperties>
</file>