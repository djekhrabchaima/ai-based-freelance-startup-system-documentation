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6" r:id="rId5"/>
    <p:sldId id="269" r:id="rId6"/>
    <p:sldId id="259" r:id="rId7"/>
    <p:sldId id="275" r:id="rId8"/>
    <p:sldId id="276" r:id="rId9"/>
    <p:sldId id="270" r:id="rId10"/>
    <p:sldId id="282" r:id="rId11"/>
    <p:sldId id="278" r:id="rId12"/>
    <p:sldId id="281" r:id="rId13"/>
    <p:sldId id="279" r:id="rId14"/>
    <p:sldId id="280" r:id="rId15"/>
    <p:sldId id="260" r:id="rId16"/>
    <p:sldId id="264" r:id="rId17"/>
    <p:sldId id="265" r:id="rId18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26DF6"/>
    <a:srgbClr val="EEF1F5"/>
    <a:srgbClr val="F2F2F2"/>
    <a:srgbClr val="FCFCFE"/>
    <a:srgbClr val="F5F6FA"/>
    <a:srgbClr val="FDFDFD"/>
    <a:srgbClr val="FAFA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426" autoAdjust="0"/>
    <p:restoredTop sz="94660"/>
  </p:normalViewPr>
  <p:slideViewPr>
    <p:cSldViewPr snapToGrid="0">
      <p:cViewPr>
        <p:scale>
          <a:sx n="50" d="100"/>
          <a:sy n="50" d="100"/>
        </p:scale>
        <p:origin x="1398" y="3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1A224-4944-0243-5223-6249A499BC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0CCA0B-3A75-F99D-D91B-52F67F2E72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65C5C1-BF2B-C300-A166-BE8734A3A3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35059-BEE1-43CC-9E11-FA1C55B0A8F7}" type="datetimeFigureOut">
              <a:rPr lang="fr-FR" smtClean="0"/>
              <a:t>14/03/2026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DDDF11-2D5C-A387-E06D-642070D604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2D35D5-B812-5367-56FE-9D4D5E8F12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D19D0-6058-474D-BE98-77F42B5C682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159162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7CD80B-F623-55D9-B885-627EAF262F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6EECFD-ECFF-3A2E-9A79-B4FD23A45A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93C239-EBC1-4C19-74CE-3F584539BE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35059-BEE1-43CC-9E11-FA1C55B0A8F7}" type="datetimeFigureOut">
              <a:rPr lang="fr-FR" smtClean="0"/>
              <a:t>14/03/2026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4D92E9-5121-16C5-FE48-86A66D2210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090BD6-5205-0243-E66A-A0B0005BB9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D19D0-6058-474D-BE98-77F42B5C682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661713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FE1605-CFAF-7D5F-6DE6-C3D7AD74C0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8450F8-5C37-B083-B483-8484BDFACD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33D890-B2FE-D3B7-1889-E6A1F1FDF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35059-BEE1-43CC-9E11-FA1C55B0A8F7}" type="datetimeFigureOut">
              <a:rPr lang="fr-FR" smtClean="0"/>
              <a:t>14/03/2026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C92CEF-1512-30BE-75C6-635438C2FB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9503A4-8D07-A277-1AFF-C0EEE90ED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D19D0-6058-474D-BE98-77F42B5C682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899824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CE67D5-3C4D-C7FC-C967-700EB21108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2F9C36-F34D-F0E2-E00D-452B63D7DF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84CD25-ED2F-F5DC-654B-F4997A9E16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793C62-51C0-4D3F-4E19-2F489036D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35059-BEE1-43CC-9E11-FA1C55B0A8F7}" type="datetimeFigureOut">
              <a:rPr lang="fr-FR" smtClean="0"/>
              <a:t>14/03/2026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4A1DC1-7FB7-3721-A5AA-CC9C086780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C504F4-56AF-0405-F74C-43773396D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D19D0-6058-474D-BE98-77F42B5C682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333283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06E78-B744-21B7-37E5-C7004AC559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344491-FAAF-78E2-8BBA-BFE375B424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9BDD96-AE80-A50E-602C-4C888C2BFD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5827390-2EF4-9797-A3E8-860895C782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932108-59EC-5CCD-985B-17E1000EDB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AEEF739-5B1D-2DB5-605E-D84C3F8921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35059-BEE1-43CC-9E11-FA1C55B0A8F7}" type="datetimeFigureOut">
              <a:rPr lang="fr-FR" smtClean="0"/>
              <a:t>14/03/2026</a:t>
            </a:fld>
            <a:endParaRPr lang="fr-F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107178-5F68-E13A-AAB2-CFDE225D00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0343D91-3B14-474D-7D24-80E240C4F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D19D0-6058-474D-BE98-77F42B5C682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137757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A3EAF-71FE-A7C8-B535-68A29FE98F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796918-7B0F-8371-7492-4294EBB08C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35059-BEE1-43CC-9E11-FA1C55B0A8F7}" type="datetimeFigureOut">
              <a:rPr lang="fr-FR" smtClean="0"/>
              <a:t>14/03/2026</a:t>
            </a:fld>
            <a:endParaRPr lang="fr-F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06B4E7-5DE4-E1EC-591C-9D38F6B7BB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396F15-CF21-DBB7-566F-266A0AA7E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D19D0-6058-474D-BE98-77F42B5C682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025384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F196AF-AAB1-5484-E390-CCB7D3C17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35059-BEE1-43CC-9E11-FA1C55B0A8F7}" type="datetimeFigureOut">
              <a:rPr lang="fr-FR" smtClean="0"/>
              <a:t>14/03/2026</a:t>
            </a:fld>
            <a:endParaRPr lang="fr-F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ACEB36B-69BB-AA86-F20B-9FC686E61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936F8C-0B3F-8DD8-25B6-72003AA0A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D19D0-6058-474D-BE98-77F42B5C682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557559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F1C3DD-43AE-AC87-3745-BBFCD0222A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15FF30-8DF7-AF8C-BB8D-A3C1550118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6280F1-C958-D502-793D-94331F8B8A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B02A1E-04C4-16A3-D77F-117CF7A9F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35059-BEE1-43CC-9E11-FA1C55B0A8F7}" type="datetimeFigureOut">
              <a:rPr lang="fr-FR" smtClean="0"/>
              <a:t>14/03/2026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67B52D-FDFF-C151-D8C9-D293FAA93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EEF3A2-3590-5E55-59D3-CEED81DF4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D19D0-6058-474D-BE98-77F42B5C682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709874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B7C062-A8D9-9FDA-E2E5-5246B04558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7B4456B-2980-BF55-71B1-95853EF1B9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48E323-DACE-BC85-B6EB-3F528CDA15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71C307-A617-02DE-72DF-AFC16DFBFE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35059-BEE1-43CC-9E11-FA1C55B0A8F7}" type="datetimeFigureOut">
              <a:rPr lang="fr-FR" smtClean="0"/>
              <a:t>14/03/2026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E180C5-65B0-7FFF-B07C-11184162A1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318F96-DBD2-7519-B63F-FEBF3B42E8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D19D0-6058-474D-BE98-77F42B5C682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166225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4E268-5020-FAD3-EC19-B436E4EE0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A0AB5F-4809-AC07-84A2-DCA5134148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BD1DA6-897A-65B9-4B2C-3F91569B6D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35059-BEE1-43CC-9E11-FA1C55B0A8F7}" type="datetimeFigureOut">
              <a:rPr lang="fr-FR" smtClean="0"/>
              <a:t>14/03/2026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6B49E7-B851-D505-05C0-9823083E44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B8EB13-BB07-2677-2EAA-63B3789406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D19D0-6058-474D-BE98-77F42B5C682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862916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7B4C3B2-2276-5867-EA34-46BE99218F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DF495B-73FB-9784-3013-BACD021613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1D150C-28FB-D359-6DDB-AFF07AE1C1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35059-BEE1-43CC-9E11-FA1C55B0A8F7}" type="datetimeFigureOut">
              <a:rPr lang="fr-FR" smtClean="0"/>
              <a:t>14/03/2026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F4D040-1AD1-A970-B49A-247257792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A43EB9-D1A8-A337-86EA-CE5812F62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D19D0-6058-474D-BE98-77F42B5C682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824051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02F51B7-E955-D7AB-AC01-133AB0659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6067A7-BCE9-B2AE-05D9-8CD38E5E62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5B833B-9C2C-3BBB-03A6-A8AC22CD91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035059-BEE1-43CC-9E11-FA1C55B0A8F7}" type="datetimeFigureOut">
              <a:rPr lang="fr-FR" smtClean="0"/>
              <a:t>14/03/2026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2E1C50-25CF-F000-A250-F8425C2069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5C00A1-1D73-384C-18F7-9866C0392A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ED19D0-6058-474D-BE98-77F42B5C682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927832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A158638-D32E-A51A-B079-90F10EBE3C5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80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A078D81-19FC-5434-7CAE-F8FF3191C3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07805" y="1379210"/>
            <a:ext cx="10938389" cy="2680019"/>
          </a:xfrm>
        </p:spPr>
        <p:txBody>
          <a:bodyPr>
            <a:noAutofit/>
          </a:bodyPr>
          <a:lstStyle/>
          <a:p>
            <a:pPr algn="l">
              <a:lnSpc>
                <a:spcPct val="100000"/>
              </a:lnSpc>
              <a:spcAft>
                <a:spcPts val="1800"/>
              </a:spcAft>
            </a:pPr>
            <a:r>
              <a:rPr lang="en-US" b="1" dirty="0">
                <a:solidFill>
                  <a:srgbClr val="226DF6"/>
                </a:solidFill>
                <a:latin typeface="Aptos (Body)"/>
                <a:cs typeface="Arial" panose="020B0604020202020204" pitchFamily="34" charset="0"/>
              </a:rPr>
              <a:t>AI-Based Freelance-Startup System</a:t>
            </a:r>
            <a:br>
              <a:rPr lang="en-US" b="1" dirty="0">
                <a:solidFill>
                  <a:srgbClr val="226DF6"/>
                </a:solidFill>
                <a:latin typeface="Aptos (Body)"/>
                <a:cs typeface="Arial" panose="020B0604020202020204" pitchFamily="34" charset="0"/>
              </a:rPr>
            </a:br>
            <a:r>
              <a:rPr lang="en-US" b="1" dirty="0">
                <a:solidFill>
                  <a:srgbClr val="226DF6"/>
                </a:solidFill>
                <a:latin typeface="Aptos (Body)"/>
                <a:cs typeface="Arial" panose="020B0604020202020204" pitchFamily="34" charset="0"/>
              </a:rPr>
              <a:t>Progress Presentation</a:t>
            </a:r>
            <a:endParaRPr lang="fr-FR" dirty="0">
              <a:solidFill>
                <a:srgbClr val="226DF6"/>
              </a:solidFill>
              <a:latin typeface="Aptos (Body)"/>
              <a:cs typeface="Arial" panose="020B06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D8033E-0FB5-F78F-3B1B-2D4A136186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07806" y="4434815"/>
            <a:ext cx="9833448" cy="1655762"/>
          </a:xfrm>
        </p:spPr>
        <p:txBody>
          <a:bodyPr>
            <a:normAutofit/>
          </a:bodyPr>
          <a:lstStyle/>
          <a:p>
            <a:pPr algn="l"/>
            <a:r>
              <a:rPr lang="fr-FR" sz="3600" dirty="0">
                <a:latin typeface="Aptos (Body)"/>
                <a:cs typeface="Arial" panose="020B0604020202020204" pitchFamily="34" charset="0"/>
              </a:rPr>
              <a:t>Week</a:t>
            </a:r>
            <a:r>
              <a:rPr lang="fr-FR" sz="3600" dirty="0">
                <a:latin typeface="Aptos (Body)"/>
              </a:rPr>
              <a:t> 03</a:t>
            </a:r>
          </a:p>
        </p:txBody>
      </p:sp>
    </p:spTree>
    <p:extLst>
      <p:ext uri="{BB962C8B-B14F-4D97-AF65-F5344CB8AC3E}">
        <p14:creationId xmlns:p14="http://schemas.microsoft.com/office/powerpoint/2010/main" val="29716431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Content Placeholder 17">
            <a:extLst>
              <a:ext uri="{FF2B5EF4-FFF2-40B4-BE49-F238E27FC236}">
                <a16:creationId xmlns:a16="http://schemas.microsoft.com/office/drawing/2014/main" id="{777BBFE1-508C-690A-B5B9-9FCDB2D456F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306589" cy="6858000"/>
          </a:xfr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664A5578-3080-1E16-04B3-6CF0BEC539A4}"/>
              </a:ext>
            </a:extLst>
          </p:cNvPr>
          <p:cNvGrpSpPr/>
          <p:nvPr/>
        </p:nvGrpSpPr>
        <p:grpSpPr>
          <a:xfrm>
            <a:off x="904568" y="2864575"/>
            <a:ext cx="2626934" cy="1128850"/>
            <a:chOff x="904568" y="2669482"/>
            <a:chExt cx="2626934" cy="1128850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82C20B18-A40E-74E5-B1F6-B3EEED87A6E4}"/>
                </a:ext>
              </a:extLst>
            </p:cNvPr>
            <p:cNvSpPr txBox="1">
              <a:spLocks/>
            </p:cNvSpPr>
            <p:nvPr/>
          </p:nvSpPr>
          <p:spPr>
            <a:xfrm>
              <a:off x="904568" y="2669482"/>
              <a:ext cx="2626934" cy="68480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buNone/>
              </a:pPr>
              <a:r>
                <a:rPr lang="fr-FR" sz="3850" b="1" dirty="0">
                  <a:solidFill>
                    <a:srgbClr val="226DF6"/>
                  </a:solidFill>
                  <a:effectLst/>
                  <a:latin typeface="Playfair Display" panose="020F0502020204030204" pitchFamily="2" charset="0"/>
                </a:rPr>
                <a:t>Contents</a:t>
              </a:r>
              <a:endParaRPr lang="fr-FR" sz="3850" dirty="0">
                <a:effectLst/>
                <a:latin typeface="Playfair Display" panose="020F0502020204030204" pitchFamily="2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7409096-D706-90CA-46D5-02D2703D6A3A}"/>
                </a:ext>
              </a:extLst>
            </p:cNvPr>
            <p:cNvSpPr txBox="1">
              <a:spLocks/>
            </p:cNvSpPr>
            <p:nvPr/>
          </p:nvSpPr>
          <p:spPr>
            <a:xfrm>
              <a:off x="904568" y="3429000"/>
              <a:ext cx="262693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buNone/>
              </a:pPr>
              <a:r>
                <a:rPr lang="en-US" spc="300" dirty="0">
                  <a:solidFill>
                    <a:srgbClr val="226DF6"/>
                  </a:solidFill>
                  <a:latin typeface="Libre Baskerville" panose="020F0502020204030204" pitchFamily="2" charset="0"/>
                </a:rPr>
                <a:t>CATALOGUE</a:t>
              </a:r>
              <a:endParaRPr lang="fr-FR" spc="300" dirty="0">
                <a:effectLst/>
                <a:latin typeface="Libre Baskerville" panose="020F0502020204030204" pitchFamily="2" charset="0"/>
              </a:endParaRPr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BDC79FDF-94A0-969E-E35E-3CA1E288C28B}"/>
              </a:ext>
            </a:extLst>
          </p:cNvPr>
          <p:cNvSpPr txBox="1"/>
          <p:nvPr/>
        </p:nvSpPr>
        <p:spPr>
          <a:xfrm>
            <a:off x="6209071" y="1212759"/>
            <a:ext cx="5982929" cy="35915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50000"/>
              </a:lnSpc>
              <a:buClr>
                <a:srgbClr val="226DF6"/>
              </a:buClr>
            </a:pPr>
            <a:r>
              <a:rPr lang="en-US" sz="3200" b="1" dirty="0">
                <a:solidFill>
                  <a:srgbClr val="226DF6"/>
                </a:solidFill>
              </a:rPr>
              <a:t>01</a:t>
            </a:r>
            <a:r>
              <a:rPr lang="en-US" sz="3200" dirty="0"/>
              <a:t>   </a:t>
            </a:r>
            <a:r>
              <a:rPr lang="fr-FR" sz="3200" dirty="0"/>
              <a:t>Project </a:t>
            </a:r>
            <a:r>
              <a:rPr lang="fr-FR" sz="3200" dirty="0" err="1"/>
              <a:t>Positioning</a:t>
            </a:r>
            <a:endParaRPr lang="en-US" sz="3200" dirty="0"/>
          </a:p>
          <a:p>
            <a:pPr>
              <a:lnSpc>
                <a:spcPct val="250000"/>
              </a:lnSpc>
              <a:buClr>
                <a:srgbClr val="226DF6"/>
              </a:buClr>
            </a:pPr>
            <a:r>
              <a:rPr lang="en-US" sz="3200" b="1" dirty="0">
                <a:solidFill>
                  <a:srgbClr val="226DF6"/>
                </a:solidFill>
              </a:rPr>
              <a:t>02   </a:t>
            </a:r>
            <a:r>
              <a:rPr lang="en-US" sz="3200" dirty="0"/>
              <a:t>Weekly Progress</a:t>
            </a:r>
          </a:p>
          <a:p>
            <a:pPr>
              <a:lnSpc>
                <a:spcPct val="250000"/>
              </a:lnSpc>
              <a:buClr>
                <a:srgbClr val="226DF6"/>
              </a:buClr>
            </a:pPr>
            <a:r>
              <a:rPr lang="en-US" sz="3200" b="1" dirty="0">
                <a:solidFill>
                  <a:srgbClr val="226DF6"/>
                </a:solidFill>
              </a:rPr>
              <a:t>03    </a:t>
            </a:r>
            <a:r>
              <a:rPr lang="en-US" sz="3200" dirty="0"/>
              <a:t>Planning and Next Steps</a:t>
            </a:r>
            <a:endParaRPr lang="fr-FR" sz="3200" dirty="0"/>
          </a:p>
        </p:txBody>
      </p:sp>
    </p:spTree>
    <p:extLst>
      <p:ext uri="{BB962C8B-B14F-4D97-AF65-F5344CB8AC3E}">
        <p14:creationId xmlns:p14="http://schemas.microsoft.com/office/powerpoint/2010/main" val="35033113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1F29278-D45F-10F8-0A34-2B02531A4CE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612"/>
            <a:ext cx="12192000" cy="686122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CC46A47-4813-6B0B-DCFF-FD5EA9A45B8F}"/>
              </a:ext>
            </a:extLst>
          </p:cNvPr>
          <p:cNvSpPr txBox="1"/>
          <p:nvPr/>
        </p:nvSpPr>
        <p:spPr>
          <a:xfrm>
            <a:off x="6371303" y="4940711"/>
            <a:ext cx="5397910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5400" b="1" dirty="0">
                <a:solidFill>
                  <a:srgbClr val="226DF6"/>
                </a:solidFill>
                <a:latin typeface="Playfair Display" panose="00000500000000000000" pitchFamily="2" charset="0"/>
              </a:rPr>
              <a:t>01</a:t>
            </a:r>
            <a:br>
              <a:rPr lang="en-US" sz="4000" b="1" dirty="0">
                <a:latin typeface="Playfair Display" panose="00000500000000000000" pitchFamily="2" charset="0"/>
              </a:rPr>
            </a:br>
            <a:r>
              <a:rPr lang="en-US" sz="4000" b="1" dirty="0">
                <a:latin typeface="Playfair Display" panose="00000500000000000000" pitchFamily="2" charset="0"/>
              </a:rPr>
              <a:t>Project Positioning</a:t>
            </a:r>
            <a:endParaRPr lang="fr-FR" sz="4000" b="1" dirty="0">
              <a:latin typeface="Playfair Display" panose="00000500000000000000" pitchFamily="2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810C65D-B695-A872-05B0-44F2CD8C18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r="50846"/>
          <a:stretch>
            <a:fillRect/>
          </a:stretch>
        </p:blipFill>
        <p:spPr>
          <a:xfrm>
            <a:off x="1" y="0"/>
            <a:ext cx="505378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08209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4013C3-E9BE-7FD0-22CC-E18DE5A142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D0B430D-CD5F-717F-5C5D-DF149DB64FE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612"/>
            <a:ext cx="12192000" cy="686122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4D4064C-DCD1-D44C-04F7-A3E5D2B5BD7F}"/>
              </a:ext>
            </a:extLst>
          </p:cNvPr>
          <p:cNvSpPr txBox="1"/>
          <p:nvPr/>
        </p:nvSpPr>
        <p:spPr>
          <a:xfrm>
            <a:off x="560437" y="250723"/>
            <a:ext cx="29274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 err="1">
                <a:solidFill>
                  <a:srgbClr val="226DF6"/>
                </a:solidFill>
                <a:latin typeface="Playfair Display" panose="00000500000000000000" pitchFamily="2" charset="0"/>
              </a:rPr>
              <a:t>Current</a:t>
            </a:r>
            <a:r>
              <a:rPr lang="fr-FR" sz="3200" b="1" dirty="0">
                <a:solidFill>
                  <a:srgbClr val="226DF6"/>
                </a:solidFill>
                <a:latin typeface="Playfair Display" panose="00000500000000000000" pitchFamily="2" charset="0"/>
              </a:rPr>
              <a:t> Phase</a:t>
            </a:r>
            <a:endParaRPr lang="fr-FR" sz="4800" dirty="0">
              <a:solidFill>
                <a:srgbClr val="226DF6"/>
              </a:solidFill>
              <a:effectLst/>
              <a:latin typeface="Playfair Display" panose="00000500000000000000" pitchFamily="2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78633A6-101C-9B23-BD3B-FA05C58498DF}"/>
              </a:ext>
            </a:extLst>
          </p:cNvPr>
          <p:cNvSpPr/>
          <p:nvPr/>
        </p:nvSpPr>
        <p:spPr>
          <a:xfrm>
            <a:off x="565248" y="938698"/>
            <a:ext cx="9796406" cy="1498598"/>
          </a:xfrm>
          <a:prstGeom prst="roundRect">
            <a:avLst/>
          </a:prstGeom>
          <a:gradFill flip="none" rotWithShape="1">
            <a:gsLst>
              <a:gs pos="0">
                <a:srgbClr val="FCFCFE"/>
              </a:gs>
              <a:gs pos="74000">
                <a:srgbClr val="FCFCFE"/>
              </a:gs>
              <a:gs pos="83000">
                <a:srgbClr val="FCFCFE"/>
              </a:gs>
              <a:gs pos="100000">
                <a:srgbClr val="FCFCFE"/>
              </a:gs>
            </a:gsLst>
            <a:lin ang="10800000" scaled="1"/>
            <a:tileRect/>
          </a:gra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  <a:endParaRPr lang="fr-FR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398EB3D-1BF1-E344-4405-5592B4ABB8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5350" y="1087833"/>
            <a:ext cx="6343403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fr-FR" altLang="fr-F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layfair Display" panose="00000500000000000000" pitchFamily="2" charset="0"/>
              </a:rPr>
              <a:t>Phase 1: Intelligent </a:t>
            </a:r>
            <a:r>
              <a:rPr kumimoji="0" lang="fr-FR" altLang="fr-F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Playfair Display" panose="00000500000000000000" pitchFamily="2" charset="0"/>
              </a:rPr>
              <a:t>Foundation</a:t>
            </a:r>
            <a:endParaRPr kumimoji="0" lang="fr-FR" altLang="fr-F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Playfair Display" panose="00000500000000000000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fr-FR" altLang="fr-F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layfair Display" panose="00000500000000000000" pitchFamily="2" charset="0"/>
              </a:rPr>
              <a:t>Focus: System Design and </a:t>
            </a:r>
            <a:r>
              <a:rPr kumimoji="0" lang="fr-FR" altLang="fr-F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Playfair Display" panose="00000500000000000000" pitchFamily="2" charset="0"/>
              </a:rPr>
              <a:t>Core</a:t>
            </a:r>
            <a:r>
              <a:rPr kumimoji="0" lang="fr-FR" altLang="fr-F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layfair Display" panose="00000500000000000000" pitchFamily="2" charset="0"/>
              </a:rPr>
              <a:t> Architecture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fr-FR" altLang="fr-F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layfair Display" panose="00000500000000000000" pitchFamily="2" charset="0"/>
              </a:rPr>
              <a:t>Goal of Week 03: Start </a:t>
            </a:r>
            <a:r>
              <a:rPr kumimoji="0" lang="fr-FR" altLang="fr-F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Playfair Display" panose="00000500000000000000" pitchFamily="2" charset="0"/>
              </a:rPr>
              <a:t>Implementing</a:t>
            </a:r>
            <a:endParaRPr kumimoji="0" lang="fr-FR" altLang="fr-F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Playfair Display" panose="00000500000000000000" pitchFamily="2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3110A9B-3E9F-2991-9D05-A69E838D4717}"/>
              </a:ext>
            </a:extLst>
          </p:cNvPr>
          <p:cNvSpPr/>
          <p:nvPr/>
        </p:nvSpPr>
        <p:spPr>
          <a:xfrm>
            <a:off x="560437" y="2586431"/>
            <a:ext cx="10005963" cy="4020846"/>
          </a:xfrm>
          <a:prstGeom prst="roundRect">
            <a:avLst/>
          </a:prstGeom>
          <a:gradFill flip="none" rotWithShape="1">
            <a:gsLst>
              <a:gs pos="0">
                <a:srgbClr val="FCFCFE"/>
              </a:gs>
              <a:gs pos="74000">
                <a:srgbClr val="FCFCFE"/>
              </a:gs>
              <a:gs pos="83000">
                <a:srgbClr val="FCFCFE"/>
              </a:gs>
              <a:gs pos="100000">
                <a:srgbClr val="FCFCFE"/>
              </a:gs>
            </a:gsLst>
            <a:lin ang="10800000" scaled="1"/>
            <a:tileRect/>
          </a:gra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  <a:endParaRPr lang="fr-FR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326CF89-86A6-A55A-B75F-03D66DE94A1C}"/>
              </a:ext>
            </a:extLst>
          </p:cNvPr>
          <p:cNvSpPr txBox="1"/>
          <p:nvPr/>
        </p:nvSpPr>
        <p:spPr>
          <a:xfrm>
            <a:off x="1035350" y="3106554"/>
            <a:ext cx="7866743" cy="3266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latin typeface="Playfair Display" panose="00000500000000000000" pitchFamily="2" charset="0"/>
              </a:rPr>
              <a:t>AI Recommendation Tool (Candidate Match)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Playfair Display" panose="00000500000000000000" pitchFamily="2" charset="0"/>
              </a:rPr>
              <a:t>Data Coherence AI</a:t>
            </a:r>
            <a:endParaRPr lang="fr-FR" sz="2000" dirty="0">
              <a:latin typeface="Playfair Display" panose="00000500000000000000" pitchFamily="2" charset="0"/>
            </a:endParaRPr>
          </a:p>
          <a:p>
            <a:pPr>
              <a:lnSpc>
                <a:spcPct val="150000"/>
              </a:lnSpc>
            </a:pPr>
            <a:r>
              <a:rPr lang="fr-FR" sz="2000" dirty="0">
                <a:latin typeface="Playfair Display" panose="00000500000000000000" pitchFamily="2" charset="0"/>
              </a:rPr>
              <a:t>AI </a:t>
            </a:r>
            <a:r>
              <a:rPr lang="fr-FR" sz="2000" dirty="0" err="1">
                <a:latin typeface="Playfair Display" panose="00000500000000000000" pitchFamily="2" charset="0"/>
              </a:rPr>
              <a:t>Predictive</a:t>
            </a:r>
            <a:r>
              <a:rPr lang="fr-FR" sz="2000" dirty="0">
                <a:latin typeface="Playfair Display" panose="00000500000000000000" pitchFamily="2" charset="0"/>
              </a:rPr>
              <a:t> Tool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Playfair Display" panose="00000500000000000000" pitchFamily="2" charset="0"/>
              </a:rPr>
              <a:t>Selection and Mission Update</a:t>
            </a:r>
            <a:endParaRPr lang="fr-FR" sz="2000" dirty="0">
              <a:latin typeface="Playfair Display" panose="00000500000000000000" pitchFamily="2" charset="0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latin typeface="Playfair Display" panose="00000500000000000000" pitchFamily="2" charset="0"/>
              </a:rPr>
              <a:t>Mission Deployment</a:t>
            </a:r>
            <a:endParaRPr lang="fr-FR" sz="2000" dirty="0">
              <a:latin typeface="Playfair Display" panose="00000500000000000000" pitchFamily="2" charset="0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latin typeface="Playfair Display" panose="00000500000000000000" pitchFamily="2" charset="0"/>
              </a:rPr>
              <a:t>Application Tracking System</a:t>
            </a:r>
            <a:endParaRPr lang="fr-FR" sz="2000" dirty="0">
              <a:latin typeface="Playfair Display" panose="00000500000000000000" pitchFamily="2" charset="0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latin typeface="Playfair Display" panose="00000500000000000000" pitchFamily="2" charset="0"/>
              </a:rPr>
              <a:t>Profile Engineering</a:t>
            </a:r>
            <a:endParaRPr lang="fr-FR" sz="2000" dirty="0">
              <a:latin typeface="Playfair Display" panose="00000500000000000000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E40C37F-A465-A4BC-29A4-3FE7934CC582}"/>
              </a:ext>
            </a:extLst>
          </p:cNvPr>
          <p:cNvSpPr txBox="1"/>
          <p:nvPr/>
        </p:nvSpPr>
        <p:spPr>
          <a:xfrm>
            <a:off x="1035350" y="2726586"/>
            <a:ext cx="20168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226DF6"/>
                </a:solidFill>
                <a:effectLst/>
                <a:latin typeface="Playfair Display" panose="00000500000000000000" pitchFamily="2" charset="0"/>
              </a:rPr>
              <a:t>P</a:t>
            </a:r>
            <a:r>
              <a:rPr lang="fr-FR" sz="2400" dirty="0">
                <a:solidFill>
                  <a:srgbClr val="226DF6"/>
                </a:solidFill>
                <a:effectLst/>
                <a:latin typeface="Playfair Display" panose="00000500000000000000" pitchFamily="2" charset="0"/>
              </a:rPr>
              <a:t>hase </a:t>
            </a:r>
            <a:r>
              <a:rPr lang="fr-FR" sz="2400" dirty="0" err="1">
                <a:solidFill>
                  <a:srgbClr val="226DF6"/>
                </a:solidFill>
                <a:effectLst/>
                <a:latin typeface="Playfair Display" panose="00000500000000000000" pitchFamily="2" charset="0"/>
              </a:rPr>
              <a:t>Tasks</a:t>
            </a:r>
            <a:r>
              <a:rPr lang="fr-FR" sz="2400" dirty="0">
                <a:solidFill>
                  <a:srgbClr val="226DF6"/>
                </a:solidFill>
                <a:effectLst/>
                <a:latin typeface="Playfair Display" panose="00000500000000000000" pitchFamily="2" charset="0"/>
              </a:rPr>
              <a:t>:</a:t>
            </a:r>
            <a:endParaRPr lang="fr-FR" sz="4000" dirty="0">
              <a:solidFill>
                <a:srgbClr val="226DF6"/>
              </a:solidFill>
              <a:effectLst/>
              <a:latin typeface="Playfair Display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06519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79D967-A683-5283-57D7-AEEE461B43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1286ADA-6E98-9A44-569A-773E3663542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612"/>
            <a:ext cx="12192000" cy="686122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3ADF2D7-CA42-4757-057E-83F89BEB8A7A}"/>
              </a:ext>
            </a:extLst>
          </p:cNvPr>
          <p:cNvSpPr txBox="1"/>
          <p:nvPr/>
        </p:nvSpPr>
        <p:spPr>
          <a:xfrm>
            <a:off x="560437" y="250723"/>
            <a:ext cx="34612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>
                <a:solidFill>
                  <a:srgbClr val="226DF6"/>
                </a:solidFill>
                <a:latin typeface="Playfair Display" panose="00000500000000000000" pitchFamily="2" charset="0"/>
              </a:rPr>
              <a:t>Weekly Objective</a:t>
            </a:r>
            <a:endParaRPr lang="fr-FR" sz="4800" dirty="0">
              <a:solidFill>
                <a:srgbClr val="226DF6"/>
              </a:solidFill>
              <a:effectLst/>
              <a:latin typeface="Playfair Display" panose="00000500000000000000" pitchFamily="2" charset="0"/>
            </a:endParaRPr>
          </a:p>
        </p:txBody>
      </p:sp>
      <p:sp>
        <p:nvSpPr>
          <p:cNvPr id="10" name="Flowchart: Terminator 9">
            <a:extLst>
              <a:ext uri="{FF2B5EF4-FFF2-40B4-BE49-F238E27FC236}">
                <a16:creationId xmlns:a16="http://schemas.microsoft.com/office/drawing/2014/main" id="{E9CDCC41-2BF5-526B-C0F9-A70D1852418A}"/>
              </a:ext>
            </a:extLst>
          </p:cNvPr>
          <p:cNvSpPr/>
          <p:nvPr/>
        </p:nvSpPr>
        <p:spPr>
          <a:xfrm>
            <a:off x="1436328" y="1015823"/>
            <a:ext cx="1130588" cy="584775"/>
          </a:xfrm>
          <a:prstGeom prst="flowChartTerminator">
            <a:avLst/>
          </a:prstGeom>
          <a:solidFill>
            <a:srgbClr val="226DF6"/>
          </a:solidFill>
          <a:ln>
            <a:solidFill>
              <a:srgbClr val="226DF6"/>
            </a:solidFill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B164615-E4BA-2029-F4F0-B911212AA940}"/>
              </a:ext>
            </a:extLst>
          </p:cNvPr>
          <p:cNvSpPr txBox="1"/>
          <p:nvPr/>
        </p:nvSpPr>
        <p:spPr>
          <a:xfrm>
            <a:off x="1725745" y="1077377"/>
            <a:ext cx="5517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Libre Baskerville" panose="02000000000000000000" pitchFamily="2" charset="0"/>
              </a:rPr>
              <a:t>01</a:t>
            </a:r>
            <a:endParaRPr lang="fr-FR" sz="2400" b="1" dirty="0">
              <a:solidFill>
                <a:schemeClr val="bg1"/>
              </a:solidFill>
              <a:latin typeface="Libre Baskerville" panose="02000000000000000000" pitchFamily="2" charset="0"/>
            </a:endParaRPr>
          </a:p>
        </p:txBody>
      </p:sp>
      <p:sp>
        <p:nvSpPr>
          <p:cNvPr id="15" name="Flowchart: Terminator 14">
            <a:extLst>
              <a:ext uri="{FF2B5EF4-FFF2-40B4-BE49-F238E27FC236}">
                <a16:creationId xmlns:a16="http://schemas.microsoft.com/office/drawing/2014/main" id="{B94B82A5-E29B-3834-AB0C-30130D4E2A00}"/>
              </a:ext>
            </a:extLst>
          </p:cNvPr>
          <p:cNvSpPr/>
          <p:nvPr/>
        </p:nvSpPr>
        <p:spPr>
          <a:xfrm>
            <a:off x="1442575" y="2768075"/>
            <a:ext cx="1130588" cy="584775"/>
          </a:xfrm>
          <a:prstGeom prst="flowChartTerminator">
            <a:avLst/>
          </a:prstGeom>
          <a:solidFill>
            <a:srgbClr val="226DF6"/>
          </a:solidFill>
          <a:ln>
            <a:solidFill>
              <a:srgbClr val="226DF6"/>
            </a:solidFill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E361E15-6C8B-2AE6-2442-D3FF7FF0513C}"/>
              </a:ext>
            </a:extLst>
          </p:cNvPr>
          <p:cNvSpPr txBox="1"/>
          <p:nvPr/>
        </p:nvSpPr>
        <p:spPr>
          <a:xfrm>
            <a:off x="1699130" y="2829629"/>
            <a:ext cx="6174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Libre Baskerville" panose="02000000000000000000" pitchFamily="2" charset="0"/>
              </a:rPr>
              <a:t>02</a:t>
            </a:r>
            <a:endParaRPr lang="fr-FR" sz="2400" b="1" dirty="0">
              <a:solidFill>
                <a:schemeClr val="bg1"/>
              </a:solidFill>
              <a:latin typeface="Libre Baskerville" panose="02000000000000000000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A1CBDCB-3040-6244-C261-FD2D8108E481}"/>
              </a:ext>
            </a:extLst>
          </p:cNvPr>
          <p:cNvSpPr txBox="1"/>
          <p:nvPr/>
        </p:nvSpPr>
        <p:spPr>
          <a:xfrm>
            <a:off x="2864520" y="2768075"/>
            <a:ext cx="48141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err="1">
                <a:solidFill>
                  <a:srgbClr val="226DF6"/>
                </a:solidFill>
                <a:latin typeface="Playfair Display" panose="00000500000000000000" pitchFamily="2" charset="0"/>
              </a:rPr>
              <a:t>Schemas</a:t>
            </a:r>
            <a:r>
              <a:rPr lang="fr-FR" sz="2400" dirty="0">
                <a:solidFill>
                  <a:srgbClr val="226DF6"/>
                </a:solidFill>
                <a:latin typeface="Playfair Display" panose="00000500000000000000" pitchFamily="2" charset="0"/>
              </a:rPr>
              <a:t> and Service </a:t>
            </a:r>
            <a:r>
              <a:rPr lang="fr-FR" sz="2400" dirty="0" err="1">
                <a:solidFill>
                  <a:srgbClr val="226DF6"/>
                </a:solidFill>
                <a:latin typeface="Playfair Display" panose="00000500000000000000" pitchFamily="2" charset="0"/>
              </a:rPr>
              <a:t>Integration</a:t>
            </a:r>
            <a:endParaRPr lang="fr-FR" sz="2400" dirty="0">
              <a:solidFill>
                <a:srgbClr val="226DF6"/>
              </a:solidFill>
              <a:latin typeface="Playfair Display" panose="00000500000000000000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8716119-137A-4C2C-F8FA-C2CBFC6CEA9E}"/>
              </a:ext>
            </a:extLst>
          </p:cNvPr>
          <p:cNvSpPr txBox="1"/>
          <p:nvPr/>
        </p:nvSpPr>
        <p:spPr>
          <a:xfrm>
            <a:off x="2823471" y="4521456"/>
            <a:ext cx="47115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err="1">
                <a:solidFill>
                  <a:srgbClr val="226DF6"/>
                </a:solidFill>
                <a:latin typeface="Playfair Display" panose="00000500000000000000" pitchFamily="2" charset="0"/>
              </a:rPr>
              <a:t>Develop</a:t>
            </a:r>
            <a:r>
              <a:rPr lang="fr-FR" sz="2400" dirty="0">
                <a:solidFill>
                  <a:srgbClr val="226DF6"/>
                </a:solidFill>
                <a:latin typeface="Playfair Display" panose="00000500000000000000" pitchFamily="2" charset="0"/>
              </a:rPr>
              <a:t> </a:t>
            </a:r>
            <a:r>
              <a:rPr lang="fr-FR" sz="2400" dirty="0" err="1">
                <a:solidFill>
                  <a:srgbClr val="226DF6"/>
                </a:solidFill>
                <a:latin typeface="Playfair Display" panose="00000500000000000000" pitchFamily="2" charset="0"/>
              </a:rPr>
              <a:t>Core</a:t>
            </a:r>
            <a:r>
              <a:rPr lang="fr-FR" sz="2400" dirty="0">
                <a:solidFill>
                  <a:srgbClr val="226DF6"/>
                </a:solidFill>
                <a:latin typeface="Playfair Display" panose="00000500000000000000" pitchFamily="2" charset="0"/>
              </a:rPr>
              <a:t> Backend </a:t>
            </a:r>
            <a:r>
              <a:rPr lang="fr-FR" sz="2400" dirty="0" err="1">
                <a:solidFill>
                  <a:srgbClr val="226DF6"/>
                </a:solidFill>
                <a:latin typeface="Playfair Display" panose="00000500000000000000" pitchFamily="2" charset="0"/>
              </a:rPr>
              <a:t>Features</a:t>
            </a:r>
            <a:endParaRPr lang="fr-FR" sz="2400" dirty="0">
              <a:solidFill>
                <a:srgbClr val="226DF6"/>
              </a:solidFill>
              <a:latin typeface="Playfair Display" panose="000005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87349C1-C068-9951-9DDA-633F547CC908}"/>
              </a:ext>
            </a:extLst>
          </p:cNvPr>
          <p:cNvSpPr txBox="1"/>
          <p:nvPr/>
        </p:nvSpPr>
        <p:spPr>
          <a:xfrm>
            <a:off x="2864520" y="3322103"/>
            <a:ext cx="64629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Playfair Display" panose="00000500000000000000" pitchFamily="2" charset="0"/>
              </a:rPr>
              <a:t>connect each schema to its corresponding microservice.</a:t>
            </a:r>
            <a:endParaRPr lang="fr-FR" sz="2000" dirty="0">
              <a:latin typeface="Playfair Display" panose="00000500000000000000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B75CEE1-3032-C838-0131-0E60B275BD52}"/>
              </a:ext>
            </a:extLst>
          </p:cNvPr>
          <p:cNvSpPr txBox="1"/>
          <p:nvPr/>
        </p:nvSpPr>
        <p:spPr>
          <a:xfrm>
            <a:off x="2823471" y="4983121"/>
            <a:ext cx="518001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Playfair Display" panose="00000500000000000000" pitchFamily="2" charset="0"/>
              </a:rPr>
              <a:t>implement selected core functionalities within the connected microservices to initiate real business logic execution.</a:t>
            </a:r>
            <a:endParaRPr lang="fr-FR" sz="2000" dirty="0">
              <a:latin typeface="Playfair Display" panose="00000500000000000000" pitchFamily="2" charset="0"/>
            </a:endParaRPr>
          </a:p>
        </p:txBody>
      </p:sp>
      <p:sp>
        <p:nvSpPr>
          <p:cNvPr id="11" name="Flowchart: Terminator 10">
            <a:extLst>
              <a:ext uri="{FF2B5EF4-FFF2-40B4-BE49-F238E27FC236}">
                <a16:creationId xmlns:a16="http://schemas.microsoft.com/office/drawing/2014/main" id="{CAB1BCF0-0413-C269-63AB-EB4869A5EF56}"/>
              </a:ext>
            </a:extLst>
          </p:cNvPr>
          <p:cNvSpPr/>
          <p:nvPr/>
        </p:nvSpPr>
        <p:spPr>
          <a:xfrm>
            <a:off x="1436328" y="4521456"/>
            <a:ext cx="1130588" cy="584775"/>
          </a:xfrm>
          <a:prstGeom prst="flowChartTerminator">
            <a:avLst/>
          </a:prstGeom>
          <a:solidFill>
            <a:srgbClr val="226DF6"/>
          </a:solidFill>
          <a:ln>
            <a:solidFill>
              <a:srgbClr val="226DF6"/>
            </a:solidFill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5C0B8F1-8659-D30D-FED4-80A26EFD0064}"/>
              </a:ext>
            </a:extLst>
          </p:cNvPr>
          <p:cNvSpPr txBox="1"/>
          <p:nvPr/>
        </p:nvSpPr>
        <p:spPr>
          <a:xfrm>
            <a:off x="1692883" y="4583010"/>
            <a:ext cx="6174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Libre Baskerville" panose="02000000000000000000" pitchFamily="2" charset="0"/>
              </a:rPr>
              <a:t>02</a:t>
            </a:r>
            <a:endParaRPr lang="fr-FR" sz="2400" b="1" dirty="0">
              <a:solidFill>
                <a:schemeClr val="bg1"/>
              </a:solidFill>
              <a:latin typeface="Libre Baskerville" panose="02000000000000000000" pitchFamily="2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F130B46-EA4F-5226-EA5A-608F3ABB16DE}"/>
              </a:ext>
            </a:extLst>
          </p:cNvPr>
          <p:cNvSpPr txBox="1"/>
          <p:nvPr/>
        </p:nvSpPr>
        <p:spPr>
          <a:xfrm>
            <a:off x="2845792" y="956677"/>
            <a:ext cx="50850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err="1">
                <a:solidFill>
                  <a:srgbClr val="226DF6"/>
                </a:solidFill>
                <a:latin typeface="Playfair Display" panose="00000500000000000000" pitchFamily="2" charset="0"/>
              </a:rPr>
              <a:t>Deploy</a:t>
            </a:r>
            <a:r>
              <a:rPr lang="fr-FR" sz="2400" dirty="0">
                <a:solidFill>
                  <a:srgbClr val="226DF6"/>
                </a:solidFill>
                <a:latin typeface="Playfair Display" panose="00000500000000000000" pitchFamily="2" charset="0"/>
              </a:rPr>
              <a:t> PostgreSQL Infrastructure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11CCEB8-6134-FA66-F550-43427BD7C931}"/>
              </a:ext>
            </a:extLst>
          </p:cNvPr>
          <p:cNvSpPr txBox="1"/>
          <p:nvPr/>
        </p:nvSpPr>
        <p:spPr>
          <a:xfrm>
            <a:off x="2856333" y="1499202"/>
            <a:ext cx="582996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Playfair Display" panose="00000500000000000000" pitchFamily="2" charset="0"/>
              </a:rPr>
              <a:t>deploy PostgreSQL using Docker to establish a stable, containerized relational database environment.</a:t>
            </a:r>
            <a:endParaRPr lang="fr-FR" sz="2000" dirty="0">
              <a:latin typeface="Playfair Display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7140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0A0755-A06C-49D8-78D7-59CB564AF1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BE7DFC2-2AA5-D2D7-6EA5-CEE3B57FB77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612"/>
            <a:ext cx="12192000" cy="686122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C2C9DF1-4DB8-D7F7-4782-5A0FF54E7996}"/>
              </a:ext>
            </a:extLst>
          </p:cNvPr>
          <p:cNvSpPr txBox="1"/>
          <p:nvPr/>
        </p:nvSpPr>
        <p:spPr>
          <a:xfrm>
            <a:off x="7138219" y="4940711"/>
            <a:ext cx="4630994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5400" b="1" dirty="0">
                <a:solidFill>
                  <a:srgbClr val="226DF6"/>
                </a:solidFill>
                <a:latin typeface="Playfair Display" panose="00000500000000000000" pitchFamily="2" charset="0"/>
              </a:rPr>
              <a:t>02</a:t>
            </a:r>
            <a:br>
              <a:rPr lang="en-US" sz="4000" b="1" dirty="0">
                <a:latin typeface="Playfair Display" panose="00000500000000000000" pitchFamily="2" charset="0"/>
              </a:rPr>
            </a:br>
            <a:r>
              <a:rPr lang="en-US" sz="4000" b="1" dirty="0">
                <a:latin typeface="Playfair Display" panose="00000500000000000000" pitchFamily="2" charset="0"/>
              </a:rPr>
              <a:t>Weekly Progress</a:t>
            </a:r>
            <a:endParaRPr lang="fr-FR" sz="4000" b="1" dirty="0">
              <a:latin typeface="Playfair Display" panose="00000500000000000000" pitchFamily="2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8E8F0D8-C412-D8F8-C3B6-869896E1B4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937" t="24" r="37812" b="-24"/>
          <a:stretch>
            <a:fillRect/>
          </a:stretch>
        </p:blipFill>
        <p:spPr>
          <a:xfrm>
            <a:off x="0" y="0"/>
            <a:ext cx="50292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86995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5F7D34-45AA-3599-AACC-95598A94A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ED8408B-81CA-3C59-F9C9-7657A0B613B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612"/>
            <a:ext cx="12192000" cy="686122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14F8B4C-13FE-CC13-13A6-B8C34334C6BD}"/>
              </a:ext>
            </a:extLst>
          </p:cNvPr>
          <p:cNvSpPr txBox="1"/>
          <p:nvPr/>
        </p:nvSpPr>
        <p:spPr>
          <a:xfrm>
            <a:off x="353962" y="250723"/>
            <a:ext cx="550182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>
                <a:solidFill>
                  <a:srgbClr val="226DF6"/>
                </a:solidFill>
                <a:latin typeface="Playfair Display" panose="00000500000000000000" pitchFamily="2" charset="0"/>
              </a:rPr>
              <a:t>Work </a:t>
            </a:r>
            <a:r>
              <a:rPr lang="fr-FR" sz="3200" b="1" dirty="0" err="1">
                <a:solidFill>
                  <a:srgbClr val="226DF6"/>
                </a:solidFill>
                <a:latin typeface="Playfair Display" panose="00000500000000000000" pitchFamily="2" charset="0"/>
              </a:rPr>
              <a:t>Completed</a:t>
            </a:r>
            <a:r>
              <a:rPr lang="fr-FR" sz="3200" b="1" dirty="0">
                <a:solidFill>
                  <a:srgbClr val="226DF6"/>
                </a:solidFill>
                <a:latin typeface="Playfair Display" panose="00000500000000000000" pitchFamily="2" charset="0"/>
              </a:rPr>
              <a:t> This Week</a:t>
            </a:r>
            <a:endParaRPr lang="fr-FR" sz="3200" dirty="0">
              <a:solidFill>
                <a:srgbClr val="226DF6"/>
              </a:solidFill>
              <a:latin typeface="Playfair Display" panose="00000500000000000000" pitchFamily="2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64725F3-FF7E-D889-2DAC-03610EB67F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18" t="2619" r="1563" b="3526"/>
          <a:stretch>
            <a:fillRect/>
          </a:stretch>
        </p:blipFill>
        <p:spPr>
          <a:xfrm>
            <a:off x="180140" y="830035"/>
            <a:ext cx="12011860" cy="6035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7786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3B9E3A-6E1B-21E3-2B98-CA16152806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4A394C3-B04D-A8FE-CA13-BD22E8D6A6A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612"/>
            <a:ext cx="12192000" cy="686122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251B067-3809-FDCA-2328-09550E3D87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94" t="40457" r="5466" b="32935"/>
          <a:stretch>
            <a:fillRect/>
          </a:stretch>
        </p:blipFill>
        <p:spPr>
          <a:xfrm>
            <a:off x="162698" y="1933014"/>
            <a:ext cx="11646311" cy="212052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577B844-115B-0301-D667-5F1B42BDB2ED}"/>
              </a:ext>
            </a:extLst>
          </p:cNvPr>
          <p:cNvSpPr txBox="1"/>
          <p:nvPr/>
        </p:nvSpPr>
        <p:spPr>
          <a:xfrm>
            <a:off x="353962" y="250723"/>
            <a:ext cx="550182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>
                <a:solidFill>
                  <a:srgbClr val="226DF6"/>
                </a:solidFill>
                <a:latin typeface="Playfair Display" panose="00000500000000000000" pitchFamily="2" charset="0"/>
              </a:rPr>
              <a:t>Work </a:t>
            </a:r>
            <a:r>
              <a:rPr lang="fr-FR" sz="3200" b="1" dirty="0" err="1">
                <a:solidFill>
                  <a:srgbClr val="226DF6"/>
                </a:solidFill>
                <a:latin typeface="Playfair Display" panose="00000500000000000000" pitchFamily="2" charset="0"/>
              </a:rPr>
              <a:t>Completed</a:t>
            </a:r>
            <a:r>
              <a:rPr lang="fr-FR" sz="3200" b="1" dirty="0">
                <a:solidFill>
                  <a:srgbClr val="226DF6"/>
                </a:solidFill>
                <a:latin typeface="Playfair Display" panose="00000500000000000000" pitchFamily="2" charset="0"/>
              </a:rPr>
              <a:t> This Week</a:t>
            </a:r>
            <a:endParaRPr lang="fr-FR" sz="3200" dirty="0">
              <a:solidFill>
                <a:srgbClr val="226DF6"/>
              </a:solidFill>
              <a:latin typeface="Playfair Display" panose="00000500000000000000" pitchFamily="2" charset="0"/>
            </a:endParaRPr>
          </a:p>
        </p:txBody>
      </p:sp>
      <p:pic>
        <p:nvPicPr>
          <p:cNvPr id="4" name="Graphic 3" descr="Arrow Down with solid fill">
            <a:extLst>
              <a:ext uri="{FF2B5EF4-FFF2-40B4-BE49-F238E27FC236}">
                <a16:creationId xmlns:a16="http://schemas.microsoft.com/office/drawing/2014/main" id="{D2D1D168-69BB-A2FB-7062-31D7D9D5279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42131" y="1567104"/>
            <a:ext cx="914400" cy="914400"/>
          </a:xfrm>
          <a:prstGeom prst="rect">
            <a:avLst/>
          </a:prstGeom>
        </p:spPr>
      </p:pic>
      <p:pic>
        <p:nvPicPr>
          <p:cNvPr id="6" name="Graphic 5" descr="Arrow Down with solid fill">
            <a:extLst>
              <a:ext uri="{FF2B5EF4-FFF2-40B4-BE49-F238E27FC236}">
                <a16:creationId xmlns:a16="http://schemas.microsoft.com/office/drawing/2014/main" id="{D700AF56-0084-25E1-4BD9-3BC96C8419E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547405" y="1564777"/>
            <a:ext cx="914400" cy="914400"/>
          </a:xfrm>
          <a:prstGeom prst="rect">
            <a:avLst/>
          </a:prstGeom>
        </p:spPr>
      </p:pic>
      <p:pic>
        <p:nvPicPr>
          <p:cNvPr id="8" name="Graphic 7" descr="Arrow Down with solid fill">
            <a:extLst>
              <a:ext uri="{FF2B5EF4-FFF2-40B4-BE49-F238E27FC236}">
                <a16:creationId xmlns:a16="http://schemas.microsoft.com/office/drawing/2014/main" id="{CAD3FC96-B3CD-839C-9786-2892CBD7F76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14602" y="1567104"/>
            <a:ext cx="914400" cy="914400"/>
          </a:xfrm>
          <a:prstGeom prst="rect">
            <a:avLst/>
          </a:prstGeom>
        </p:spPr>
      </p:pic>
      <p:pic>
        <p:nvPicPr>
          <p:cNvPr id="15" name="Graphic 14" descr="Arrow Down with solid fill">
            <a:extLst>
              <a:ext uri="{FF2B5EF4-FFF2-40B4-BE49-F238E27FC236}">
                <a16:creationId xmlns:a16="http://schemas.microsoft.com/office/drawing/2014/main" id="{9A1EEB5F-2E78-1FE0-E8F4-C0CB8B9BEA8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942751" y="1567104"/>
            <a:ext cx="914400" cy="9144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371BDFF-EEFF-2F36-B165-529A8C83CAF8}"/>
              </a:ext>
            </a:extLst>
          </p:cNvPr>
          <p:cNvSpPr txBox="1"/>
          <p:nvPr/>
        </p:nvSpPr>
        <p:spPr>
          <a:xfrm>
            <a:off x="382991" y="936283"/>
            <a:ext cx="430438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 err="1">
                <a:latin typeface="Playfair Display" panose="00000500000000000000" pitchFamily="2" charset="0"/>
              </a:rPr>
              <a:t>Concerned</a:t>
            </a:r>
            <a:r>
              <a:rPr lang="fr-FR" sz="2800" dirty="0">
                <a:latin typeface="Playfair Display" panose="00000500000000000000" pitchFamily="2" charset="0"/>
              </a:rPr>
              <a:t> </a:t>
            </a:r>
            <a:r>
              <a:rPr lang="fr-FR" sz="2800" dirty="0" err="1">
                <a:latin typeface="Playfair Display" panose="00000500000000000000" pitchFamily="2" charset="0"/>
              </a:rPr>
              <a:t>Microservices</a:t>
            </a:r>
            <a:endParaRPr lang="fr-FR" sz="2800" dirty="0">
              <a:latin typeface="Playfair Display" panose="00000500000000000000" pitchFamily="2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A6A7A5E-7A4D-59C5-06E3-EBEC64A0BD62}"/>
              </a:ext>
            </a:extLst>
          </p:cNvPr>
          <p:cNvSpPr txBox="1"/>
          <p:nvPr/>
        </p:nvSpPr>
        <p:spPr>
          <a:xfrm>
            <a:off x="353962" y="4203351"/>
            <a:ext cx="36824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 err="1">
                <a:latin typeface="Playfair Display" panose="00000500000000000000" pitchFamily="2" charset="0"/>
              </a:rPr>
              <a:t>Concerned</a:t>
            </a:r>
            <a:r>
              <a:rPr lang="fr-FR" sz="2800" dirty="0">
                <a:latin typeface="Playfair Display" panose="00000500000000000000" pitchFamily="2" charset="0"/>
              </a:rPr>
              <a:t> </a:t>
            </a:r>
            <a:r>
              <a:rPr lang="fr-FR" sz="2800" dirty="0" err="1">
                <a:latin typeface="Playfair Display" panose="00000500000000000000" pitchFamily="2" charset="0"/>
              </a:rPr>
              <a:t>Databases</a:t>
            </a:r>
            <a:endParaRPr lang="fr-FR" sz="2800" dirty="0">
              <a:latin typeface="Playfair Display" panose="00000500000000000000" pitchFamily="2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56F7B74-C0BC-E056-E77C-DB7C5D2CAB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51" t="72472" r="5368" b="5682"/>
          <a:stretch>
            <a:fillRect/>
          </a:stretch>
        </p:blipFill>
        <p:spPr>
          <a:xfrm>
            <a:off x="289902" y="4956564"/>
            <a:ext cx="11391901" cy="1741047"/>
          </a:xfrm>
          <a:prstGeom prst="rect">
            <a:avLst/>
          </a:prstGeom>
        </p:spPr>
      </p:pic>
      <p:pic>
        <p:nvPicPr>
          <p:cNvPr id="24" name="Graphic 23" descr="Arrow Down with solid fill">
            <a:extLst>
              <a:ext uri="{FF2B5EF4-FFF2-40B4-BE49-F238E27FC236}">
                <a16:creationId xmlns:a16="http://schemas.microsoft.com/office/drawing/2014/main" id="{51A15B84-E96B-B3F0-19CB-3AE2DBD8992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25782" y="4724244"/>
            <a:ext cx="769389" cy="769389"/>
          </a:xfrm>
          <a:prstGeom prst="rect">
            <a:avLst/>
          </a:prstGeom>
        </p:spPr>
      </p:pic>
      <p:pic>
        <p:nvPicPr>
          <p:cNvPr id="25" name="Graphic 24" descr="Arrow Down with solid fill">
            <a:extLst>
              <a:ext uri="{FF2B5EF4-FFF2-40B4-BE49-F238E27FC236}">
                <a16:creationId xmlns:a16="http://schemas.microsoft.com/office/drawing/2014/main" id="{5B7408F6-607D-9F2F-8622-B15C826C533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65405" y="4724243"/>
            <a:ext cx="769389" cy="769389"/>
          </a:xfrm>
          <a:prstGeom prst="rect">
            <a:avLst/>
          </a:prstGeom>
        </p:spPr>
      </p:pic>
      <p:pic>
        <p:nvPicPr>
          <p:cNvPr id="26" name="Graphic 25" descr="Arrow Down with solid fill">
            <a:extLst>
              <a:ext uri="{FF2B5EF4-FFF2-40B4-BE49-F238E27FC236}">
                <a16:creationId xmlns:a16="http://schemas.microsoft.com/office/drawing/2014/main" id="{292458BC-D29F-CBEC-3525-E37AFA81AEA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006085" y="4764100"/>
            <a:ext cx="769389" cy="769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50783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0DBED9-45C4-F6F4-4089-EB65C486DC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8169A31-51A2-C646-995D-E24A70F627F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612"/>
            <a:ext cx="12192000" cy="686122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36CF3A6-5B33-AACC-156C-16A73C59F867}"/>
              </a:ext>
            </a:extLst>
          </p:cNvPr>
          <p:cNvSpPr txBox="1"/>
          <p:nvPr/>
        </p:nvSpPr>
        <p:spPr>
          <a:xfrm>
            <a:off x="353962" y="250723"/>
            <a:ext cx="550182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>
                <a:solidFill>
                  <a:srgbClr val="226DF6"/>
                </a:solidFill>
                <a:latin typeface="Playfair Display" panose="00000500000000000000" pitchFamily="2" charset="0"/>
              </a:rPr>
              <a:t>Work </a:t>
            </a:r>
            <a:r>
              <a:rPr lang="fr-FR" sz="3200" b="1" dirty="0" err="1">
                <a:solidFill>
                  <a:srgbClr val="226DF6"/>
                </a:solidFill>
                <a:latin typeface="Playfair Display" panose="00000500000000000000" pitchFamily="2" charset="0"/>
              </a:rPr>
              <a:t>Completed</a:t>
            </a:r>
            <a:r>
              <a:rPr lang="fr-FR" sz="3200" b="1" dirty="0">
                <a:solidFill>
                  <a:srgbClr val="226DF6"/>
                </a:solidFill>
                <a:latin typeface="Playfair Display" panose="00000500000000000000" pitchFamily="2" charset="0"/>
              </a:rPr>
              <a:t> This Week</a:t>
            </a:r>
            <a:endParaRPr lang="fr-FR" sz="3200" dirty="0">
              <a:solidFill>
                <a:srgbClr val="226DF6"/>
              </a:solidFill>
              <a:latin typeface="Playfair Display" panose="00000500000000000000" pitchFamily="2" charset="0"/>
            </a:endParaRP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EA52FE79-E61D-29B7-6421-D6D7B5350F86}"/>
              </a:ext>
            </a:extLst>
          </p:cNvPr>
          <p:cNvSpPr/>
          <p:nvPr/>
        </p:nvSpPr>
        <p:spPr>
          <a:xfrm>
            <a:off x="972457" y="1705861"/>
            <a:ext cx="9985829" cy="2281207"/>
          </a:xfrm>
          <a:prstGeom prst="roundRect">
            <a:avLst/>
          </a:prstGeom>
          <a:gradFill flip="none" rotWithShape="1">
            <a:gsLst>
              <a:gs pos="0">
                <a:srgbClr val="FCFCFE"/>
              </a:gs>
              <a:gs pos="74000">
                <a:srgbClr val="FCFCFE"/>
              </a:gs>
              <a:gs pos="83000">
                <a:srgbClr val="FCFCFE"/>
              </a:gs>
              <a:gs pos="100000">
                <a:srgbClr val="FCFCFE"/>
              </a:gs>
            </a:gsLst>
            <a:lin ang="10800000" scaled="1"/>
            <a:tileRect/>
          </a:gra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fr-FR" sz="2000" dirty="0" err="1">
                <a:solidFill>
                  <a:srgbClr val="226DF6"/>
                </a:solidFill>
                <a:latin typeface="Playfair Display" panose="00000500000000000000" pitchFamily="2" charset="0"/>
              </a:rPr>
              <a:t>Databases</a:t>
            </a:r>
            <a:r>
              <a:rPr lang="fr-FR" sz="2000" dirty="0">
                <a:solidFill>
                  <a:srgbClr val="226DF6"/>
                </a:solidFill>
                <a:latin typeface="Playfair Display" panose="00000500000000000000" pitchFamily="2" charset="0"/>
              </a:rPr>
              <a:t> </a:t>
            </a:r>
            <a:r>
              <a:rPr lang="fr-FR" sz="2000" dirty="0" err="1">
                <a:solidFill>
                  <a:srgbClr val="226DF6"/>
                </a:solidFill>
                <a:latin typeface="Playfair Display" panose="00000500000000000000" pitchFamily="2" charset="0"/>
              </a:rPr>
              <a:t>Deployed</a:t>
            </a:r>
            <a:r>
              <a:rPr lang="fr-FR" sz="2000" dirty="0">
                <a:solidFill>
                  <a:srgbClr val="226DF6"/>
                </a:solidFill>
                <a:latin typeface="Playfair Display" panose="00000500000000000000" pitchFamily="2" charset="0"/>
              </a:rPr>
              <a:t> </a:t>
            </a:r>
          </a:p>
          <a:p>
            <a:pPr algn="l"/>
            <a:r>
              <a:rPr lang="en-US" dirty="0">
                <a:solidFill>
                  <a:schemeClr val="tx1"/>
                </a:solidFill>
                <a:latin typeface="Playfair Display" panose="00000500000000000000" pitchFamily="2" charset="0"/>
              </a:rPr>
              <a:t>PostgreSQL – Relational database for structured data</a:t>
            </a:r>
          </a:p>
          <a:p>
            <a:pPr algn="l"/>
            <a:r>
              <a:rPr lang="en-US" dirty="0">
                <a:solidFill>
                  <a:schemeClr val="tx1"/>
                </a:solidFill>
                <a:latin typeface="Playfair Display" panose="00000500000000000000" pitchFamily="2" charset="0"/>
              </a:rPr>
              <a:t>Redis – In-memory data store for caching, messaging, and event streaming</a:t>
            </a:r>
          </a:p>
          <a:p>
            <a:pPr algn="l"/>
            <a:r>
              <a:rPr lang="en-US" dirty="0">
                <a:solidFill>
                  <a:schemeClr val="tx1"/>
                </a:solidFill>
                <a:latin typeface="Playfair Display" panose="00000500000000000000" pitchFamily="2" charset="0"/>
              </a:rPr>
              <a:t>MongoDB – NoSQL database for flexible storage of unstructured data</a:t>
            </a:r>
            <a:endParaRPr lang="fr-FR" dirty="0">
              <a:solidFill>
                <a:schemeClr val="tx1"/>
              </a:solidFill>
              <a:latin typeface="Playfair Display" panose="00000500000000000000" pitchFamily="2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05EFA3A-EDF8-A8AC-E9AE-DDC49B851A6F}"/>
              </a:ext>
            </a:extLst>
          </p:cNvPr>
          <p:cNvSpPr txBox="1"/>
          <p:nvPr/>
        </p:nvSpPr>
        <p:spPr>
          <a:xfrm>
            <a:off x="972457" y="1087833"/>
            <a:ext cx="449942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 dirty="0" err="1">
                <a:latin typeface="Playfair Display" panose="00000500000000000000" pitchFamily="2" charset="0"/>
              </a:rPr>
              <a:t>DataBases</a:t>
            </a:r>
            <a:r>
              <a:rPr lang="fr-FR" sz="2400" b="1" dirty="0">
                <a:latin typeface="Playfair Display" panose="00000500000000000000" pitchFamily="2" charset="0"/>
              </a:rPr>
              <a:t> </a:t>
            </a:r>
            <a:r>
              <a:rPr lang="fr-FR" sz="2400" b="1" dirty="0" err="1">
                <a:latin typeface="Playfair Display" panose="00000500000000000000" pitchFamily="2" charset="0"/>
              </a:rPr>
              <a:t>Deployment</a:t>
            </a:r>
            <a:endParaRPr lang="fr-FR" sz="2400" b="1" dirty="0">
              <a:latin typeface="Playfair Display" panose="00000500000000000000" pitchFamily="2" charset="0"/>
            </a:endParaRP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60D79764-8ED5-FF8A-75B7-9000997CAA57}"/>
              </a:ext>
            </a:extLst>
          </p:cNvPr>
          <p:cNvSpPr/>
          <p:nvPr/>
        </p:nvSpPr>
        <p:spPr>
          <a:xfrm>
            <a:off x="972456" y="4143432"/>
            <a:ext cx="9985829" cy="1626736"/>
          </a:xfrm>
          <a:prstGeom prst="roundRect">
            <a:avLst/>
          </a:prstGeom>
          <a:gradFill flip="none" rotWithShape="1">
            <a:gsLst>
              <a:gs pos="0">
                <a:srgbClr val="FCFCFE"/>
              </a:gs>
              <a:gs pos="74000">
                <a:srgbClr val="FCFCFE"/>
              </a:gs>
              <a:gs pos="83000">
                <a:srgbClr val="FCFCFE"/>
              </a:gs>
              <a:gs pos="100000">
                <a:srgbClr val="FCFCFE"/>
              </a:gs>
            </a:gsLst>
            <a:lin ang="10800000" scaled="1"/>
            <a:tileRect/>
          </a:gra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>
              <a:lnSpc>
                <a:spcPct val="200000"/>
              </a:lnSpc>
            </a:pPr>
            <a:r>
              <a:rPr lang="en-US" sz="2000" dirty="0">
                <a:solidFill>
                  <a:srgbClr val="226DF6"/>
                </a:solidFill>
                <a:latin typeface="Playfair Display" panose="00000500000000000000" pitchFamily="2" charset="0"/>
              </a:rPr>
              <a:t>Deployment Highlights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Playfair Display" panose="00000500000000000000" pitchFamily="2" charset="0"/>
              </a:rPr>
              <a:t>Containerized using Docker for isolated and reproducible environments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Playfair Display" panose="00000500000000000000" pitchFamily="2" charset="0"/>
              </a:rPr>
              <a:t>Configured connections to microservices ensuring data accessibility and independence</a:t>
            </a:r>
          </a:p>
        </p:txBody>
      </p:sp>
    </p:spTree>
    <p:extLst>
      <p:ext uri="{BB962C8B-B14F-4D97-AF65-F5344CB8AC3E}">
        <p14:creationId xmlns:p14="http://schemas.microsoft.com/office/powerpoint/2010/main" val="3480489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8C2B5B-160E-E79B-5447-598C44E12E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7CD23BB-B349-4770-D1E2-30BBD3745F2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612"/>
            <a:ext cx="12192000" cy="686122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9C86676-A609-03FF-363B-2B4E594D0E79}"/>
              </a:ext>
            </a:extLst>
          </p:cNvPr>
          <p:cNvSpPr txBox="1"/>
          <p:nvPr/>
        </p:nvSpPr>
        <p:spPr>
          <a:xfrm>
            <a:off x="353962" y="250723"/>
            <a:ext cx="550182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>
                <a:solidFill>
                  <a:srgbClr val="226DF6"/>
                </a:solidFill>
                <a:latin typeface="Playfair Display" panose="00000500000000000000" pitchFamily="2" charset="0"/>
              </a:rPr>
              <a:t>Work </a:t>
            </a:r>
            <a:r>
              <a:rPr lang="fr-FR" sz="3200" b="1" dirty="0" err="1">
                <a:solidFill>
                  <a:srgbClr val="226DF6"/>
                </a:solidFill>
                <a:latin typeface="Playfair Display" panose="00000500000000000000" pitchFamily="2" charset="0"/>
              </a:rPr>
              <a:t>Completed</a:t>
            </a:r>
            <a:r>
              <a:rPr lang="fr-FR" sz="3200" b="1" dirty="0">
                <a:solidFill>
                  <a:srgbClr val="226DF6"/>
                </a:solidFill>
                <a:latin typeface="Playfair Display" panose="00000500000000000000" pitchFamily="2" charset="0"/>
              </a:rPr>
              <a:t> This Week</a:t>
            </a:r>
            <a:endParaRPr lang="fr-FR" sz="3200" dirty="0">
              <a:solidFill>
                <a:srgbClr val="226DF6"/>
              </a:solidFill>
              <a:latin typeface="Playfair Display" panose="00000500000000000000" pitchFamily="2" charset="0"/>
            </a:endParaRP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152968C4-E672-DCF1-BFCF-AC20773BAA52}"/>
              </a:ext>
            </a:extLst>
          </p:cNvPr>
          <p:cNvSpPr/>
          <p:nvPr/>
        </p:nvSpPr>
        <p:spPr>
          <a:xfrm>
            <a:off x="972457" y="1705861"/>
            <a:ext cx="9985829" cy="2281207"/>
          </a:xfrm>
          <a:prstGeom prst="roundRect">
            <a:avLst/>
          </a:prstGeom>
          <a:gradFill flip="none" rotWithShape="1">
            <a:gsLst>
              <a:gs pos="0">
                <a:srgbClr val="FCFCFE"/>
              </a:gs>
              <a:gs pos="74000">
                <a:srgbClr val="FCFCFE"/>
              </a:gs>
              <a:gs pos="83000">
                <a:srgbClr val="FCFCFE"/>
              </a:gs>
              <a:gs pos="100000">
                <a:srgbClr val="FCFCFE"/>
              </a:gs>
            </a:gsLst>
            <a:lin ang="10800000" scaled="1"/>
            <a:tileRect/>
          </a:gra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fr-FR" dirty="0">
                <a:solidFill>
                  <a:srgbClr val="226DF6"/>
                </a:solidFill>
                <a:latin typeface="Playfair Display" panose="00000500000000000000" pitchFamily="2" charset="0"/>
              </a:rPr>
              <a:t>Objective</a:t>
            </a:r>
            <a:endParaRPr lang="en-US" dirty="0">
              <a:solidFill>
                <a:srgbClr val="226DF6"/>
              </a:solidFill>
              <a:latin typeface="Playfair Display" panose="00000500000000000000" pitchFamily="2" charset="0"/>
            </a:endParaRPr>
          </a:p>
          <a:p>
            <a:pPr algn="l"/>
            <a:r>
              <a:rPr lang="en-US" dirty="0">
                <a:solidFill>
                  <a:schemeClr val="tx1"/>
                </a:solidFill>
                <a:latin typeface="Playfair Display" panose="00000500000000000000" pitchFamily="2" charset="0"/>
              </a:rPr>
              <a:t>Developing the final Selection Function to officially assign a freelancer and update the mission status globally. </a:t>
            </a:r>
          </a:p>
          <a:p>
            <a:pPr algn="l"/>
            <a:r>
              <a:rPr lang="en-US" dirty="0">
                <a:solidFill>
                  <a:schemeClr val="tx1"/>
                </a:solidFill>
                <a:latin typeface="Playfair Display" panose="00000500000000000000" pitchFamily="2" charset="0"/>
              </a:rPr>
              <a:t>Developing the Publish Mission functionality, allowing startups to define requirements such as (Title, Description, Skills, Budget, and Duration).</a:t>
            </a:r>
            <a:endParaRPr lang="fr-FR" dirty="0">
              <a:solidFill>
                <a:schemeClr val="tx1"/>
              </a:solidFill>
              <a:latin typeface="Playfair Display" panose="00000500000000000000" pitchFamily="2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934AEB5-83BD-BEEA-30B5-0CA0FBCD9672}"/>
              </a:ext>
            </a:extLst>
          </p:cNvPr>
          <p:cNvSpPr txBox="1"/>
          <p:nvPr/>
        </p:nvSpPr>
        <p:spPr>
          <a:xfrm>
            <a:off x="972457" y="1087833"/>
            <a:ext cx="449942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 dirty="0">
                <a:latin typeface="Playfair Display" panose="00000500000000000000" pitchFamily="2" charset="0"/>
              </a:rPr>
              <a:t>Mission Service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E6736E75-C9E0-1431-ED7D-926E8CEC6B70}"/>
              </a:ext>
            </a:extLst>
          </p:cNvPr>
          <p:cNvSpPr/>
          <p:nvPr/>
        </p:nvSpPr>
        <p:spPr>
          <a:xfrm>
            <a:off x="972456" y="4143431"/>
            <a:ext cx="9985829" cy="2367875"/>
          </a:xfrm>
          <a:prstGeom prst="roundRect">
            <a:avLst/>
          </a:prstGeom>
          <a:gradFill flip="none" rotWithShape="1">
            <a:gsLst>
              <a:gs pos="0">
                <a:srgbClr val="FCFCFE"/>
              </a:gs>
              <a:gs pos="74000">
                <a:srgbClr val="FCFCFE"/>
              </a:gs>
              <a:gs pos="83000">
                <a:srgbClr val="FCFCFE"/>
              </a:gs>
              <a:gs pos="100000">
                <a:srgbClr val="FCFCFE"/>
              </a:gs>
            </a:gsLst>
            <a:lin ang="10800000" scaled="1"/>
            <a:tileRect/>
          </a:gra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Playfair Display" panose="00000500000000000000" pitchFamily="2" charset="0"/>
              </a:rPr>
              <a:t>Infrastructure </a:t>
            </a:r>
            <a:r>
              <a:rPr lang="en-US" dirty="0" err="1">
                <a:solidFill>
                  <a:schemeClr val="tx1"/>
                </a:solidFill>
                <a:latin typeface="Playfair Display" panose="00000500000000000000" pitchFamily="2" charset="0"/>
              </a:rPr>
              <a:t>SetupDeployment</a:t>
            </a:r>
            <a:r>
              <a:rPr lang="en-US" dirty="0">
                <a:solidFill>
                  <a:schemeClr val="tx1"/>
                </a:solidFill>
                <a:latin typeface="Playfair Display" panose="00000500000000000000" pitchFamily="2" charset="0"/>
              </a:rPr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Playfair Display" panose="00000500000000000000" pitchFamily="2" charset="0"/>
              </a:rPr>
              <a:t>Data Isolation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Playfair Display" panose="00000500000000000000" pitchFamily="2" charset="0"/>
              </a:rPr>
              <a:t>Schema Design and Data Integrity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Playfair Display" panose="00000500000000000000" pitchFamily="2" charset="0"/>
              </a:rPr>
              <a:t>Robust Mission Publishing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Playfair Display" panose="00000500000000000000" pitchFamily="2" charset="0"/>
              </a:rPr>
              <a:t>API Functional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Playfair Display" panose="00000500000000000000" pitchFamily="2" charset="0"/>
              </a:rPr>
              <a:t>Event Producer</a:t>
            </a:r>
          </a:p>
        </p:txBody>
      </p:sp>
    </p:spTree>
    <p:extLst>
      <p:ext uri="{BB962C8B-B14F-4D97-AF65-F5344CB8AC3E}">
        <p14:creationId xmlns:p14="http://schemas.microsoft.com/office/powerpoint/2010/main" val="40915207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E1A1FC-CA19-94A4-429C-4F6339346D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5B557DA-39F9-4DFB-4A8D-5E360328A52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612"/>
            <a:ext cx="12192000" cy="686122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BB6A540-8CB8-9423-40C0-73D4F3367059}"/>
              </a:ext>
            </a:extLst>
          </p:cNvPr>
          <p:cNvSpPr txBox="1"/>
          <p:nvPr/>
        </p:nvSpPr>
        <p:spPr>
          <a:xfrm>
            <a:off x="353962" y="250723"/>
            <a:ext cx="550182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>
                <a:solidFill>
                  <a:srgbClr val="226DF6"/>
                </a:solidFill>
                <a:latin typeface="Playfair Display" panose="00000500000000000000" pitchFamily="2" charset="0"/>
              </a:rPr>
              <a:t>Work </a:t>
            </a:r>
            <a:r>
              <a:rPr lang="fr-FR" sz="3200" b="1" dirty="0" err="1">
                <a:solidFill>
                  <a:srgbClr val="226DF6"/>
                </a:solidFill>
                <a:latin typeface="Playfair Display" panose="00000500000000000000" pitchFamily="2" charset="0"/>
              </a:rPr>
              <a:t>Completed</a:t>
            </a:r>
            <a:r>
              <a:rPr lang="fr-FR" sz="3200" b="1" dirty="0">
                <a:solidFill>
                  <a:srgbClr val="226DF6"/>
                </a:solidFill>
                <a:latin typeface="Playfair Display" panose="00000500000000000000" pitchFamily="2" charset="0"/>
              </a:rPr>
              <a:t> This Week</a:t>
            </a:r>
            <a:endParaRPr lang="fr-FR" sz="3200" dirty="0">
              <a:solidFill>
                <a:srgbClr val="226DF6"/>
              </a:solidFill>
              <a:latin typeface="Playfair Display" panose="00000500000000000000" pitchFamily="2" charset="0"/>
            </a:endParaRP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50681C91-1E10-6D99-51F5-957471CA808D}"/>
              </a:ext>
            </a:extLst>
          </p:cNvPr>
          <p:cNvSpPr/>
          <p:nvPr/>
        </p:nvSpPr>
        <p:spPr>
          <a:xfrm>
            <a:off x="972457" y="1705861"/>
            <a:ext cx="9985829" cy="1723139"/>
          </a:xfrm>
          <a:prstGeom prst="roundRect">
            <a:avLst/>
          </a:prstGeom>
          <a:gradFill flip="none" rotWithShape="1">
            <a:gsLst>
              <a:gs pos="0">
                <a:srgbClr val="FCFCFE"/>
              </a:gs>
              <a:gs pos="74000">
                <a:srgbClr val="FCFCFE"/>
              </a:gs>
              <a:gs pos="83000">
                <a:srgbClr val="FCFCFE"/>
              </a:gs>
              <a:gs pos="100000">
                <a:srgbClr val="FCFCFE"/>
              </a:gs>
            </a:gsLst>
            <a:lin ang="10800000" scaled="1"/>
            <a:tileRect/>
          </a:gra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fr-FR" dirty="0">
                <a:solidFill>
                  <a:srgbClr val="226DF6"/>
                </a:solidFill>
                <a:latin typeface="Playfair Display" panose="00000500000000000000" pitchFamily="2" charset="0"/>
              </a:rPr>
              <a:t>Objective</a:t>
            </a:r>
            <a:endParaRPr lang="en-US" dirty="0">
              <a:solidFill>
                <a:schemeClr val="tx1"/>
              </a:solidFill>
              <a:latin typeface="Playfair Display" panose="00000500000000000000" pitchFamily="2" charset="0"/>
            </a:endParaRPr>
          </a:p>
          <a:p>
            <a:r>
              <a:rPr lang="en-US" dirty="0">
                <a:solidFill>
                  <a:schemeClr val="tx1"/>
                </a:solidFill>
                <a:latin typeface="Playfair Display" panose="00000500000000000000" pitchFamily="2" charset="0"/>
              </a:rPr>
              <a:t>Implementing a real-time status tracker for freelancers to monitor their application journey (Pending, Viewed, Shortlisted, Accepted, Rejected). </a:t>
            </a:r>
            <a:endParaRPr lang="fr-FR" dirty="0">
              <a:solidFill>
                <a:schemeClr val="tx1"/>
              </a:solidFill>
              <a:latin typeface="Playfair Display" panose="00000500000000000000" pitchFamily="2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7B17E16-A403-19C4-C633-45D5DEB79002}"/>
              </a:ext>
            </a:extLst>
          </p:cNvPr>
          <p:cNvSpPr txBox="1"/>
          <p:nvPr/>
        </p:nvSpPr>
        <p:spPr>
          <a:xfrm>
            <a:off x="972457" y="1087833"/>
            <a:ext cx="449942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 dirty="0">
                <a:latin typeface="Playfair Display" panose="00000500000000000000" pitchFamily="2" charset="0"/>
              </a:rPr>
              <a:t>Analytics Service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5DB9DE41-891E-38B0-323D-280FFBA7B669}"/>
              </a:ext>
            </a:extLst>
          </p:cNvPr>
          <p:cNvSpPr/>
          <p:nvPr/>
        </p:nvSpPr>
        <p:spPr>
          <a:xfrm>
            <a:off x="972456" y="3742980"/>
            <a:ext cx="9985829" cy="2367875"/>
          </a:xfrm>
          <a:prstGeom prst="roundRect">
            <a:avLst/>
          </a:prstGeom>
          <a:gradFill flip="none" rotWithShape="1">
            <a:gsLst>
              <a:gs pos="0">
                <a:srgbClr val="FCFCFE"/>
              </a:gs>
              <a:gs pos="74000">
                <a:srgbClr val="FCFCFE"/>
              </a:gs>
              <a:gs pos="83000">
                <a:srgbClr val="FCFCFE"/>
              </a:gs>
              <a:gs pos="100000">
                <a:srgbClr val="FCFCFE"/>
              </a:gs>
            </a:gsLst>
            <a:lin ang="10800000" scaled="1"/>
            <a:tileRect/>
          </a:gra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Playfair Display" panose="00000500000000000000" pitchFamily="2" charset="0"/>
              </a:rPr>
              <a:t>Service Initial Development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Playfair Display" panose="00000500000000000000" pitchFamily="2" charset="0"/>
              </a:rPr>
              <a:t>Database Testing  (local)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Playfair Display" panose="00000500000000000000" pitchFamily="2" charset="0"/>
              </a:rPr>
              <a:t>API Documentation and Testing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Playfair Display" panose="00000500000000000000" pitchFamily="2" charset="0"/>
              </a:rPr>
              <a:t>Initial  Admin Dashboard Analysis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Playfair Display" panose="00000500000000000000" pitchFamily="2" charset="0"/>
              </a:rPr>
              <a:t>Container Testing</a:t>
            </a:r>
          </a:p>
        </p:txBody>
      </p:sp>
    </p:spTree>
    <p:extLst>
      <p:ext uri="{BB962C8B-B14F-4D97-AF65-F5344CB8AC3E}">
        <p14:creationId xmlns:p14="http://schemas.microsoft.com/office/powerpoint/2010/main" val="20031993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9CE4D3-FDB6-D623-C77C-DDEB9B9BC5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705834C-28FA-3898-532A-0F6DDDB175B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612"/>
            <a:ext cx="12192000" cy="686122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54CCF17-9418-EA43-B5D8-B67BC93C35A8}"/>
              </a:ext>
            </a:extLst>
          </p:cNvPr>
          <p:cNvSpPr txBox="1"/>
          <p:nvPr/>
        </p:nvSpPr>
        <p:spPr>
          <a:xfrm>
            <a:off x="353962" y="250723"/>
            <a:ext cx="550182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>
                <a:solidFill>
                  <a:srgbClr val="226DF6"/>
                </a:solidFill>
                <a:latin typeface="Playfair Display" panose="00000500000000000000" pitchFamily="2" charset="0"/>
              </a:rPr>
              <a:t>Work </a:t>
            </a:r>
            <a:r>
              <a:rPr lang="fr-FR" sz="3200" b="1" dirty="0" err="1">
                <a:solidFill>
                  <a:srgbClr val="226DF6"/>
                </a:solidFill>
                <a:latin typeface="Playfair Display" panose="00000500000000000000" pitchFamily="2" charset="0"/>
              </a:rPr>
              <a:t>Completed</a:t>
            </a:r>
            <a:r>
              <a:rPr lang="fr-FR" sz="3200" b="1" dirty="0">
                <a:solidFill>
                  <a:srgbClr val="226DF6"/>
                </a:solidFill>
                <a:latin typeface="Playfair Display" panose="00000500000000000000" pitchFamily="2" charset="0"/>
              </a:rPr>
              <a:t> This Week</a:t>
            </a:r>
            <a:endParaRPr lang="fr-FR" sz="3200" dirty="0">
              <a:solidFill>
                <a:srgbClr val="226DF6"/>
              </a:solidFill>
              <a:latin typeface="Playfair Display" panose="00000500000000000000" pitchFamily="2" charset="0"/>
            </a:endParaRP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AD481D71-C66A-3837-AC9D-CA491131D8AA}"/>
              </a:ext>
            </a:extLst>
          </p:cNvPr>
          <p:cNvSpPr/>
          <p:nvPr/>
        </p:nvSpPr>
        <p:spPr>
          <a:xfrm>
            <a:off x="972457" y="1705861"/>
            <a:ext cx="9985829" cy="2089265"/>
          </a:xfrm>
          <a:prstGeom prst="roundRect">
            <a:avLst/>
          </a:prstGeom>
          <a:gradFill flip="none" rotWithShape="1">
            <a:gsLst>
              <a:gs pos="0">
                <a:srgbClr val="FCFCFE"/>
              </a:gs>
              <a:gs pos="74000">
                <a:srgbClr val="FCFCFE"/>
              </a:gs>
              <a:gs pos="83000">
                <a:srgbClr val="FCFCFE"/>
              </a:gs>
              <a:gs pos="100000">
                <a:srgbClr val="FCFCFE"/>
              </a:gs>
            </a:gsLst>
            <a:lin ang="10800000" scaled="1"/>
            <a:tileRect/>
          </a:gra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fr-FR" dirty="0">
                <a:solidFill>
                  <a:srgbClr val="226DF6"/>
                </a:solidFill>
                <a:latin typeface="Playfair Display" panose="00000500000000000000" pitchFamily="2" charset="0"/>
              </a:rPr>
              <a:t>Objective</a:t>
            </a:r>
            <a:endParaRPr lang="en-US" dirty="0">
              <a:solidFill>
                <a:srgbClr val="226DF6"/>
              </a:solidFill>
              <a:latin typeface="Playfair Display" panose="00000500000000000000" pitchFamily="2" charset="0"/>
            </a:endParaRPr>
          </a:p>
          <a:p>
            <a:pPr algn="l"/>
            <a:r>
              <a:rPr lang="en-US" dirty="0">
                <a:solidFill>
                  <a:schemeClr val="tx1"/>
                </a:solidFill>
                <a:latin typeface="Playfair Display" panose="00000500000000000000" pitchFamily="2" charset="0"/>
              </a:rPr>
              <a:t>Creating and managing detailed Startup Profiles, including </a:t>
            </a:r>
          </a:p>
          <a:p>
            <a:pPr algn="l"/>
            <a:r>
              <a:rPr lang="en-US" dirty="0">
                <a:solidFill>
                  <a:schemeClr val="tx1"/>
                </a:solidFill>
                <a:latin typeface="Playfair Display" panose="00000500000000000000" pitchFamily="2" charset="0"/>
              </a:rPr>
              <a:t>startup information and mission statistics to build professional credibility.</a:t>
            </a:r>
          </a:p>
          <a:p>
            <a:pPr algn="l"/>
            <a:r>
              <a:rPr lang="en-US" dirty="0">
                <a:solidFill>
                  <a:schemeClr val="tx1"/>
                </a:solidFill>
                <a:latin typeface="Playfair Display" panose="00000500000000000000" pitchFamily="2" charset="0"/>
              </a:rPr>
              <a:t>Creating and managing detailed Freelancer Profiles, including </a:t>
            </a:r>
          </a:p>
          <a:p>
            <a:pPr algn="l"/>
            <a:r>
              <a:rPr lang="en-US" dirty="0">
                <a:solidFill>
                  <a:schemeClr val="tx1"/>
                </a:solidFill>
                <a:latin typeface="Playfair Display" panose="00000500000000000000" pitchFamily="2" charset="0"/>
              </a:rPr>
              <a:t>freelancer information and skills.</a:t>
            </a:r>
            <a:endParaRPr lang="fr-FR" dirty="0">
              <a:solidFill>
                <a:schemeClr val="tx1"/>
              </a:solidFill>
              <a:latin typeface="Playfair Display" panose="00000500000000000000" pitchFamily="2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08731BE-94E8-962F-E30D-790E81CDB0E9}"/>
              </a:ext>
            </a:extLst>
          </p:cNvPr>
          <p:cNvSpPr txBox="1"/>
          <p:nvPr/>
        </p:nvSpPr>
        <p:spPr>
          <a:xfrm>
            <a:off x="972457" y="1087833"/>
            <a:ext cx="449942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 dirty="0">
                <a:latin typeface="Playfair Display" panose="00000500000000000000" pitchFamily="2" charset="0"/>
              </a:rPr>
              <a:t>User Service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F9A7A01D-70E2-1B4D-B7E0-3ABFF7E22C1E}"/>
              </a:ext>
            </a:extLst>
          </p:cNvPr>
          <p:cNvSpPr/>
          <p:nvPr/>
        </p:nvSpPr>
        <p:spPr>
          <a:xfrm>
            <a:off x="972456" y="3968201"/>
            <a:ext cx="9985829" cy="2367875"/>
          </a:xfrm>
          <a:prstGeom prst="roundRect">
            <a:avLst/>
          </a:prstGeom>
          <a:gradFill flip="none" rotWithShape="1">
            <a:gsLst>
              <a:gs pos="0">
                <a:srgbClr val="FCFCFE"/>
              </a:gs>
              <a:gs pos="74000">
                <a:srgbClr val="FCFCFE"/>
              </a:gs>
              <a:gs pos="83000">
                <a:srgbClr val="FCFCFE"/>
              </a:gs>
              <a:gs pos="100000">
                <a:srgbClr val="FCFCFE"/>
              </a:gs>
            </a:gsLst>
            <a:lin ang="10800000" scaled="1"/>
            <a:tileRect/>
          </a:gra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Playfair Display" panose="00000500000000000000" pitchFamily="2" charset="0"/>
              </a:rPr>
              <a:t>Infrastructure </a:t>
            </a:r>
            <a:r>
              <a:rPr lang="en-US" dirty="0" err="1">
                <a:solidFill>
                  <a:schemeClr val="tx1"/>
                </a:solidFill>
                <a:latin typeface="Playfair Display" panose="00000500000000000000" pitchFamily="2" charset="0"/>
              </a:rPr>
              <a:t>SetupDeployment</a:t>
            </a:r>
            <a:r>
              <a:rPr lang="en-US" dirty="0">
                <a:solidFill>
                  <a:schemeClr val="tx1"/>
                </a:solidFill>
                <a:latin typeface="Playfair Display" panose="00000500000000000000" pitchFamily="2" charset="0"/>
              </a:rPr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Playfair Display" panose="00000500000000000000" pitchFamily="2" charset="0"/>
              </a:rPr>
              <a:t>Data Isolation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Playfair Display" panose="00000500000000000000" pitchFamily="2" charset="0"/>
              </a:rPr>
              <a:t>Schema Design and Data Integrity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Playfair Display" panose="00000500000000000000" pitchFamily="2" charset="0"/>
              </a:rPr>
              <a:t>Database Integration (</a:t>
            </a:r>
            <a:r>
              <a:rPr lang="en-US" dirty="0" err="1">
                <a:solidFill>
                  <a:schemeClr val="tx1"/>
                </a:solidFill>
                <a:latin typeface="Playfair Display" panose="00000500000000000000" pitchFamily="2" charset="0"/>
              </a:rPr>
              <a:t>postgres</a:t>
            </a:r>
            <a:r>
              <a:rPr lang="en-US" dirty="0">
                <a:solidFill>
                  <a:schemeClr val="tx1"/>
                </a:solidFill>
                <a:latin typeface="Playfair Display" panose="00000500000000000000" pitchFamily="2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3737623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3A647C-CEE3-07A8-C1DF-86210865AE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0C34C1A-532F-49BE-96F2-40B243A8077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612"/>
            <a:ext cx="12192000" cy="686122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A3BCB4F-7085-DAF8-AC8B-3A3268ECD315}"/>
              </a:ext>
            </a:extLst>
          </p:cNvPr>
          <p:cNvSpPr txBox="1"/>
          <p:nvPr/>
        </p:nvSpPr>
        <p:spPr>
          <a:xfrm>
            <a:off x="353962" y="250723"/>
            <a:ext cx="550182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>
                <a:solidFill>
                  <a:srgbClr val="226DF6"/>
                </a:solidFill>
                <a:latin typeface="Playfair Display" panose="00000500000000000000" pitchFamily="2" charset="0"/>
              </a:rPr>
              <a:t>Work </a:t>
            </a:r>
            <a:r>
              <a:rPr lang="fr-FR" sz="3200" b="1" dirty="0" err="1">
                <a:solidFill>
                  <a:srgbClr val="226DF6"/>
                </a:solidFill>
                <a:latin typeface="Playfair Display" panose="00000500000000000000" pitchFamily="2" charset="0"/>
              </a:rPr>
              <a:t>Completed</a:t>
            </a:r>
            <a:r>
              <a:rPr lang="fr-FR" sz="3200" b="1" dirty="0">
                <a:solidFill>
                  <a:srgbClr val="226DF6"/>
                </a:solidFill>
                <a:latin typeface="Playfair Display" panose="00000500000000000000" pitchFamily="2" charset="0"/>
              </a:rPr>
              <a:t> This Week</a:t>
            </a:r>
            <a:endParaRPr lang="fr-FR" sz="3200" dirty="0">
              <a:solidFill>
                <a:srgbClr val="226DF6"/>
              </a:solidFill>
              <a:latin typeface="Playfair Display" panose="00000500000000000000" pitchFamily="2" charset="0"/>
            </a:endParaRP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F5DAECCD-F843-8386-642F-AA7C7A9CC318}"/>
              </a:ext>
            </a:extLst>
          </p:cNvPr>
          <p:cNvSpPr/>
          <p:nvPr/>
        </p:nvSpPr>
        <p:spPr>
          <a:xfrm>
            <a:off x="972457" y="1705861"/>
            <a:ext cx="9985829" cy="1723139"/>
          </a:xfrm>
          <a:prstGeom prst="roundRect">
            <a:avLst/>
          </a:prstGeom>
          <a:gradFill flip="none" rotWithShape="1">
            <a:gsLst>
              <a:gs pos="0">
                <a:srgbClr val="FCFCFE"/>
              </a:gs>
              <a:gs pos="74000">
                <a:srgbClr val="FCFCFE"/>
              </a:gs>
              <a:gs pos="83000">
                <a:srgbClr val="FCFCFE"/>
              </a:gs>
              <a:gs pos="100000">
                <a:srgbClr val="FCFCFE"/>
              </a:gs>
            </a:gsLst>
            <a:lin ang="10800000" scaled="1"/>
            <a:tileRect/>
          </a:gra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fr-FR" dirty="0">
                <a:solidFill>
                  <a:srgbClr val="226DF6"/>
                </a:solidFill>
                <a:latin typeface="Playfair Display" panose="00000500000000000000" pitchFamily="2" charset="0"/>
              </a:rPr>
              <a:t>Objective</a:t>
            </a:r>
            <a:endParaRPr lang="en-US" dirty="0">
              <a:solidFill>
                <a:schemeClr val="tx1"/>
              </a:solidFill>
              <a:latin typeface="Playfair Display" panose="00000500000000000000" pitchFamily="2" charset="0"/>
            </a:endParaRPr>
          </a:p>
          <a:p>
            <a:r>
              <a:rPr lang="en-US" dirty="0">
                <a:solidFill>
                  <a:schemeClr val="tx1"/>
                </a:solidFill>
                <a:latin typeface="Playfair Display" panose="00000500000000000000" pitchFamily="2" charset="0"/>
              </a:rPr>
              <a:t>AI to ensure the coherence and consistency of  information: Using AI to validate data integrity.</a:t>
            </a:r>
            <a:endParaRPr lang="fr-FR" dirty="0">
              <a:solidFill>
                <a:schemeClr val="tx1"/>
              </a:solidFill>
              <a:latin typeface="Playfair Display" panose="00000500000000000000" pitchFamily="2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40926E2-FB51-0A37-8914-2505A2C10E17}"/>
              </a:ext>
            </a:extLst>
          </p:cNvPr>
          <p:cNvSpPr txBox="1"/>
          <p:nvPr/>
        </p:nvSpPr>
        <p:spPr>
          <a:xfrm>
            <a:off x="972457" y="1087833"/>
            <a:ext cx="449942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 dirty="0">
                <a:latin typeface="Playfair Display" panose="00000500000000000000" pitchFamily="2" charset="0"/>
              </a:rPr>
              <a:t>Data </a:t>
            </a:r>
            <a:r>
              <a:rPr lang="fr-FR" sz="2400" b="1" dirty="0" err="1">
                <a:latin typeface="Playfair Display" panose="00000500000000000000" pitchFamily="2" charset="0"/>
              </a:rPr>
              <a:t>Coherence</a:t>
            </a:r>
            <a:r>
              <a:rPr lang="fr-FR" sz="2400" b="1" dirty="0">
                <a:latin typeface="Playfair Display" panose="00000500000000000000" pitchFamily="2" charset="0"/>
              </a:rPr>
              <a:t> Tool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1EAEBBC6-54B3-AD7D-04B8-C4720DB475F5}"/>
              </a:ext>
            </a:extLst>
          </p:cNvPr>
          <p:cNvSpPr/>
          <p:nvPr/>
        </p:nvSpPr>
        <p:spPr>
          <a:xfrm>
            <a:off x="972456" y="3742980"/>
            <a:ext cx="9985829" cy="2367875"/>
          </a:xfrm>
          <a:prstGeom prst="roundRect">
            <a:avLst/>
          </a:prstGeom>
          <a:gradFill flip="none" rotWithShape="1">
            <a:gsLst>
              <a:gs pos="0">
                <a:srgbClr val="FCFCFE"/>
              </a:gs>
              <a:gs pos="74000">
                <a:srgbClr val="FCFCFE"/>
              </a:gs>
              <a:gs pos="83000">
                <a:srgbClr val="FCFCFE"/>
              </a:gs>
              <a:gs pos="100000">
                <a:srgbClr val="FCFCFE"/>
              </a:gs>
            </a:gsLst>
            <a:lin ang="10800000" scaled="1"/>
            <a:tileRect/>
          </a:gra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Playfair Display" panose="00000500000000000000" pitchFamily="2" charset="0"/>
              </a:rPr>
              <a:t>Skill </a:t>
            </a:r>
            <a:r>
              <a:rPr lang="en-US" dirty="0" err="1">
                <a:solidFill>
                  <a:schemeClr val="tx1"/>
                </a:solidFill>
                <a:latin typeface="Playfair Display" panose="00000500000000000000" pitchFamily="2" charset="0"/>
              </a:rPr>
              <a:t>NormalizationStandardizes</a:t>
            </a:r>
            <a:r>
              <a:rPr lang="en-US" dirty="0">
                <a:solidFill>
                  <a:schemeClr val="tx1"/>
                </a:solidFill>
                <a:latin typeface="Playfair Display" panose="00000500000000000000" pitchFamily="2" charset="0"/>
              </a:rPr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Playfair Display" panose="00000500000000000000" pitchFamily="2" charset="0"/>
              </a:rPr>
              <a:t>IT Role Detection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Playfair Display" panose="00000500000000000000" pitchFamily="2" charset="0"/>
              </a:rPr>
              <a:t>Seniority Estimation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Playfair Display" panose="00000500000000000000" pitchFamily="2" charset="0"/>
              </a:rPr>
              <a:t>Technology Stack </a:t>
            </a:r>
            <a:r>
              <a:rPr lang="en-US" dirty="0" err="1">
                <a:solidFill>
                  <a:schemeClr val="tx1"/>
                </a:solidFill>
                <a:latin typeface="Playfair Display" panose="00000500000000000000" pitchFamily="2" charset="0"/>
              </a:rPr>
              <a:t>Classificatio</a:t>
            </a:r>
            <a:endParaRPr lang="en-US" dirty="0">
              <a:solidFill>
                <a:schemeClr val="tx1"/>
              </a:solidFill>
              <a:latin typeface="Playfair Display" panose="00000500000000000000" pitchFamily="2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Playfair Display" panose="00000500000000000000" pitchFamily="2" charset="0"/>
              </a:rPr>
              <a:t>Contradiction and Data Risk Detection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Playfair Display" panose="00000500000000000000" pitchFamily="2" charset="0"/>
              </a:rPr>
              <a:t>Global Quality Score</a:t>
            </a:r>
          </a:p>
        </p:txBody>
      </p:sp>
    </p:spTree>
    <p:extLst>
      <p:ext uri="{BB962C8B-B14F-4D97-AF65-F5344CB8AC3E}">
        <p14:creationId xmlns:p14="http://schemas.microsoft.com/office/powerpoint/2010/main" val="465403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995006-7E87-262D-13B7-E5F79E72EB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8CECF5F-C57B-DDF0-3C56-9023AB8D01F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612"/>
            <a:ext cx="12192000" cy="686122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E2C6C42-9284-A722-B352-E2DB2E2C548B}"/>
              </a:ext>
            </a:extLst>
          </p:cNvPr>
          <p:cNvSpPr txBox="1"/>
          <p:nvPr/>
        </p:nvSpPr>
        <p:spPr>
          <a:xfrm>
            <a:off x="353962" y="250723"/>
            <a:ext cx="550182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>
                <a:solidFill>
                  <a:srgbClr val="226DF6"/>
                </a:solidFill>
                <a:latin typeface="Playfair Display" panose="00000500000000000000" pitchFamily="2" charset="0"/>
              </a:rPr>
              <a:t>Work </a:t>
            </a:r>
            <a:r>
              <a:rPr lang="fr-FR" sz="3200" b="1" dirty="0" err="1">
                <a:solidFill>
                  <a:srgbClr val="226DF6"/>
                </a:solidFill>
                <a:latin typeface="Playfair Display" panose="00000500000000000000" pitchFamily="2" charset="0"/>
              </a:rPr>
              <a:t>Completed</a:t>
            </a:r>
            <a:r>
              <a:rPr lang="fr-FR" sz="3200" b="1" dirty="0">
                <a:solidFill>
                  <a:srgbClr val="226DF6"/>
                </a:solidFill>
                <a:latin typeface="Playfair Display" panose="00000500000000000000" pitchFamily="2" charset="0"/>
              </a:rPr>
              <a:t> This Week</a:t>
            </a:r>
            <a:endParaRPr lang="fr-FR" sz="3200" dirty="0">
              <a:solidFill>
                <a:srgbClr val="226DF6"/>
              </a:solidFill>
              <a:latin typeface="Playfair Display" panose="00000500000000000000" pitchFamily="2" charset="0"/>
            </a:endParaRP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612412AF-28A6-187A-0CF0-937311DC76B1}"/>
              </a:ext>
            </a:extLst>
          </p:cNvPr>
          <p:cNvSpPr/>
          <p:nvPr/>
        </p:nvSpPr>
        <p:spPr>
          <a:xfrm>
            <a:off x="972457" y="1705861"/>
            <a:ext cx="9985829" cy="1723139"/>
          </a:xfrm>
          <a:prstGeom prst="roundRect">
            <a:avLst/>
          </a:prstGeom>
          <a:gradFill flip="none" rotWithShape="1">
            <a:gsLst>
              <a:gs pos="0">
                <a:srgbClr val="FCFCFE"/>
              </a:gs>
              <a:gs pos="74000">
                <a:srgbClr val="FCFCFE"/>
              </a:gs>
              <a:gs pos="83000">
                <a:srgbClr val="FCFCFE"/>
              </a:gs>
              <a:gs pos="100000">
                <a:srgbClr val="FCFCFE"/>
              </a:gs>
            </a:gsLst>
            <a:lin ang="10800000" scaled="1"/>
            <a:tileRect/>
          </a:gra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fr-FR" dirty="0">
                <a:solidFill>
                  <a:srgbClr val="226DF6"/>
                </a:solidFill>
                <a:latin typeface="Playfair Display" panose="00000500000000000000" pitchFamily="2" charset="0"/>
              </a:rPr>
              <a:t>Objective</a:t>
            </a:r>
            <a:endParaRPr lang="en-US" dirty="0">
              <a:solidFill>
                <a:schemeClr val="tx1"/>
              </a:solidFill>
              <a:latin typeface="Playfair Display" panose="00000500000000000000" pitchFamily="2" charset="0"/>
            </a:endParaRPr>
          </a:p>
          <a:p>
            <a:r>
              <a:rPr lang="en-US" dirty="0">
                <a:solidFill>
                  <a:schemeClr val="tx1"/>
                </a:solidFill>
                <a:latin typeface="Playfair Display" panose="00000500000000000000" pitchFamily="2" charset="0"/>
              </a:rPr>
              <a:t>Developing an AI engine to analyze mission requirements and recommend the most compatible freelancers (Mission Microservice).</a:t>
            </a:r>
            <a:endParaRPr lang="fr-FR" dirty="0">
              <a:solidFill>
                <a:schemeClr val="tx1"/>
              </a:solidFill>
              <a:latin typeface="Playfair Display" panose="00000500000000000000" pitchFamily="2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81A0E89-979F-D6A9-B065-C745F4379341}"/>
              </a:ext>
            </a:extLst>
          </p:cNvPr>
          <p:cNvSpPr txBox="1"/>
          <p:nvPr/>
        </p:nvSpPr>
        <p:spPr>
          <a:xfrm>
            <a:off x="972457" y="1087833"/>
            <a:ext cx="658948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400" b="1" dirty="0">
                <a:latin typeface="Playfair Display" panose="00000500000000000000" pitchFamily="2" charset="0"/>
              </a:rPr>
              <a:t>AI Recommendation Tool (Candidate Match)</a:t>
            </a:r>
            <a:endParaRPr lang="fr-FR" sz="2400" b="1" dirty="0">
              <a:latin typeface="Playfair Display" panose="00000500000000000000" pitchFamily="2" charset="0"/>
            </a:endParaRP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C8AC9CD4-83DE-3FAB-87CD-C50E63F7DD8E}"/>
              </a:ext>
            </a:extLst>
          </p:cNvPr>
          <p:cNvSpPr/>
          <p:nvPr/>
        </p:nvSpPr>
        <p:spPr>
          <a:xfrm>
            <a:off x="972456" y="3742980"/>
            <a:ext cx="9985829" cy="2367875"/>
          </a:xfrm>
          <a:prstGeom prst="roundRect">
            <a:avLst/>
          </a:prstGeom>
          <a:gradFill flip="none" rotWithShape="1">
            <a:gsLst>
              <a:gs pos="0">
                <a:srgbClr val="FCFCFE"/>
              </a:gs>
              <a:gs pos="74000">
                <a:srgbClr val="FCFCFE"/>
              </a:gs>
              <a:gs pos="83000">
                <a:srgbClr val="FCFCFE"/>
              </a:gs>
              <a:gs pos="100000">
                <a:srgbClr val="FCFCFE"/>
              </a:gs>
            </a:gsLst>
            <a:lin ang="10800000" scaled="1"/>
            <a:tileRect/>
          </a:gra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Playfair Display" panose="00000500000000000000" pitchFamily="2" charset="0"/>
              </a:rPr>
              <a:t>LLM integration for AI reasoning and tool execution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Playfair Display" panose="00000500000000000000" pitchFamily="2" charset="0"/>
              </a:rPr>
              <a:t>Tool-based architecture for mission search and compatibility analysis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Playfair Display" panose="00000500000000000000" pitchFamily="2" charset="0"/>
              </a:rPr>
              <a:t>API endpoints for testing and interaction</a:t>
            </a:r>
          </a:p>
        </p:txBody>
      </p:sp>
    </p:spTree>
    <p:extLst>
      <p:ext uri="{BB962C8B-B14F-4D97-AF65-F5344CB8AC3E}">
        <p14:creationId xmlns:p14="http://schemas.microsoft.com/office/powerpoint/2010/main" val="9288103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E31FAD-FE95-7FFB-072C-CD88485CE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FCB13DC-14AF-81E0-E343-593D9ABF695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612"/>
            <a:ext cx="12192000" cy="686122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3543292-3975-9653-EC50-D3A08D8BB5A9}"/>
              </a:ext>
            </a:extLst>
          </p:cNvPr>
          <p:cNvSpPr txBox="1"/>
          <p:nvPr/>
        </p:nvSpPr>
        <p:spPr>
          <a:xfrm>
            <a:off x="5840361" y="4925963"/>
            <a:ext cx="5928852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5400" b="1" dirty="0">
                <a:solidFill>
                  <a:srgbClr val="226DF6"/>
                </a:solidFill>
                <a:latin typeface="Playfair Display" panose="00000500000000000000" pitchFamily="2" charset="0"/>
              </a:rPr>
              <a:t>03</a:t>
            </a:r>
            <a:br>
              <a:rPr lang="en-US" sz="4000" b="1" dirty="0">
                <a:latin typeface="Playfair Display" panose="00000500000000000000" pitchFamily="2" charset="0"/>
              </a:rPr>
            </a:br>
            <a:r>
              <a:rPr lang="en-US" sz="4000" b="1" dirty="0">
                <a:latin typeface="Playfair Display" panose="00000500000000000000" pitchFamily="2" charset="0"/>
              </a:rPr>
              <a:t>Planning and Next steps</a:t>
            </a:r>
            <a:endParaRPr lang="fr-FR" sz="4000" b="1" dirty="0">
              <a:latin typeface="Playfair Display" panose="00000500000000000000" pitchFamily="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C8733BB-9D34-8CD9-E2FD-A21192B691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333" r="24710"/>
          <a:stretch>
            <a:fillRect/>
          </a:stretch>
        </p:blipFill>
        <p:spPr>
          <a:xfrm>
            <a:off x="0" y="0"/>
            <a:ext cx="50292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08004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E908E4-428B-E42E-4E03-E10B675FA4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D03CBC4-0608-1C03-6784-E0822492682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612"/>
            <a:ext cx="12192000" cy="686122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EFA0AE9-A00E-BB05-B1D7-BEE2051934E0}"/>
              </a:ext>
            </a:extLst>
          </p:cNvPr>
          <p:cNvSpPr txBox="1"/>
          <p:nvPr/>
        </p:nvSpPr>
        <p:spPr>
          <a:xfrm>
            <a:off x="353962" y="250723"/>
            <a:ext cx="451437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>
                <a:solidFill>
                  <a:srgbClr val="226DF6"/>
                </a:solidFill>
                <a:latin typeface="Playfair Display" panose="00000500000000000000" pitchFamily="2" charset="0"/>
              </a:rPr>
              <a:t>Plan for the Next Week</a:t>
            </a:r>
            <a:endParaRPr lang="fr-FR" sz="3200" dirty="0">
              <a:solidFill>
                <a:srgbClr val="226DF6"/>
              </a:solidFill>
              <a:latin typeface="Playfair Display" panose="00000500000000000000" pitchFamily="2" charset="0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7DB61FC-9ED1-4A8B-5973-2BE9799AC413}"/>
              </a:ext>
            </a:extLst>
          </p:cNvPr>
          <p:cNvSpPr/>
          <p:nvPr/>
        </p:nvSpPr>
        <p:spPr>
          <a:xfrm>
            <a:off x="1443717" y="5157100"/>
            <a:ext cx="822960" cy="822960"/>
          </a:xfrm>
          <a:prstGeom prst="ellipse">
            <a:avLst/>
          </a:prstGeom>
          <a:solidFill>
            <a:srgbClr val="226DF6"/>
          </a:solidFill>
          <a:ln w="28575" cmpd="sng">
            <a:solidFill>
              <a:srgbClr val="226DF6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C2DF52C-C686-9216-BC38-AC19136011F3}"/>
              </a:ext>
            </a:extLst>
          </p:cNvPr>
          <p:cNvSpPr/>
          <p:nvPr/>
        </p:nvSpPr>
        <p:spPr>
          <a:xfrm>
            <a:off x="1443717" y="1190032"/>
            <a:ext cx="822960" cy="822960"/>
          </a:xfrm>
          <a:prstGeom prst="ellipse">
            <a:avLst/>
          </a:prstGeom>
          <a:solidFill>
            <a:srgbClr val="226DF6"/>
          </a:solidFill>
          <a:ln w="28575" cmpd="sng">
            <a:solidFill>
              <a:srgbClr val="226DF6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FB42C31A-52D4-B579-E703-A355C250E092}"/>
              </a:ext>
            </a:extLst>
          </p:cNvPr>
          <p:cNvSpPr/>
          <p:nvPr/>
        </p:nvSpPr>
        <p:spPr>
          <a:xfrm>
            <a:off x="1443717" y="2934480"/>
            <a:ext cx="822960" cy="822960"/>
          </a:xfrm>
          <a:prstGeom prst="ellipse">
            <a:avLst/>
          </a:prstGeom>
          <a:solidFill>
            <a:srgbClr val="226DF6"/>
          </a:solidFill>
          <a:ln w="28575" cmpd="sng">
            <a:solidFill>
              <a:srgbClr val="226DF6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9410919-5A8B-3327-2920-32C1C72827FF}"/>
              </a:ext>
            </a:extLst>
          </p:cNvPr>
          <p:cNvSpPr txBox="1"/>
          <p:nvPr/>
        </p:nvSpPr>
        <p:spPr>
          <a:xfrm>
            <a:off x="1579320" y="1370679"/>
            <a:ext cx="5517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Libre Baskerville" panose="02000000000000000000" pitchFamily="2" charset="0"/>
              </a:rPr>
              <a:t>01</a:t>
            </a:r>
            <a:endParaRPr lang="fr-FR" sz="2400" b="1" dirty="0">
              <a:solidFill>
                <a:schemeClr val="bg1"/>
              </a:solidFill>
              <a:latin typeface="Libre Baskerville" panose="02000000000000000000" pitchFamily="2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45FDDCC-5877-0C55-F32F-657E686DEEEF}"/>
              </a:ext>
            </a:extLst>
          </p:cNvPr>
          <p:cNvSpPr txBox="1"/>
          <p:nvPr/>
        </p:nvSpPr>
        <p:spPr>
          <a:xfrm>
            <a:off x="1546458" y="3115127"/>
            <a:ext cx="6174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Libre Baskerville" panose="02000000000000000000" pitchFamily="2" charset="0"/>
              </a:rPr>
              <a:t>02</a:t>
            </a:r>
            <a:endParaRPr lang="fr-FR" sz="2400" b="1" dirty="0">
              <a:solidFill>
                <a:schemeClr val="bg1"/>
              </a:solidFill>
              <a:latin typeface="Libre Baskerville" panose="02000000000000000000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0EA7CAE-AC48-1AFC-F9A3-B25E1CBA1D1B}"/>
              </a:ext>
            </a:extLst>
          </p:cNvPr>
          <p:cNvSpPr txBox="1"/>
          <p:nvPr/>
        </p:nvSpPr>
        <p:spPr>
          <a:xfrm>
            <a:off x="1579320" y="5337747"/>
            <a:ext cx="6126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Libre Baskerville" panose="02000000000000000000" pitchFamily="2" charset="0"/>
              </a:rPr>
              <a:t>03</a:t>
            </a:r>
            <a:endParaRPr lang="fr-FR" sz="2400" b="1" dirty="0">
              <a:solidFill>
                <a:schemeClr val="bg1"/>
              </a:solidFill>
              <a:latin typeface="Libre Baskerville" panose="02000000000000000000" pitchFamily="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4D76431-8E11-1C8F-AA5F-99BD0CB61408}"/>
              </a:ext>
            </a:extLst>
          </p:cNvPr>
          <p:cNvSpPr txBox="1"/>
          <p:nvPr/>
        </p:nvSpPr>
        <p:spPr>
          <a:xfrm>
            <a:off x="2369418" y="2884294"/>
            <a:ext cx="53142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Playfair Display" panose="00000500000000000000" pitchFamily="2" charset="0"/>
              </a:rPr>
              <a:t>Improve the Objectives of Each Tool</a:t>
            </a:r>
            <a:endParaRPr lang="fr-FR" sz="2400" b="1" dirty="0">
              <a:latin typeface="Playfair Display" panose="00000500000000000000" pitchFamily="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0ECD0A8-33AA-DD73-1B17-B013CE5BE4A4}"/>
              </a:ext>
            </a:extLst>
          </p:cNvPr>
          <p:cNvSpPr txBox="1"/>
          <p:nvPr/>
        </p:nvSpPr>
        <p:spPr>
          <a:xfrm>
            <a:off x="2402280" y="4926267"/>
            <a:ext cx="48958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Playfair Display" panose="00000500000000000000" pitchFamily="2" charset="0"/>
              </a:rPr>
              <a:t>Integrate Frontend with Backend</a:t>
            </a:r>
            <a:endParaRPr lang="fr-FR" sz="2400" b="1" dirty="0">
              <a:latin typeface="Playfair Display" panose="00000500000000000000" pitchFamily="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C318198-258E-7434-940B-2044C8E61830}"/>
              </a:ext>
            </a:extLst>
          </p:cNvPr>
          <p:cNvSpPr txBox="1"/>
          <p:nvPr/>
        </p:nvSpPr>
        <p:spPr>
          <a:xfrm>
            <a:off x="2369418" y="3528254"/>
            <a:ext cx="712292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Playfair Display" panose="00000500000000000000" pitchFamily="2" charset="0"/>
              </a:rPr>
              <a:t>Improve and test tools (Profile Analyzer, AI Recommendation modules) to meet functional requirements.</a:t>
            </a:r>
            <a:endParaRPr lang="fr-FR" sz="2000" dirty="0">
              <a:latin typeface="Playfair Display" panose="00000500000000000000" pitchFamily="2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24B6EA5-3F57-3D7D-0914-419DE2307431}"/>
              </a:ext>
            </a:extLst>
          </p:cNvPr>
          <p:cNvSpPr txBox="1"/>
          <p:nvPr/>
        </p:nvSpPr>
        <p:spPr>
          <a:xfrm>
            <a:off x="2402280" y="5513384"/>
            <a:ext cx="681429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Playfair Display" panose="00000500000000000000" pitchFamily="2" charset="0"/>
              </a:rPr>
              <a:t>Connect the frontend interface to the backend services for all features developed in this phase, enabling end-to-end functionality.</a:t>
            </a:r>
            <a:endParaRPr lang="fr-FR" sz="2000" dirty="0">
              <a:latin typeface="Playfair Display" panose="00000500000000000000" pitchFamily="2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A8E84FD-6729-AE82-A63C-BA7DE1E2D913}"/>
              </a:ext>
            </a:extLst>
          </p:cNvPr>
          <p:cNvSpPr txBox="1"/>
          <p:nvPr/>
        </p:nvSpPr>
        <p:spPr>
          <a:xfrm>
            <a:off x="2369418" y="1035099"/>
            <a:ext cx="58673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Playfair Display" panose="00000500000000000000" pitchFamily="2" charset="0"/>
              </a:rPr>
              <a:t>Complete the Objectives of Each Service</a:t>
            </a:r>
            <a:endParaRPr lang="fr-FR" sz="2400" b="1" dirty="0">
              <a:latin typeface="Playfair Display" panose="00000500000000000000" pitchFamily="2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5D6BA74-9E8A-38A2-63AB-83FC971D92D6}"/>
              </a:ext>
            </a:extLst>
          </p:cNvPr>
          <p:cNvSpPr txBox="1"/>
          <p:nvPr/>
        </p:nvSpPr>
        <p:spPr>
          <a:xfrm>
            <a:off x="2369418" y="1679059"/>
            <a:ext cx="77034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Playfair Display" panose="00000500000000000000" pitchFamily="2" charset="0"/>
              </a:rPr>
              <a:t>Ensure all microservices (Mission, Analytics, AI Orchestrator, etc.) fully implement their planned functionalities for Phase 1.</a:t>
            </a:r>
            <a:endParaRPr lang="fr-FR" sz="2000" dirty="0">
              <a:latin typeface="Playfair Display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78866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38D3B1-A2D6-2645-436D-705C8CA797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67A9A5D6-55AA-D991-E249-BF985F45D7B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3025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2B45E1C-D09E-A3E7-31EB-2799840B92EC}"/>
              </a:ext>
            </a:extLst>
          </p:cNvPr>
          <p:cNvSpPr txBox="1"/>
          <p:nvPr/>
        </p:nvSpPr>
        <p:spPr>
          <a:xfrm>
            <a:off x="790483" y="2644170"/>
            <a:ext cx="6583854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600" b="1" spc="300" dirty="0">
                <a:solidFill>
                  <a:srgbClr val="226DF6"/>
                </a:solidFill>
                <a:latin typeface="Playfair Display" panose="00000500000000000000" pitchFamily="2" charset="0"/>
              </a:rPr>
              <a:t>Thank you</a:t>
            </a:r>
            <a:endParaRPr lang="fr-FR" sz="9600" b="1" spc="300" dirty="0">
              <a:solidFill>
                <a:srgbClr val="226DF6"/>
              </a:solidFill>
              <a:latin typeface="Playfair Display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82558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3786</TotalTime>
  <Words>553</Words>
  <Application>Microsoft Office PowerPoint</Application>
  <PresentationFormat>Widescreen</PresentationFormat>
  <Paragraphs>106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Aptos</vt:lpstr>
      <vt:lpstr>Aptos (Body)</vt:lpstr>
      <vt:lpstr>Aptos Display</vt:lpstr>
      <vt:lpstr>Arial</vt:lpstr>
      <vt:lpstr>Libre Baskerville</vt:lpstr>
      <vt:lpstr>Playfair Display</vt:lpstr>
      <vt:lpstr>Office Theme</vt:lpstr>
      <vt:lpstr>AI-Based Freelance-Startup System Progress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Chaima Djekhrab</dc:creator>
  <cp:lastModifiedBy>Chaima Djekhrab</cp:lastModifiedBy>
  <cp:revision>22</cp:revision>
  <dcterms:created xsi:type="dcterms:W3CDTF">2026-02-18T11:11:58Z</dcterms:created>
  <dcterms:modified xsi:type="dcterms:W3CDTF">2026-03-14T22:03:04Z</dcterms:modified>
</cp:coreProperties>
</file>