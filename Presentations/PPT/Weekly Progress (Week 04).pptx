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9" r:id="rId6"/>
    <p:sldId id="275" r:id="rId7"/>
    <p:sldId id="259" r:id="rId8"/>
    <p:sldId id="282" r:id="rId9"/>
    <p:sldId id="281" r:id="rId10"/>
    <p:sldId id="284" r:id="rId11"/>
    <p:sldId id="260" r:id="rId12"/>
    <p:sldId id="285" r:id="rId13"/>
    <p:sldId id="265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DF6"/>
    <a:srgbClr val="EEF1F5"/>
    <a:srgbClr val="F2F2F2"/>
    <a:srgbClr val="FCFCFE"/>
    <a:srgbClr val="F5F6FA"/>
    <a:srgbClr val="FDFDFD"/>
    <a:srgbClr val="FA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A224-4944-0243-5223-6249A499B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0CCA0B-3A75-F99D-D91B-52F67F2E7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C5C1-BF2B-C300-A166-BE8734A3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DDF11-2D5C-A387-E06D-642070D6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35D5-B812-5367-56FE-9D4D5E8F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91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D80B-F623-55D9-B885-627EAF26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ECFD-ECFF-3A2E-9A79-B4FD23A4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C239-EBC1-4C19-74CE-3F584539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92E9-5121-16C5-FE48-86A66D22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90BD6-5205-0243-E66A-A0B0005B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17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1605-CFAF-7D5F-6DE6-C3D7AD74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450F8-5C37-B083-B483-8484BDFAC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3D890-B2FE-D3B7-1889-E6A1F1FD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2CEF-1512-30BE-75C6-635438C2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503A4-8D07-A277-1AFF-C0EEE90E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98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67D5-3C4D-C7FC-C967-700EB211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9C36-F34D-F0E2-E00D-452B63D7D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4CD25-ED2F-F5DC-654B-F4997A9E1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93C62-51C0-4D3F-4E19-2F489036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A1DC1-7FB7-3721-A5AA-CC9C0867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504F4-56AF-0405-F74C-43773396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2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6E78-B744-21B7-37E5-C7004AC5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44491-FAAF-78E2-8BBA-BFE375B42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BDD96-AE80-A50E-602C-4C888C2BF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27390-2EF4-9797-A3E8-860895C78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32108-59EC-5CCD-985B-17E1000ED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EF739-5B1D-2DB5-605E-D84C3F89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07178-5F68-E13A-AAB2-CFDE225D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43D91-3B14-474D-7D24-80E240C4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7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3EAF-71FE-A7C8-B535-68A29FE9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6918-7B0F-8371-7492-4294EBB08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6B4E7-5DE4-E1EC-591C-9D38F6B7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96F15-CF21-DBB7-566F-266A0AA7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53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196AF-AAB1-5484-E390-CCB7D3C1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EB36B-69BB-AA86-F20B-9FC686E6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36F8C-0B3F-8DD8-25B6-72003AA0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75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C3DD-43AE-AC87-3745-BBFCD022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FF30-8DF7-AF8C-BB8D-A3C155011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280F1-C958-D502-793D-94331F8B8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02A1E-04C4-16A3-D77F-117CF7A9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7B52D-FDFF-C151-D8C9-D293FAA9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EF3A2-3590-5E55-59D3-CEED81DF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98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C062-A8D9-9FDA-E2E5-5246B045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4456B-2980-BF55-71B1-95853EF1B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8E323-DACE-BC85-B6EB-3F528CDA1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1C307-A617-02DE-72DF-AFC16DFB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180C5-65B0-7FFF-B07C-11184162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8F96-DBD2-7519-B63F-FEBF3B42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62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E268-5020-FAD3-EC19-B436E4EE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AB5F-4809-AC07-84A2-DCA513414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D1DA6-897A-65B9-4B2C-3F91569B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B49E7-B851-D505-05C0-9823083E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8EB13-BB07-2677-2EAA-63B37894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29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B4C3B2-2276-5867-EA34-46BE99218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F495B-73FB-9784-3013-BACD02161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150C-28FB-D359-6DDB-AFF07AE1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D040-1AD1-A970-B49A-24725779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43EB9-D1A8-A337-86EA-CE5812F6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40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F51B7-E955-D7AB-AC01-133AB065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067A7-BCE9-B2AE-05D9-8CD38E5E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B833B-9C2C-3BBB-03A6-A8AC22CD9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35059-BEE1-43CC-9E11-FA1C55B0A8F7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1C50-25CF-F000-A250-F8425C206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00A1-1D73-384C-18F7-9866C0392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D19D0-6058-474D-BE98-77F42B5C682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78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58638-D32E-A51A-B079-90F10EBE3C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078D81-19FC-5434-7CAE-F8FF3191C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805" y="1379210"/>
            <a:ext cx="10938389" cy="2680019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  <a:t>AI-Based Freelance-Startup System</a:t>
            </a:r>
            <a:b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226DF6"/>
                </a:solidFill>
                <a:latin typeface="Aptos (Body)"/>
                <a:cs typeface="Arial" panose="020B0604020202020204" pitchFamily="34" charset="0"/>
              </a:rPr>
              <a:t>Progress Presentation</a:t>
            </a:r>
            <a:endParaRPr lang="fr-FR" dirty="0">
              <a:solidFill>
                <a:srgbClr val="226DF6"/>
              </a:solidFill>
              <a:latin typeface="Aptos (Body)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8033E-0FB5-F78F-3B1B-2D4A13618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806" y="4434815"/>
            <a:ext cx="9833448" cy="1655762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Aptos (Body)"/>
                <a:cs typeface="Arial" panose="020B0604020202020204" pitchFamily="34" charset="0"/>
              </a:rPr>
              <a:t>Week</a:t>
            </a:r>
            <a:r>
              <a:rPr lang="fr-FR" sz="3600" dirty="0">
                <a:latin typeface="Aptos (Body)"/>
              </a:rPr>
              <a:t> 04</a:t>
            </a:r>
          </a:p>
        </p:txBody>
      </p:sp>
    </p:spTree>
    <p:extLst>
      <p:ext uri="{BB962C8B-B14F-4D97-AF65-F5344CB8AC3E}">
        <p14:creationId xmlns:p14="http://schemas.microsoft.com/office/powerpoint/2010/main" val="297164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77BBFE1-508C-690A-B5B9-9FCDB2D456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06589" cy="6858000"/>
          </a:xfr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64A5578-3080-1E16-04B3-6CF0BEC539A4}"/>
              </a:ext>
            </a:extLst>
          </p:cNvPr>
          <p:cNvGrpSpPr/>
          <p:nvPr/>
        </p:nvGrpSpPr>
        <p:grpSpPr>
          <a:xfrm>
            <a:off x="904568" y="2864575"/>
            <a:ext cx="2626934" cy="1128850"/>
            <a:chOff x="904568" y="2669482"/>
            <a:chExt cx="2626934" cy="11288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C20B18-A40E-74E5-B1F6-B3EEED87A6E4}"/>
                </a:ext>
              </a:extLst>
            </p:cNvPr>
            <p:cNvSpPr txBox="1">
              <a:spLocks/>
            </p:cNvSpPr>
            <p:nvPr/>
          </p:nvSpPr>
          <p:spPr>
            <a:xfrm>
              <a:off x="904568" y="2669482"/>
              <a:ext cx="2626934" cy="6848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fr-FR" sz="3850" b="1" dirty="0">
                  <a:solidFill>
                    <a:srgbClr val="226DF6"/>
                  </a:solidFill>
                  <a:effectLst/>
                  <a:latin typeface="Playfair Display" panose="020F0502020204030204" pitchFamily="2" charset="0"/>
                </a:rPr>
                <a:t>Contents</a:t>
              </a:r>
              <a:endParaRPr lang="fr-FR" sz="3850" dirty="0">
                <a:effectLst/>
                <a:latin typeface="Playfair Display" panose="020F0502020204030204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409096-D706-90CA-46D5-02D2703D6A3A}"/>
                </a:ext>
              </a:extLst>
            </p:cNvPr>
            <p:cNvSpPr txBox="1">
              <a:spLocks/>
            </p:cNvSpPr>
            <p:nvPr/>
          </p:nvSpPr>
          <p:spPr>
            <a:xfrm>
              <a:off x="904568" y="3429000"/>
              <a:ext cx="2626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pc="300" dirty="0">
                  <a:solidFill>
                    <a:srgbClr val="226DF6"/>
                  </a:solidFill>
                  <a:latin typeface="Libre Baskerville" panose="020F0502020204030204" pitchFamily="2" charset="0"/>
                </a:rPr>
                <a:t>CATALOGUE</a:t>
              </a:r>
              <a:endParaRPr lang="fr-FR" spc="300" dirty="0">
                <a:effectLst/>
                <a:latin typeface="Libre Baskerville" panose="020F0502020204030204" pitchFamily="2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DC79FDF-94A0-969E-E35E-3CA1E288C28B}"/>
              </a:ext>
            </a:extLst>
          </p:cNvPr>
          <p:cNvSpPr txBox="1"/>
          <p:nvPr/>
        </p:nvSpPr>
        <p:spPr>
          <a:xfrm>
            <a:off x="6209071" y="1212759"/>
            <a:ext cx="5982929" cy="359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</a:rPr>
              <a:t>01</a:t>
            </a:r>
            <a:r>
              <a:rPr lang="en-US" sz="3200" dirty="0"/>
              <a:t>   </a:t>
            </a:r>
            <a:r>
              <a:rPr lang="fr-FR" sz="3200" dirty="0"/>
              <a:t>Project </a:t>
            </a:r>
            <a:r>
              <a:rPr lang="fr-FR" sz="3200" dirty="0" err="1"/>
              <a:t>Positioning</a:t>
            </a:r>
            <a:endParaRPr lang="en-US" sz="3200" dirty="0"/>
          </a:p>
          <a:p>
            <a:pPr>
              <a:lnSpc>
                <a:spcPct val="2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</a:rPr>
              <a:t>02   </a:t>
            </a:r>
            <a:r>
              <a:rPr lang="en-US" sz="3200" dirty="0"/>
              <a:t>Weekly Progress</a:t>
            </a:r>
          </a:p>
          <a:p>
            <a:pPr>
              <a:lnSpc>
                <a:spcPct val="250000"/>
              </a:lnSpc>
              <a:buClr>
                <a:srgbClr val="226DF6"/>
              </a:buClr>
            </a:pPr>
            <a:r>
              <a:rPr lang="en-US" sz="3200" b="1" dirty="0">
                <a:solidFill>
                  <a:srgbClr val="226DF6"/>
                </a:solidFill>
              </a:rPr>
              <a:t>03    </a:t>
            </a:r>
            <a:r>
              <a:rPr lang="en-US" sz="3200" dirty="0"/>
              <a:t>Planning and Next Steps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503311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F29278-D45F-10F8-0A34-2B02531A4C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C46A47-4813-6B0B-DCFF-FD5EA9A45B8F}"/>
              </a:ext>
            </a:extLst>
          </p:cNvPr>
          <p:cNvSpPr txBox="1"/>
          <p:nvPr/>
        </p:nvSpPr>
        <p:spPr>
          <a:xfrm>
            <a:off x="6371303" y="4940711"/>
            <a:ext cx="539791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01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Project Positioning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C65D-B695-A872-05B0-44F2CD8C1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0846"/>
          <a:stretch>
            <a:fillRect/>
          </a:stretch>
        </p:blipFill>
        <p:spPr>
          <a:xfrm>
            <a:off x="1" y="0"/>
            <a:ext cx="5053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2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13C3-E9BE-7FD0-22CC-E18DE5A1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0B430D-CD5F-717F-5C5D-DF149DB64F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D4064C-DCD1-D44C-04F7-A3E5D2B5BD7F}"/>
              </a:ext>
            </a:extLst>
          </p:cNvPr>
          <p:cNvSpPr txBox="1"/>
          <p:nvPr/>
        </p:nvSpPr>
        <p:spPr>
          <a:xfrm>
            <a:off x="560437" y="250723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Current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Phase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8633A6-101C-9B23-BD3B-FA05C58498DF}"/>
              </a:ext>
            </a:extLst>
          </p:cNvPr>
          <p:cNvSpPr/>
          <p:nvPr/>
        </p:nvSpPr>
        <p:spPr>
          <a:xfrm>
            <a:off x="565248" y="938698"/>
            <a:ext cx="9796406" cy="1498598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8EB3D-1BF1-E344-4405-5592B4AB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350" y="1087833"/>
            <a:ext cx="80522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Phase 1: Intelligent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Foundation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ayfair Display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Focus: System Design and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Core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 Architecture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ayfair Display" panose="00000500000000000000" pitchFamily="2" charset="0"/>
              </a:rPr>
              <a:t>Goal of Week 04: </a:t>
            </a:r>
            <a:r>
              <a:rPr lang="en-US" sz="2400" dirty="0">
                <a:latin typeface="Playfair Display" panose="00000500000000000000" pitchFamily="2" charset="0"/>
              </a:rPr>
              <a:t>Advance further in the implementation 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110A9B-3E9F-2991-9D05-A69E838D4717}"/>
              </a:ext>
            </a:extLst>
          </p:cNvPr>
          <p:cNvSpPr/>
          <p:nvPr/>
        </p:nvSpPr>
        <p:spPr>
          <a:xfrm>
            <a:off x="560437" y="2586431"/>
            <a:ext cx="10005963" cy="4020846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6CF89-86A6-A55A-B75F-03D66DE94A1C}"/>
              </a:ext>
            </a:extLst>
          </p:cNvPr>
          <p:cNvSpPr txBox="1"/>
          <p:nvPr/>
        </p:nvSpPr>
        <p:spPr>
          <a:xfrm>
            <a:off x="1035350" y="3106554"/>
            <a:ext cx="7866743" cy="326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AI Recommendation Tool (Candidate Match)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Data Coherence AI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latin typeface="Playfair Display" panose="00000500000000000000" pitchFamily="2" charset="0"/>
              </a:rPr>
              <a:t>AI </a:t>
            </a:r>
            <a:r>
              <a:rPr lang="fr-FR" sz="2000" dirty="0" err="1">
                <a:latin typeface="Playfair Display" panose="00000500000000000000" pitchFamily="2" charset="0"/>
              </a:rPr>
              <a:t>Predictive</a:t>
            </a:r>
            <a:r>
              <a:rPr lang="fr-FR" sz="2000" dirty="0">
                <a:latin typeface="Playfair Display" panose="00000500000000000000" pitchFamily="2" charset="0"/>
              </a:rPr>
              <a:t> Tool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Selection and Mission Update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Mission Deployment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Application Tracking System</a:t>
            </a:r>
            <a:endParaRPr lang="fr-FR" sz="2000" dirty="0">
              <a:latin typeface="Playfair Display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Playfair Display" panose="00000500000000000000" pitchFamily="2" charset="0"/>
              </a:rPr>
              <a:t>Profile Engineering and Authentication 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0C37F-A465-A4BC-29A4-3FE7934CC582}"/>
              </a:ext>
            </a:extLst>
          </p:cNvPr>
          <p:cNvSpPr txBox="1"/>
          <p:nvPr/>
        </p:nvSpPr>
        <p:spPr>
          <a:xfrm>
            <a:off x="1035350" y="2726586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P</a:t>
            </a:r>
            <a:r>
              <a:rPr lang="fr-FR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hase </a:t>
            </a:r>
            <a:r>
              <a:rPr lang="fr-FR" sz="2400" dirty="0" err="1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Tasks</a:t>
            </a:r>
            <a:r>
              <a:rPr lang="fr-FR" sz="2400" dirty="0">
                <a:solidFill>
                  <a:srgbClr val="226DF6"/>
                </a:solidFill>
                <a:effectLst/>
                <a:latin typeface="Playfair Display" panose="00000500000000000000" pitchFamily="2" charset="0"/>
              </a:rPr>
              <a:t>:</a:t>
            </a:r>
            <a:endParaRPr lang="fr-FR" sz="40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651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D967-A683-5283-57D7-AEEE461B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286ADA-6E98-9A44-569A-773E36635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ADF2D7-CA42-4757-057E-83F89BEB8A7A}"/>
              </a:ext>
            </a:extLst>
          </p:cNvPr>
          <p:cNvSpPr txBox="1"/>
          <p:nvPr/>
        </p:nvSpPr>
        <p:spPr>
          <a:xfrm>
            <a:off x="560437" y="250723"/>
            <a:ext cx="3461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Weekly Objective</a:t>
            </a:r>
            <a:endParaRPr lang="fr-FR" sz="4800" dirty="0">
              <a:solidFill>
                <a:srgbClr val="226DF6"/>
              </a:solidFill>
              <a:effectLst/>
              <a:latin typeface="Playfair Display" panose="00000500000000000000" pitchFamily="2" charset="0"/>
            </a:endParaRP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E9CDCC41-2BF5-526B-C0F9-A70D1852418A}"/>
              </a:ext>
            </a:extLst>
          </p:cNvPr>
          <p:cNvSpPr/>
          <p:nvPr/>
        </p:nvSpPr>
        <p:spPr>
          <a:xfrm>
            <a:off x="1436328" y="1015823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64615-E4BA-2029-F4F0-B911212AA940}"/>
              </a:ext>
            </a:extLst>
          </p:cNvPr>
          <p:cNvSpPr txBox="1"/>
          <p:nvPr/>
        </p:nvSpPr>
        <p:spPr>
          <a:xfrm>
            <a:off x="1725745" y="1077377"/>
            <a:ext cx="551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01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B94B82A5-E29B-3834-AB0C-30130D4E2A00}"/>
              </a:ext>
            </a:extLst>
          </p:cNvPr>
          <p:cNvSpPr/>
          <p:nvPr/>
        </p:nvSpPr>
        <p:spPr>
          <a:xfrm>
            <a:off x="1442575" y="2768075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361E15-6C8B-2AE6-2442-D3FF7FF0513C}"/>
              </a:ext>
            </a:extLst>
          </p:cNvPr>
          <p:cNvSpPr txBox="1"/>
          <p:nvPr/>
        </p:nvSpPr>
        <p:spPr>
          <a:xfrm>
            <a:off x="1699130" y="2829629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02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1CBDCB-3040-6244-C261-FD2D8108E481}"/>
              </a:ext>
            </a:extLst>
          </p:cNvPr>
          <p:cNvSpPr txBox="1"/>
          <p:nvPr/>
        </p:nvSpPr>
        <p:spPr>
          <a:xfrm>
            <a:off x="2864520" y="2768075"/>
            <a:ext cx="5314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Improve the Objectives of Each Tool</a:t>
            </a:r>
            <a:endParaRPr lang="fr-FR" sz="24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16119-137A-4C2C-F8FA-C2CBFC6CEA9E}"/>
              </a:ext>
            </a:extLst>
          </p:cNvPr>
          <p:cNvSpPr txBox="1"/>
          <p:nvPr/>
        </p:nvSpPr>
        <p:spPr>
          <a:xfrm>
            <a:off x="2823471" y="4521456"/>
            <a:ext cx="4895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Integrate Frontend with Backend</a:t>
            </a:r>
            <a:endParaRPr lang="fr-FR" sz="24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349C1-C068-9951-9DDA-633F547CC908}"/>
              </a:ext>
            </a:extLst>
          </p:cNvPr>
          <p:cNvSpPr txBox="1"/>
          <p:nvPr/>
        </p:nvSpPr>
        <p:spPr>
          <a:xfrm>
            <a:off x="2864520" y="3322103"/>
            <a:ext cx="6462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Improve and test tools (Profile Analyzer, AI Recommendation modules) to meet functional requirements.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5CEE1-3032-C838-0131-0E60B275BD52}"/>
              </a:ext>
            </a:extLst>
          </p:cNvPr>
          <p:cNvSpPr txBox="1"/>
          <p:nvPr/>
        </p:nvSpPr>
        <p:spPr>
          <a:xfrm>
            <a:off x="2823470" y="4983121"/>
            <a:ext cx="6462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Connect the frontend interface to the backend services for all features developed in this phase, enabling end-to-end functionality.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CAB1BCF0-0413-C269-63AB-EB4869A5EF56}"/>
              </a:ext>
            </a:extLst>
          </p:cNvPr>
          <p:cNvSpPr/>
          <p:nvPr/>
        </p:nvSpPr>
        <p:spPr>
          <a:xfrm>
            <a:off x="1436328" y="4521456"/>
            <a:ext cx="1130588" cy="584775"/>
          </a:xfrm>
          <a:prstGeom prst="flowChartTerminator">
            <a:avLst/>
          </a:prstGeom>
          <a:solidFill>
            <a:srgbClr val="226DF6"/>
          </a:solidFill>
          <a:ln>
            <a:solidFill>
              <a:srgbClr val="226DF6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0B8F1-8659-D30D-FED4-80A26EFD0064}"/>
              </a:ext>
            </a:extLst>
          </p:cNvPr>
          <p:cNvSpPr txBox="1"/>
          <p:nvPr/>
        </p:nvSpPr>
        <p:spPr>
          <a:xfrm>
            <a:off x="1692883" y="4583010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02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130B46-EA4F-5226-EA5A-608F3ABB16DE}"/>
              </a:ext>
            </a:extLst>
          </p:cNvPr>
          <p:cNvSpPr txBox="1"/>
          <p:nvPr/>
        </p:nvSpPr>
        <p:spPr>
          <a:xfrm>
            <a:off x="2845792" y="956677"/>
            <a:ext cx="5867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Complete the Objectives of Each Service</a:t>
            </a:r>
            <a:endParaRPr lang="fr-FR" sz="24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1CCEB8-6134-FA66-F550-43427BD7C931}"/>
              </a:ext>
            </a:extLst>
          </p:cNvPr>
          <p:cNvSpPr txBox="1"/>
          <p:nvPr/>
        </p:nvSpPr>
        <p:spPr>
          <a:xfrm>
            <a:off x="2856333" y="1499202"/>
            <a:ext cx="6430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Ensure all microservices (Mission, Analytics, AI Orchestrator, etc.) fully implement their planned functionalities for Phase 1.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4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7D34-45AA-3599-AACC-95598A94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8408B-81CA-3C59-F9C9-7657A0B613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4725F3-FF7E-D889-2DAC-03610EB67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" t="2619" r="1563" b="3526"/>
          <a:stretch>
            <a:fillRect/>
          </a:stretch>
        </p:blipFill>
        <p:spPr>
          <a:xfrm>
            <a:off x="0" y="0"/>
            <a:ext cx="12225552" cy="6866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4F8B4C-13FE-CC13-13A6-B8C34334C6BD}"/>
              </a:ext>
            </a:extLst>
          </p:cNvPr>
          <p:cNvSpPr txBox="1"/>
          <p:nvPr/>
        </p:nvSpPr>
        <p:spPr>
          <a:xfrm>
            <a:off x="147484" y="353964"/>
            <a:ext cx="414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Project Architecture</a:t>
            </a:r>
            <a:endParaRPr lang="fr-FR" sz="28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8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0755-A06C-49D8-78D7-59CB564A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7DFC2-2AA5-D2D7-6EA5-CEE3B57FB7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2C9DF1-4DB8-D7F7-4782-5A0FF54E7996}"/>
              </a:ext>
            </a:extLst>
          </p:cNvPr>
          <p:cNvSpPr txBox="1"/>
          <p:nvPr/>
        </p:nvSpPr>
        <p:spPr>
          <a:xfrm>
            <a:off x="7138219" y="4940711"/>
            <a:ext cx="463099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02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Weekly Progress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8F0D8-C412-D8F8-C3B6-869896E1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7" t="24" r="37812" b="-24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99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C2B5B-160E-E79B-5447-598C44E12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CD23BB-B349-4770-D1E2-30BBD3745F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C86676-A609-03FF-363B-2B4E594D0E79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52968C4-E672-DCF1-BFCF-AC20773BAA52}"/>
              </a:ext>
            </a:extLst>
          </p:cNvPr>
          <p:cNvSpPr/>
          <p:nvPr/>
        </p:nvSpPr>
        <p:spPr>
          <a:xfrm>
            <a:off x="972457" y="1705861"/>
            <a:ext cx="9985829" cy="2281207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600"/>
              </a:spcAft>
            </a:pP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Objective</a:t>
            </a:r>
            <a:endParaRPr lang="en-US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Developing the final Selection Function to officially assign a freelancer and update the mission status globally.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Developing the Publish Mission functionality, allowing startups to define requirements such as (Title, Description, Skills, Budget, and Duration).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34AEB5-83BD-BEEA-30B5-0CA0FBCD9672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Mission Service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6736E75-C9E0-1431-ED7D-926E8CEC6B70}"/>
              </a:ext>
            </a:extLst>
          </p:cNvPr>
          <p:cNvSpPr/>
          <p:nvPr/>
        </p:nvSpPr>
        <p:spPr>
          <a:xfrm>
            <a:off x="972456" y="4143431"/>
            <a:ext cx="9985829" cy="236787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Functionallities</a:t>
            </a: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:</a:t>
            </a:r>
            <a:endParaRPr lang="en-US" dirty="0">
              <a:solidFill>
                <a:schemeClr val="tx1"/>
              </a:solidFill>
              <a:latin typeface="Playfair Display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Implement Mission Publishing</a:t>
            </a:r>
          </a:p>
        </p:txBody>
      </p:sp>
    </p:spTree>
    <p:extLst>
      <p:ext uri="{BB962C8B-B14F-4D97-AF65-F5344CB8AC3E}">
        <p14:creationId xmlns:p14="http://schemas.microsoft.com/office/powerpoint/2010/main" val="4091520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E4D3-FDB6-D623-C77C-DDEB9B9B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05834C-28FA-3898-532A-0F6DDDB175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4CCF17-9418-EA43-B5D8-B67BC93C35A8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D481D71-C66A-3837-AC9D-CA491131D8AA}"/>
              </a:ext>
            </a:extLst>
          </p:cNvPr>
          <p:cNvSpPr/>
          <p:nvPr/>
        </p:nvSpPr>
        <p:spPr>
          <a:xfrm>
            <a:off x="972457" y="1705861"/>
            <a:ext cx="9985829" cy="208926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600"/>
              </a:spcAft>
            </a:pPr>
            <a:r>
              <a:rPr lang="fr-FR" dirty="0">
                <a:solidFill>
                  <a:srgbClr val="226DF6"/>
                </a:solidFill>
                <a:latin typeface="Playfair Display" panose="00000500000000000000" pitchFamily="2" charset="0"/>
              </a:rPr>
              <a:t>Objective</a:t>
            </a:r>
            <a:endParaRPr lang="en-US" dirty="0">
              <a:solidFill>
                <a:srgbClr val="226DF6"/>
              </a:solidFill>
              <a:latin typeface="Playfair Display" panose="00000500000000000000" pitchFamily="2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Creating and managing detailed Startup Profiles, including startup information and mission statistics to build professional credibility.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Creating and managing detailed Freelancer Profiles, including freelancer information and skills.</a:t>
            </a:r>
            <a:endParaRPr lang="fr-FR" dirty="0">
              <a:solidFill>
                <a:schemeClr val="tx1"/>
              </a:solidFill>
              <a:latin typeface="Playfair Display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8731BE-94E8-962F-E30D-790E81CDB0E9}"/>
              </a:ext>
            </a:extLst>
          </p:cNvPr>
          <p:cNvSpPr txBox="1"/>
          <p:nvPr/>
        </p:nvSpPr>
        <p:spPr>
          <a:xfrm>
            <a:off x="972457" y="1087833"/>
            <a:ext cx="449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Playfair Display" panose="00000500000000000000" pitchFamily="2" charset="0"/>
              </a:rPr>
              <a:t>User Service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9A7A01D-70E2-1B4D-B7E0-3ABFF7E22C1E}"/>
              </a:ext>
            </a:extLst>
          </p:cNvPr>
          <p:cNvSpPr/>
          <p:nvPr/>
        </p:nvSpPr>
        <p:spPr>
          <a:xfrm>
            <a:off x="972456" y="3968201"/>
            <a:ext cx="9985829" cy="2367875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1200"/>
              </a:spcAft>
            </a:pPr>
            <a:r>
              <a:rPr lang="en-US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Functionallities</a:t>
            </a:r>
            <a:r>
              <a:rPr lang="en-US" dirty="0">
                <a:solidFill>
                  <a:srgbClr val="226DF6"/>
                </a:solidFill>
                <a:latin typeface="Playfair Display" panose="00000500000000000000" pitchFamily="2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Defining the Profile </a:t>
            </a:r>
            <a:r>
              <a:rPr lang="en-US" dirty="0" err="1">
                <a:solidFill>
                  <a:schemeClr val="tx1"/>
                </a:solidFill>
                <a:latin typeface="Playfair Display" panose="00000500000000000000" pitchFamily="2" charset="0"/>
              </a:rPr>
              <a:t>engernering</a:t>
            </a: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layfair Display" panose="00000500000000000000" pitchFamily="2" charset="0"/>
              </a:rPr>
              <a:t>Defining the JWT Authentication logic</a:t>
            </a:r>
          </a:p>
        </p:txBody>
      </p:sp>
    </p:spTree>
    <p:extLst>
      <p:ext uri="{BB962C8B-B14F-4D97-AF65-F5344CB8AC3E}">
        <p14:creationId xmlns:p14="http://schemas.microsoft.com/office/powerpoint/2010/main" val="3373762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9310F-2271-310C-4BFD-0F51675D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0927CB-8EBF-9707-BEA4-FF2B654F51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DF0CD2-AA17-7572-581E-B5C0A0172A54}"/>
              </a:ext>
            </a:extLst>
          </p:cNvPr>
          <p:cNvSpPr txBox="1"/>
          <p:nvPr/>
        </p:nvSpPr>
        <p:spPr>
          <a:xfrm>
            <a:off x="353962" y="250723"/>
            <a:ext cx="55018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Work </a:t>
            </a:r>
            <a:r>
              <a:rPr lang="fr-FR" sz="3200" b="1" dirty="0" err="1">
                <a:solidFill>
                  <a:srgbClr val="226DF6"/>
                </a:solidFill>
                <a:latin typeface="Playfair Display" panose="00000500000000000000" pitchFamily="2" charset="0"/>
              </a:rPr>
              <a:t>Completed</a:t>
            </a:r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 This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CC3FC4-0BB1-327E-90C0-47FF95B36C79}"/>
              </a:ext>
            </a:extLst>
          </p:cNvPr>
          <p:cNvSpPr/>
          <p:nvPr/>
        </p:nvSpPr>
        <p:spPr>
          <a:xfrm>
            <a:off x="152400" y="1212317"/>
            <a:ext cx="11704320" cy="1645920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spcAft>
                <a:spcPts val="1200"/>
              </a:spcAft>
            </a:pP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Frontend:</a:t>
            </a:r>
          </a:p>
          <a:p>
            <a:pPr lvl="1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layfair Display" panose="00000500000000000000" pitchFamily="2" charset="0"/>
              </a:rPr>
              <a:t>Create well-structured service files with API configuration and DTOs to ensure a clear, efficient, and maintainable connection between the frontend and backend.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36B8070-739C-2D83-D04D-D38A76B1CD2C}"/>
              </a:ext>
            </a:extLst>
          </p:cNvPr>
          <p:cNvSpPr/>
          <p:nvPr/>
        </p:nvSpPr>
        <p:spPr>
          <a:xfrm>
            <a:off x="152400" y="3086837"/>
            <a:ext cx="11704320" cy="1645920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spcAft>
                <a:spcPts val="1200"/>
              </a:spcAft>
            </a:pP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AI Orchestrator:</a:t>
            </a:r>
          </a:p>
          <a:p>
            <a:pPr lvl="1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layfair Display" panose="00000500000000000000" pitchFamily="2" charset="0"/>
              </a:rPr>
              <a:t>Define and begin implementing the AI orchestrator, </a:t>
            </a:r>
            <a:r>
              <a:rPr lang="en-US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Establishing the core architecture and beginning to integrate key features, including chat, prompt management, and tool integrations.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3C623B-C752-FA0D-97B0-08C11990B736}"/>
              </a:ext>
            </a:extLst>
          </p:cNvPr>
          <p:cNvSpPr/>
          <p:nvPr/>
        </p:nvSpPr>
        <p:spPr>
          <a:xfrm>
            <a:off x="152400" y="4961357"/>
            <a:ext cx="11704320" cy="1645920"/>
          </a:xfrm>
          <a:prstGeom prst="roundRect">
            <a:avLst/>
          </a:prstGeom>
          <a:gradFill flip="none" rotWithShape="1">
            <a:gsLst>
              <a:gs pos="0">
                <a:srgbClr val="FCFCFE"/>
              </a:gs>
              <a:gs pos="74000">
                <a:srgbClr val="FCFCFE"/>
              </a:gs>
              <a:gs pos="83000">
                <a:srgbClr val="FCFCFE"/>
              </a:gs>
              <a:gs pos="100000">
                <a:srgbClr val="FCFCFE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spcAft>
                <a:spcPts val="1200"/>
              </a:spcAft>
            </a:pPr>
            <a:r>
              <a:rPr lang="en-US" sz="2400" dirty="0">
                <a:solidFill>
                  <a:srgbClr val="226DF6"/>
                </a:solidFill>
                <a:latin typeface="Playfair Display" panose="00000500000000000000" pitchFamily="2" charset="0"/>
              </a:rPr>
              <a:t>API Gateway: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Playfair Display" panose="00000500000000000000" pitchFamily="2" charset="0"/>
              </a:rPr>
              <a:t>Implement a JavaScript-based API Gateway for centralized request routing.</a:t>
            </a:r>
          </a:p>
        </p:txBody>
      </p:sp>
    </p:spTree>
    <p:extLst>
      <p:ext uri="{BB962C8B-B14F-4D97-AF65-F5344CB8AC3E}">
        <p14:creationId xmlns:p14="http://schemas.microsoft.com/office/powerpoint/2010/main" val="942766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1FAD-FE95-7FFB-072C-CD88485C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B13DC-14AF-81E0-E343-593D9ABF69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43292-3975-9653-EC50-D3A08D8BB5A9}"/>
              </a:ext>
            </a:extLst>
          </p:cNvPr>
          <p:cNvSpPr txBox="1"/>
          <p:nvPr/>
        </p:nvSpPr>
        <p:spPr>
          <a:xfrm>
            <a:off x="5840361" y="4925963"/>
            <a:ext cx="592885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03</a:t>
            </a:r>
            <a:br>
              <a:rPr lang="en-US" sz="4000" b="1" dirty="0">
                <a:latin typeface="Playfair Display" panose="00000500000000000000" pitchFamily="2" charset="0"/>
              </a:rPr>
            </a:br>
            <a:r>
              <a:rPr lang="en-US" sz="4000" b="1" dirty="0">
                <a:latin typeface="Playfair Display" panose="00000500000000000000" pitchFamily="2" charset="0"/>
              </a:rPr>
              <a:t>Planning and Next steps</a:t>
            </a:r>
            <a:endParaRPr lang="fr-FR" sz="4000" b="1" dirty="0">
              <a:latin typeface="Playfair Display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733BB-9D34-8CD9-E2FD-A21192B69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3" r="24710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00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08E4-428B-E42E-4E03-E10B675F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3CBC4-0608-1C03-6784-E082249268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2"/>
            <a:ext cx="12192000" cy="6861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FA0AE9-A00E-BB05-B1D7-BEE2051934E0}"/>
              </a:ext>
            </a:extLst>
          </p:cNvPr>
          <p:cNvSpPr txBox="1"/>
          <p:nvPr/>
        </p:nvSpPr>
        <p:spPr>
          <a:xfrm>
            <a:off x="353962" y="250723"/>
            <a:ext cx="45143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226DF6"/>
                </a:solidFill>
                <a:latin typeface="Playfair Display" panose="00000500000000000000" pitchFamily="2" charset="0"/>
              </a:rPr>
              <a:t>Plan for the Next Week</a:t>
            </a:r>
            <a:endParaRPr lang="fr-FR" sz="32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DB61FC-9ED1-4A8B-5973-2BE9799AC413}"/>
              </a:ext>
            </a:extLst>
          </p:cNvPr>
          <p:cNvSpPr/>
          <p:nvPr/>
        </p:nvSpPr>
        <p:spPr>
          <a:xfrm>
            <a:off x="1443717" y="5157100"/>
            <a:ext cx="822960" cy="82296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2DF52C-C686-9216-BC38-AC19136011F3}"/>
              </a:ext>
            </a:extLst>
          </p:cNvPr>
          <p:cNvSpPr/>
          <p:nvPr/>
        </p:nvSpPr>
        <p:spPr>
          <a:xfrm>
            <a:off x="1443717" y="1190032"/>
            <a:ext cx="822960" cy="82296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42C31A-52D4-B579-E703-A355C250E092}"/>
              </a:ext>
            </a:extLst>
          </p:cNvPr>
          <p:cNvSpPr/>
          <p:nvPr/>
        </p:nvSpPr>
        <p:spPr>
          <a:xfrm>
            <a:off x="1443717" y="2934480"/>
            <a:ext cx="822960" cy="822960"/>
          </a:xfrm>
          <a:prstGeom prst="ellipse">
            <a:avLst/>
          </a:prstGeom>
          <a:solidFill>
            <a:srgbClr val="226DF6"/>
          </a:solidFill>
          <a:ln w="28575" cmpd="sng">
            <a:solidFill>
              <a:srgbClr val="226DF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410919-5A8B-3327-2920-32C1C72827FF}"/>
              </a:ext>
            </a:extLst>
          </p:cNvPr>
          <p:cNvSpPr txBox="1"/>
          <p:nvPr/>
        </p:nvSpPr>
        <p:spPr>
          <a:xfrm>
            <a:off x="1579320" y="1370679"/>
            <a:ext cx="551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01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FDDCC-5877-0C55-F32F-657E686DEEEF}"/>
              </a:ext>
            </a:extLst>
          </p:cNvPr>
          <p:cNvSpPr txBox="1"/>
          <p:nvPr/>
        </p:nvSpPr>
        <p:spPr>
          <a:xfrm>
            <a:off x="1546458" y="3115127"/>
            <a:ext cx="617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02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A7CAE-AC48-1AFC-F9A3-B25E1CBA1D1B}"/>
              </a:ext>
            </a:extLst>
          </p:cNvPr>
          <p:cNvSpPr txBox="1"/>
          <p:nvPr/>
        </p:nvSpPr>
        <p:spPr>
          <a:xfrm>
            <a:off x="1579320" y="5337747"/>
            <a:ext cx="61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03</a:t>
            </a:r>
            <a:endParaRPr lang="fr-FR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76431-8E11-1C8F-AA5F-99BD0CB61408}"/>
              </a:ext>
            </a:extLst>
          </p:cNvPr>
          <p:cNvSpPr txBox="1"/>
          <p:nvPr/>
        </p:nvSpPr>
        <p:spPr>
          <a:xfrm>
            <a:off x="2369418" y="2884294"/>
            <a:ext cx="5314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layfair Display" panose="00000500000000000000" pitchFamily="2" charset="0"/>
              </a:rPr>
              <a:t>Improve the Objectives of Each Tool</a:t>
            </a:r>
            <a:endParaRPr lang="fr-FR" sz="2400" b="1" dirty="0">
              <a:latin typeface="Playfair Display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CD0A8-33AA-DD73-1B17-B013CE5BE4A4}"/>
              </a:ext>
            </a:extLst>
          </p:cNvPr>
          <p:cNvSpPr txBox="1"/>
          <p:nvPr/>
        </p:nvSpPr>
        <p:spPr>
          <a:xfrm>
            <a:off x="2402280" y="4926267"/>
            <a:ext cx="4895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layfair Display" panose="00000500000000000000" pitchFamily="2" charset="0"/>
              </a:rPr>
              <a:t>Integrate Frontend with Backend</a:t>
            </a:r>
            <a:endParaRPr lang="fr-FR" sz="2400" b="1" dirty="0">
              <a:latin typeface="Playfair Display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318198-258E-7434-940B-2044C8E61830}"/>
              </a:ext>
            </a:extLst>
          </p:cNvPr>
          <p:cNvSpPr txBox="1"/>
          <p:nvPr/>
        </p:nvSpPr>
        <p:spPr>
          <a:xfrm>
            <a:off x="2369418" y="3528254"/>
            <a:ext cx="7122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Improve and test tools (Profile Analyzer, AI Recommendation modules) to meet functional requirements.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4B6EA5-3F57-3D7D-0914-419DE2307431}"/>
              </a:ext>
            </a:extLst>
          </p:cNvPr>
          <p:cNvSpPr txBox="1"/>
          <p:nvPr/>
        </p:nvSpPr>
        <p:spPr>
          <a:xfrm>
            <a:off x="2402280" y="5513384"/>
            <a:ext cx="68142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Connect the frontend interface to the backend services for all features developed in this phase, enabling end-to-end functionality.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E84FD-6729-AE82-A63C-BA7DE1E2D913}"/>
              </a:ext>
            </a:extLst>
          </p:cNvPr>
          <p:cNvSpPr txBox="1"/>
          <p:nvPr/>
        </p:nvSpPr>
        <p:spPr>
          <a:xfrm>
            <a:off x="2369418" y="1035099"/>
            <a:ext cx="5867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Playfair Display" panose="00000500000000000000" pitchFamily="2" charset="0"/>
              </a:rPr>
              <a:t>Complete the Objectives of Each Service</a:t>
            </a:r>
            <a:endParaRPr lang="fr-FR" sz="2400" b="1" dirty="0">
              <a:latin typeface="Playfair Display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D6BA74-9E8A-38A2-63AB-83FC971D92D6}"/>
              </a:ext>
            </a:extLst>
          </p:cNvPr>
          <p:cNvSpPr txBox="1"/>
          <p:nvPr/>
        </p:nvSpPr>
        <p:spPr>
          <a:xfrm>
            <a:off x="2369418" y="1679059"/>
            <a:ext cx="7703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layfair Display" panose="00000500000000000000" pitchFamily="2" charset="0"/>
              </a:rPr>
              <a:t>Ensure all microservices (Mission, Analytics, AI Orchestrator, etc.) fully implement their planned functionalities for Phase 1.</a:t>
            </a:r>
            <a:endParaRPr lang="fr-FR" sz="2000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66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D3B1-A2D6-2645-436D-705C8CA7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7A9A5D6-55AA-D991-E249-BF985F45D7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30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B45E1C-D09E-A3E7-31EB-2799840B92EC}"/>
              </a:ext>
            </a:extLst>
          </p:cNvPr>
          <p:cNvSpPr txBox="1"/>
          <p:nvPr/>
        </p:nvSpPr>
        <p:spPr>
          <a:xfrm>
            <a:off x="790483" y="2644170"/>
            <a:ext cx="65838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spc="300" dirty="0">
                <a:solidFill>
                  <a:srgbClr val="226DF6"/>
                </a:solidFill>
                <a:latin typeface="Playfair Display" panose="00000500000000000000" pitchFamily="2" charset="0"/>
              </a:rPr>
              <a:t>Thank you</a:t>
            </a:r>
            <a:endParaRPr lang="fr-FR" sz="9600" b="1" spc="300" dirty="0">
              <a:solidFill>
                <a:srgbClr val="226DF6"/>
              </a:solidFill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255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4914</TotalTime>
  <Words>438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(Body)</vt:lpstr>
      <vt:lpstr>Aptos Display</vt:lpstr>
      <vt:lpstr>Arial</vt:lpstr>
      <vt:lpstr>Libre Baskerville</vt:lpstr>
      <vt:lpstr>Playfair Display</vt:lpstr>
      <vt:lpstr>Office Theme</vt:lpstr>
      <vt:lpstr>AI-Based Freelance-Startup System Progress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Chaima Djekhrab</dc:creator>
  <cp:lastModifiedBy>Chaima Djekhrab</cp:lastModifiedBy>
  <cp:revision>24</cp:revision>
  <dcterms:created xsi:type="dcterms:W3CDTF">2026-02-18T11:11:58Z</dcterms:created>
  <dcterms:modified xsi:type="dcterms:W3CDTF">2026-04-03T12:33:03Z</dcterms:modified>
</cp:coreProperties>
</file>