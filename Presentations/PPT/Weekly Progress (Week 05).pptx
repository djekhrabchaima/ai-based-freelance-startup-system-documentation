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5" r:id="rId7"/>
    <p:sldId id="259" r:id="rId8"/>
    <p:sldId id="285" r:id="rId9"/>
    <p:sldId id="284" r:id="rId10"/>
    <p:sldId id="290" r:id="rId11"/>
    <p:sldId id="291" r:id="rId12"/>
    <p:sldId id="293" r:id="rId13"/>
    <p:sldId id="286" r:id="rId14"/>
    <p:sldId id="287" r:id="rId15"/>
    <p:sldId id="295" r:id="rId16"/>
    <p:sldId id="294" r:id="rId17"/>
    <p:sldId id="260" r:id="rId18"/>
    <p:sldId id="264" r:id="rId19"/>
    <p:sldId id="26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6DF6"/>
    <a:srgbClr val="FCFCFE"/>
    <a:srgbClr val="EEF1F5"/>
    <a:srgbClr val="F5F6FA"/>
    <a:srgbClr val="F2F2F2"/>
    <a:srgbClr val="FDFDFD"/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A224-4944-0243-5223-6249A499B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CA0B-3A75-F99D-D91B-52F67F2E7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C5C1-BF2B-C300-A166-BE8734A3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DDF11-2D5C-A387-E06D-642070D6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35D5-B812-5367-56FE-9D4D5E8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D80B-F623-55D9-B885-627EAF26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ECFD-ECFF-3A2E-9A79-B4FD23A4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C239-EBC1-4C19-74CE-3F584539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92E9-5121-16C5-FE48-86A66D22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0BD6-5205-0243-E66A-A0B0005B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7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1605-CFAF-7D5F-6DE6-C3D7AD74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50F8-5C37-B083-B483-8484BDFAC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D890-B2FE-D3B7-1889-E6A1F1FD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2CEF-1512-30BE-75C6-635438C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03A4-8D07-A277-1AFF-C0EEE90E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98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67D5-3C4D-C7FC-C967-700EB211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9C36-F34D-F0E2-E00D-452B63D7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CD25-ED2F-F5DC-654B-F4997A9E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93C62-51C0-4D3F-4E19-2F489036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A1DC1-7FB7-3721-A5AA-CC9C0867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504F4-56AF-0405-F74C-43773396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2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6E78-B744-21B7-37E5-C7004AC5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4491-FAAF-78E2-8BBA-BFE375B42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DD96-AE80-A50E-602C-4C888C2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7390-2EF4-9797-A3E8-860895C78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32108-59EC-5CCD-985B-17E1000ED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EF739-5B1D-2DB5-605E-D84C3F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07178-5F68-E13A-AAB2-CFDE225D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43D91-3B14-474D-7D24-80E240C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7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EAF-71FE-A7C8-B535-68A29FE9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6918-7B0F-8371-7492-4294EBB0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6B4E7-5DE4-E1EC-591C-9D38F6B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96F15-CF21-DBB7-566F-266A0AA7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53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196AF-AAB1-5484-E390-CCB7D3C1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EB36B-69BB-AA86-F20B-9FC686E6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6F8C-0B3F-8DD8-25B6-72003A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C3DD-43AE-AC87-3745-BBFCD022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FF30-8DF7-AF8C-BB8D-A3C15501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280F1-C958-D502-793D-94331F8B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2A1E-04C4-16A3-D77F-117CF7A9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7B52D-FDFF-C151-D8C9-D293FAA9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F3A2-3590-5E55-59D3-CEED81D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8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C062-A8D9-9FDA-E2E5-5246B045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4456B-2980-BF55-71B1-95853EF1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E323-DACE-BC85-B6EB-3F528CDA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1C307-A617-02DE-72DF-AFC16DFB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180C5-65B0-7FFF-B07C-1118416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8F96-DBD2-7519-B63F-FEBF3B4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E268-5020-FAD3-EC19-B436E4EE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AB5F-4809-AC07-84A2-DCA51341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1DA6-897A-65B9-4B2C-3F91569B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49E7-B851-D505-05C0-9823083E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EB13-BB07-2677-2EAA-63B3789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2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4C3B2-2276-5867-EA34-46BE99218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495B-73FB-9784-3013-BACD0216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150C-28FB-D359-6DDB-AFF07AE1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D040-1AD1-A970-B49A-24725779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3EB9-D1A8-A337-86EA-CE5812F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40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F51B7-E955-D7AB-AC01-133AB06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067A7-BCE9-B2AE-05D9-8CD38E5E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B833B-9C2C-3BBB-03A6-A8AC22CD9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35059-BEE1-43CC-9E11-FA1C55B0A8F7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1C50-25CF-F000-A250-F8425C206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00A1-1D73-384C-18F7-9866C039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58638-D32E-A51A-B079-90F10EBE3C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78D81-19FC-5434-7CAE-F8FF3191C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805" y="1379210"/>
            <a:ext cx="10938389" cy="2680019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AI-Based Freelance-Startup System</a:t>
            </a:r>
            <a:b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Progress Presentation</a:t>
            </a:r>
            <a:endParaRPr lang="fr-FR" dirty="0">
              <a:solidFill>
                <a:srgbClr val="226DF6"/>
              </a:solidFill>
              <a:latin typeface="Aptos (Body)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8033E-0FB5-F78F-3B1B-2D4A13618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806" y="4434815"/>
            <a:ext cx="9833448" cy="1655762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Aptos (Body)"/>
                <a:cs typeface="Arial" panose="020B0604020202020204" pitchFamily="34" charset="0"/>
              </a:rPr>
              <a:t>Week</a:t>
            </a:r>
            <a:r>
              <a:rPr lang="fr-FR" sz="3600" dirty="0">
                <a:latin typeface="Aptos (Body)"/>
              </a:rPr>
              <a:t> 05</a:t>
            </a:r>
          </a:p>
        </p:txBody>
      </p:sp>
    </p:spTree>
    <p:extLst>
      <p:ext uri="{BB962C8B-B14F-4D97-AF65-F5344CB8AC3E}">
        <p14:creationId xmlns:p14="http://schemas.microsoft.com/office/powerpoint/2010/main" val="297164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77BBFE1-508C-690A-B5B9-9FCDB2D456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6589" cy="6858000"/>
          </a:xfr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4A5578-3080-1E16-04B3-6CF0BEC539A4}"/>
              </a:ext>
            </a:extLst>
          </p:cNvPr>
          <p:cNvGrpSpPr/>
          <p:nvPr/>
        </p:nvGrpSpPr>
        <p:grpSpPr>
          <a:xfrm>
            <a:off x="904568" y="2864575"/>
            <a:ext cx="2626934" cy="1128850"/>
            <a:chOff x="904568" y="2669482"/>
            <a:chExt cx="2626934" cy="11288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20B18-A40E-74E5-B1F6-B3EEED87A6E4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2669482"/>
              <a:ext cx="2626934" cy="684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FR" sz="3850" b="1" dirty="0">
                  <a:solidFill>
                    <a:srgbClr val="226DF6"/>
                  </a:solidFill>
                  <a:effectLst/>
                  <a:latin typeface="Playfair Display" panose="020F0502020204030204" pitchFamily="2" charset="0"/>
                </a:rPr>
                <a:t>Contents</a:t>
              </a:r>
              <a:endParaRPr lang="fr-FR" sz="3850" dirty="0">
                <a:effectLst/>
                <a:latin typeface="Playfair Display" panose="020F05020202040302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09096-D706-90CA-46D5-02D2703D6A3A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3429000"/>
              <a:ext cx="2626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pc="300" dirty="0">
                  <a:solidFill>
                    <a:srgbClr val="226DF6"/>
                  </a:solidFill>
                  <a:latin typeface="Libre Baskerville" panose="020F0502020204030204" pitchFamily="2" charset="0"/>
                </a:rPr>
                <a:t>CATALOGUE</a:t>
              </a:r>
              <a:endParaRPr lang="fr-FR" spc="300" dirty="0">
                <a:effectLst/>
                <a:latin typeface="Libre Baskerville" panose="020F0502020204030204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DC79FDF-94A0-969E-E35E-3CA1E288C28B}"/>
              </a:ext>
            </a:extLst>
          </p:cNvPr>
          <p:cNvSpPr txBox="1"/>
          <p:nvPr/>
        </p:nvSpPr>
        <p:spPr>
          <a:xfrm>
            <a:off x="5235679" y="992403"/>
            <a:ext cx="7561006" cy="4873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01</a:t>
            </a:r>
            <a:r>
              <a:rPr lang="en-US" sz="3000" dirty="0"/>
              <a:t>   </a:t>
            </a:r>
            <a:r>
              <a:rPr lang="fr-FR" sz="3000" dirty="0"/>
              <a:t>Project </a:t>
            </a:r>
            <a:r>
              <a:rPr lang="fr-FR" sz="3000" dirty="0" err="1"/>
              <a:t>Positioning</a:t>
            </a:r>
            <a:endParaRPr lang="en-US" sz="3000" dirty="0"/>
          </a:p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02   </a:t>
            </a:r>
            <a:r>
              <a:rPr lang="en-US" sz="3000" dirty="0"/>
              <a:t>Weekly Progress</a:t>
            </a:r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2.1 </a:t>
            </a:r>
            <a:r>
              <a:rPr lang="fr-FR" sz="3000" dirty="0" err="1"/>
              <a:t>Core</a:t>
            </a:r>
            <a:r>
              <a:rPr lang="fr-FR" sz="3000" dirty="0"/>
              <a:t> Backend Services</a:t>
            </a:r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fr-FR" sz="3000" b="1" dirty="0">
                <a:solidFill>
                  <a:srgbClr val="226DF6"/>
                </a:solidFill>
              </a:rPr>
              <a:t>2.2 </a:t>
            </a:r>
            <a:r>
              <a:rPr lang="fr-FR" sz="3000" dirty="0"/>
              <a:t>AI &amp; Intelligent Layer</a:t>
            </a:r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fr-FR" sz="3000" b="1" dirty="0">
                <a:solidFill>
                  <a:srgbClr val="226DF6"/>
                </a:solidFill>
              </a:rPr>
              <a:t>2.3 </a:t>
            </a:r>
            <a:r>
              <a:rPr lang="fr-FR" sz="3000" dirty="0"/>
              <a:t>Infrastructure &amp; System </a:t>
            </a:r>
            <a:r>
              <a:rPr lang="fr-FR" sz="3000" dirty="0" err="1"/>
              <a:t>Integration</a:t>
            </a:r>
            <a:endParaRPr lang="fr-FR" sz="3000" dirty="0"/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fr-FR" sz="3000" b="1" dirty="0">
                <a:solidFill>
                  <a:srgbClr val="226DF6"/>
                </a:solidFill>
              </a:rPr>
              <a:t>2.4 </a:t>
            </a:r>
            <a:r>
              <a:rPr lang="fr-FR" sz="3000" dirty="0"/>
              <a:t>Frontend Layer</a:t>
            </a:r>
            <a:endParaRPr lang="en-US" sz="3000" b="1" dirty="0">
              <a:solidFill>
                <a:srgbClr val="226DF6"/>
              </a:solidFill>
            </a:endParaRPr>
          </a:p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03    </a:t>
            </a:r>
            <a:r>
              <a:rPr lang="en-US" sz="3000" dirty="0"/>
              <a:t>Planning and Next Steps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50331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29278-D45F-10F8-0A34-2B02531A4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46A47-4813-6B0B-DCFF-FD5EA9A45B8F}"/>
              </a:ext>
            </a:extLst>
          </p:cNvPr>
          <p:cNvSpPr txBox="1"/>
          <p:nvPr/>
        </p:nvSpPr>
        <p:spPr>
          <a:xfrm>
            <a:off x="6371303" y="4940711"/>
            <a:ext cx="539791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01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Project Positioning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C65D-B695-A872-05B0-44F2CD8C1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0846"/>
          <a:stretch>
            <a:fillRect/>
          </a:stretch>
        </p:blipFill>
        <p:spPr>
          <a:xfrm>
            <a:off x="1" y="0"/>
            <a:ext cx="5053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3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13C3-E9BE-7FD0-22CC-E18DE5A1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B430D-CD5F-717F-5C5D-DF149DB64F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4064C-DCD1-D44C-04F7-A3E5D2B5BD7F}"/>
              </a:ext>
            </a:extLst>
          </p:cNvPr>
          <p:cNvSpPr txBox="1"/>
          <p:nvPr/>
        </p:nvSpPr>
        <p:spPr>
          <a:xfrm>
            <a:off x="560437" y="250723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Current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Phase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633A6-101C-9B23-BD3B-FA05C58498DF}"/>
              </a:ext>
            </a:extLst>
          </p:cNvPr>
          <p:cNvSpPr/>
          <p:nvPr/>
        </p:nvSpPr>
        <p:spPr>
          <a:xfrm>
            <a:off x="565248" y="938698"/>
            <a:ext cx="9796406" cy="1498598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8EB3D-1BF1-E344-4405-5592B4AB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350" y="1087833"/>
            <a:ext cx="86244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Phase 1: Intelligent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Foundation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Focus: System Design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Core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Goal of Week 04: </a:t>
            </a:r>
            <a:r>
              <a:rPr lang="en-US" sz="2400" dirty="0">
                <a:latin typeface="Playfair Display" panose="00000500000000000000" pitchFamily="2" charset="0"/>
              </a:rPr>
              <a:t>Complete the implementation of this phase 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110A9B-3E9F-2991-9D05-A69E838D4717}"/>
              </a:ext>
            </a:extLst>
          </p:cNvPr>
          <p:cNvSpPr/>
          <p:nvPr/>
        </p:nvSpPr>
        <p:spPr>
          <a:xfrm>
            <a:off x="560437" y="2586431"/>
            <a:ext cx="10005963" cy="4020846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6CF89-86A6-A55A-B75F-03D66DE94A1C}"/>
              </a:ext>
            </a:extLst>
          </p:cNvPr>
          <p:cNvSpPr txBox="1"/>
          <p:nvPr/>
        </p:nvSpPr>
        <p:spPr>
          <a:xfrm>
            <a:off x="1035350" y="3106554"/>
            <a:ext cx="7866743" cy="326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AI Recommendation Tool (Candidate Match)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Profile Analyzer Tool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Playfair Display" panose="00000500000000000000" pitchFamily="2" charset="0"/>
              </a:rPr>
              <a:t>AI </a:t>
            </a:r>
            <a:r>
              <a:rPr lang="fr-FR" sz="2000" dirty="0" err="1">
                <a:latin typeface="Playfair Display" panose="00000500000000000000" pitchFamily="2" charset="0"/>
              </a:rPr>
              <a:t>Predictive</a:t>
            </a:r>
            <a:r>
              <a:rPr lang="fr-FR" sz="2000" dirty="0">
                <a:latin typeface="Playfair Display" panose="00000500000000000000" pitchFamily="2" charset="0"/>
              </a:rPr>
              <a:t> Tool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Selection and Mission Update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Mission Deployment</a:t>
            </a:r>
            <a:br>
              <a:rPr lang="en-US" sz="2000" dirty="0">
                <a:latin typeface="Playfair Display" panose="00000500000000000000" pitchFamily="2" charset="0"/>
              </a:rPr>
            </a:br>
            <a:r>
              <a:rPr lang="en-CA" sz="2000" dirty="0">
                <a:latin typeface="Playfair Display" panose="00000500000000000000" pitchFamily="2" charset="0"/>
              </a:rPr>
              <a:t>Real -Time  notification system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Profile Engineering and Authentication 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0C37F-A465-A4BC-29A4-3FE7934CC582}"/>
              </a:ext>
            </a:extLst>
          </p:cNvPr>
          <p:cNvSpPr txBox="1"/>
          <p:nvPr/>
        </p:nvSpPr>
        <p:spPr>
          <a:xfrm>
            <a:off x="1035350" y="2726586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P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hase </a:t>
            </a:r>
            <a:r>
              <a:rPr lang="fr-FR" sz="2400" dirty="0" err="1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Tasks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:</a:t>
            </a:r>
            <a:endParaRPr lang="fr-FR" sz="40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43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D967-A683-5283-57D7-AEEE461B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86ADA-6E98-9A44-569A-773E36635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DF2D7-CA42-4757-057E-83F89BEB8A7A}"/>
              </a:ext>
            </a:extLst>
          </p:cNvPr>
          <p:cNvSpPr txBox="1"/>
          <p:nvPr/>
        </p:nvSpPr>
        <p:spPr>
          <a:xfrm>
            <a:off x="560437" y="250723"/>
            <a:ext cx="3461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Weekly Objective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E9CDCC41-2BF5-526B-C0F9-A70D1852418A}"/>
              </a:ext>
            </a:extLst>
          </p:cNvPr>
          <p:cNvSpPr/>
          <p:nvPr/>
        </p:nvSpPr>
        <p:spPr>
          <a:xfrm>
            <a:off x="1436328" y="1015823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64615-E4BA-2029-F4F0-B911212AA940}"/>
              </a:ext>
            </a:extLst>
          </p:cNvPr>
          <p:cNvSpPr txBox="1"/>
          <p:nvPr/>
        </p:nvSpPr>
        <p:spPr>
          <a:xfrm>
            <a:off x="1725745" y="1077377"/>
            <a:ext cx="55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01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B94B82A5-E29B-3834-AB0C-30130D4E2A00}"/>
              </a:ext>
            </a:extLst>
          </p:cNvPr>
          <p:cNvSpPr/>
          <p:nvPr/>
        </p:nvSpPr>
        <p:spPr>
          <a:xfrm>
            <a:off x="1442575" y="2768075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61E15-6C8B-2AE6-2442-D3FF7FF0513C}"/>
              </a:ext>
            </a:extLst>
          </p:cNvPr>
          <p:cNvSpPr txBox="1"/>
          <p:nvPr/>
        </p:nvSpPr>
        <p:spPr>
          <a:xfrm>
            <a:off x="1699130" y="2829629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CBDCB-3040-6244-C261-FD2D8108E481}"/>
              </a:ext>
            </a:extLst>
          </p:cNvPr>
          <p:cNvSpPr txBox="1"/>
          <p:nvPr/>
        </p:nvSpPr>
        <p:spPr>
          <a:xfrm>
            <a:off x="2864520" y="2768075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Improve the Objectives of Each Tool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16119-137A-4C2C-F8FA-C2CBFC6CEA9E}"/>
              </a:ext>
            </a:extLst>
          </p:cNvPr>
          <p:cNvSpPr txBox="1"/>
          <p:nvPr/>
        </p:nvSpPr>
        <p:spPr>
          <a:xfrm>
            <a:off x="2823471" y="4521456"/>
            <a:ext cx="489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Integrate Frontend with Backend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349C1-C068-9951-9DDA-633F547CC908}"/>
              </a:ext>
            </a:extLst>
          </p:cNvPr>
          <p:cNvSpPr txBox="1"/>
          <p:nvPr/>
        </p:nvSpPr>
        <p:spPr>
          <a:xfrm>
            <a:off x="2864520" y="3322103"/>
            <a:ext cx="6462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Improve and test tools (Profile Analyzer, AI Recommendation modules) to meet functional requirements.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5CEE1-3032-C838-0131-0E60B275BD52}"/>
              </a:ext>
            </a:extLst>
          </p:cNvPr>
          <p:cNvSpPr txBox="1"/>
          <p:nvPr/>
        </p:nvSpPr>
        <p:spPr>
          <a:xfrm>
            <a:off x="2823470" y="4983121"/>
            <a:ext cx="6462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Connect the frontend interface to the backend services for all features developed in this phase, enabling end-to-end functionality.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CAB1BCF0-0413-C269-63AB-EB4869A5EF56}"/>
              </a:ext>
            </a:extLst>
          </p:cNvPr>
          <p:cNvSpPr/>
          <p:nvPr/>
        </p:nvSpPr>
        <p:spPr>
          <a:xfrm>
            <a:off x="1436328" y="4521456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0B8F1-8659-D30D-FED4-80A26EFD0064}"/>
              </a:ext>
            </a:extLst>
          </p:cNvPr>
          <p:cNvSpPr txBox="1"/>
          <p:nvPr/>
        </p:nvSpPr>
        <p:spPr>
          <a:xfrm>
            <a:off x="1692883" y="4583010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30B46-EA4F-5226-EA5A-608F3ABB16DE}"/>
              </a:ext>
            </a:extLst>
          </p:cNvPr>
          <p:cNvSpPr txBox="1"/>
          <p:nvPr/>
        </p:nvSpPr>
        <p:spPr>
          <a:xfrm>
            <a:off x="2845792" y="956677"/>
            <a:ext cx="586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Complete the Objectives of Each Service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1CCEB8-6134-FA66-F550-43427BD7C931}"/>
              </a:ext>
            </a:extLst>
          </p:cNvPr>
          <p:cNvSpPr txBox="1"/>
          <p:nvPr/>
        </p:nvSpPr>
        <p:spPr>
          <a:xfrm>
            <a:off x="2856333" y="1499202"/>
            <a:ext cx="6430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Ensure all microservices (Mission, Analytics, AI Orchestrator, etc.) fully implement their planned functionalities for Phase 1.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4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D34-45AA-3599-AACC-95598A94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8408B-81CA-3C59-F9C9-7657A0B613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4725F3-FF7E-D889-2DAC-03610EB67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2619" r="1563" b="3526"/>
          <a:stretch>
            <a:fillRect/>
          </a:stretch>
        </p:blipFill>
        <p:spPr>
          <a:xfrm>
            <a:off x="0" y="0"/>
            <a:ext cx="12225552" cy="6866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4F8B4C-13FE-CC13-13A6-B8C34334C6BD}"/>
              </a:ext>
            </a:extLst>
          </p:cNvPr>
          <p:cNvSpPr txBox="1"/>
          <p:nvPr/>
        </p:nvSpPr>
        <p:spPr>
          <a:xfrm>
            <a:off x="147484" y="353964"/>
            <a:ext cx="414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0755-A06C-49D8-78D7-59CB564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7DFC2-2AA5-D2D7-6EA5-CEE3B57FB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C9DF1-4DB8-D7F7-4782-5A0FF54E7996}"/>
              </a:ext>
            </a:extLst>
          </p:cNvPr>
          <p:cNvSpPr txBox="1"/>
          <p:nvPr/>
        </p:nvSpPr>
        <p:spPr>
          <a:xfrm>
            <a:off x="7138219" y="4940711"/>
            <a:ext cx="463099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02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Weekly Progress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8F0D8-C412-D8F8-C3B6-869896E1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24" r="37812" b="-24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D6EF-C022-3D80-8AB8-AA93F08B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609D55-3D9C-B962-4B53-8A24B873BE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7013D9-5E79-3590-43FF-E009F2711AE1}"/>
              </a:ext>
            </a:extLst>
          </p:cNvPr>
          <p:cNvSpPr txBox="1"/>
          <p:nvPr/>
        </p:nvSpPr>
        <p:spPr>
          <a:xfrm>
            <a:off x="353962" y="250723"/>
            <a:ext cx="5149167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2.1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D4F0E-1683-0285-C248-C7F8F6A61DFB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User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BE9D3E-5E8C-DCEC-3F09-27F63B734220}"/>
              </a:ext>
            </a:extLst>
          </p:cNvPr>
          <p:cNvSpPr/>
          <p:nvPr/>
        </p:nvSpPr>
        <p:spPr>
          <a:xfrm>
            <a:off x="2363543" y="1698860"/>
            <a:ext cx="7975077" cy="155448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Authentication: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Developed Login and Sign up endpoints secured with JWT-based Authentication.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64ED89-C542-7E1A-C0B2-E2B30AED07A4}"/>
              </a:ext>
            </a:extLst>
          </p:cNvPr>
          <p:cNvSpPr/>
          <p:nvPr/>
        </p:nvSpPr>
        <p:spPr>
          <a:xfrm>
            <a:off x="878061" y="2177450"/>
            <a:ext cx="610590" cy="612648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162465-EF49-C5ED-8BC3-51A7C592C985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 flipV="1">
            <a:off x="1488651" y="2476100"/>
            <a:ext cx="874892" cy="767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67CFED-D81A-3247-AF64-2401DD130FB5}"/>
              </a:ext>
            </a:extLst>
          </p:cNvPr>
          <p:cNvSpPr txBox="1"/>
          <p:nvPr/>
        </p:nvSpPr>
        <p:spPr>
          <a:xfrm>
            <a:off x="1002858" y="2132083"/>
            <a:ext cx="360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36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E710EE-1719-DEB7-80FD-4FEE0FBD006A}"/>
              </a:ext>
            </a:extLst>
          </p:cNvPr>
          <p:cNvSpPr/>
          <p:nvPr/>
        </p:nvSpPr>
        <p:spPr>
          <a:xfrm>
            <a:off x="2350639" y="3434168"/>
            <a:ext cx="7975077" cy="155448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Startup Profile </a:t>
            </a:r>
            <a:r>
              <a:rPr lang="en-US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Engeneiring</a:t>
            </a: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Implemented profile management endpoints of profile.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Enable profile retrieval using authenticated user token.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D11E5F-B0ED-C9FA-D384-79CCB71DA2CE}"/>
              </a:ext>
            </a:extLst>
          </p:cNvPr>
          <p:cNvSpPr/>
          <p:nvPr/>
        </p:nvSpPr>
        <p:spPr>
          <a:xfrm>
            <a:off x="870156" y="3910925"/>
            <a:ext cx="610590" cy="612648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5DB466-EFCB-9138-386C-12374778BBC6}"/>
              </a:ext>
            </a:extLst>
          </p:cNvPr>
          <p:cNvCxnSpPr>
            <a:cxnSpLocks/>
            <a:stCxn id="24" idx="6"/>
            <a:endCxn id="23" idx="1"/>
          </p:cNvCxnSpPr>
          <p:nvPr/>
        </p:nvCxnSpPr>
        <p:spPr>
          <a:xfrm flipV="1">
            <a:off x="1480746" y="4211408"/>
            <a:ext cx="869893" cy="584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17F9083-19A2-284B-9A48-EC92DC4D3BA9}"/>
              </a:ext>
            </a:extLst>
          </p:cNvPr>
          <p:cNvSpPr txBox="1"/>
          <p:nvPr/>
        </p:nvSpPr>
        <p:spPr>
          <a:xfrm>
            <a:off x="994953" y="3865558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36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8C8E913-21E1-A636-A6CC-CC565D845652}"/>
              </a:ext>
            </a:extLst>
          </p:cNvPr>
          <p:cNvSpPr/>
          <p:nvPr/>
        </p:nvSpPr>
        <p:spPr>
          <a:xfrm>
            <a:off x="2342734" y="5152730"/>
            <a:ext cx="7975077" cy="155448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Automatic Role initialization: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Designed a role initialization component to automatically seed roles in the PostgreSQL database at service startup 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560AD4-280A-55F6-6363-059A3A09DB1E}"/>
              </a:ext>
            </a:extLst>
          </p:cNvPr>
          <p:cNvSpPr/>
          <p:nvPr/>
        </p:nvSpPr>
        <p:spPr>
          <a:xfrm>
            <a:off x="870156" y="5629487"/>
            <a:ext cx="610590" cy="612648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C6B1C5-260E-0F52-8604-804DA3AFAC4C}"/>
              </a:ext>
            </a:extLst>
          </p:cNvPr>
          <p:cNvCxnSpPr>
            <a:cxnSpLocks/>
            <a:stCxn id="29" idx="6"/>
            <a:endCxn id="28" idx="1"/>
          </p:cNvCxnSpPr>
          <p:nvPr/>
        </p:nvCxnSpPr>
        <p:spPr>
          <a:xfrm flipV="1">
            <a:off x="1480746" y="5929970"/>
            <a:ext cx="861988" cy="584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CE1AE42-E3D3-3844-24DB-8EAC820F22BB}"/>
              </a:ext>
            </a:extLst>
          </p:cNvPr>
          <p:cNvSpPr txBox="1"/>
          <p:nvPr/>
        </p:nvSpPr>
        <p:spPr>
          <a:xfrm>
            <a:off x="994953" y="5584120"/>
            <a:ext cx="410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3</a:t>
            </a:r>
            <a:endParaRPr lang="fr-FR" sz="36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69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E4C3-E8CD-AB07-111C-B868F0F0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D6207-8A05-FD91-FEEC-24C49497D8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D7FA38-CDF8-3498-1A07-89B95F8F77A5}"/>
              </a:ext>
            </a:extLst>
          </p:cNvPr>
          <p:cNvSpPr txBox="1"/>
          <p:nvPr/>
        </p:nvSpPr>
        <p:spPr>
          <a:xfrm>
            <a:off x="353962" y="250723"/>
            <a:ext cx="5149167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2.1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AA529-CAB6-8F8C-CA1A-92032B67FC4C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Mission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0C1611-F916-D636-B112-A1400F2ADC21}"/>
              </a:ext>
            </a:extLst>
          </p:cNvPr>
          <p:cNvSpPr/>
          <p:nvPr/>
        </p:nvSpPr>
        <p:spPr>
          <a:xfrm>
            <a:off x="2363542" y="1583609"/>
            <a:ext cx="8229600" cy="118872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Mission Retrieval and Filtering: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Developed a backend API to fetch missions of company.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CB9F2-0B93-E5D3-5CE0-EF6603B4B7EC}"/>
              </a:ext>
            </a:extLst>
          </p:cNvPr>
          <p:cNvSpPr/>
          <p:nvPr/>
        </p:nvSpPr>
        <p:spPr>
          <a:xfrm>
            <a:off x="878061" y="1911986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00FED6-ADDC-D443-FFFF-B82905A3D017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 flipV="1">
            <a:off x="1426701" y="2177969"/>
            <a:ext cx="936841" cy="833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FDE21F-56C7-6638-66D9-DDCA979EC16F}"/>
              </a:ext>
            </a:extLst>
          </p:cNvPr>
          <p:cNvSpPr txBox="1"/>
          <p:nvPr/>
        </p:nvSpPr>
        <p:spPr>
          <a:xfrm>
            <a:off x="1002858" y="1866619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06C7C9-EEC0-1D50-6BFB-22B488303F09}"/>
              </a:ext>
            </a:extLst>
          </p:cNvPr>
          <p:cNvSpPr/>
          <p:nvPr/>
        </p:nvSpPr>
        <p:spPr>
          <a:xfrm>
            <a:off x="2413748" y="2880180"/>
            <a:ext cx="8229600" cy="118872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Auto-Termination Logic: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Implemented a timeout function to automatically closed missions that exceed their set duration.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0A191D-EC40-1648-E53A-72FFB8769D39}"/>
              </a:ext>
            </a:extLst>
          </p:cNvPr>
          <p:cNvSpPr/>
          <p:nvPr/>
        </p:nvSpPr>
        <p:spPr>
          <a:xfrm>
            <a:off x="870156" y="3200220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4B540D-776B-F759-9713-2CA1327FB460}"/>
              </a:ext>
            </a:extLst>
          </p:cNvPr>
          <p:cNvCxnSpPr>
            <a:cxnSpLocks/>
            <a:stCxn id="24" idx="6"/>
            <a:endCxn id="23" idx="1"/>
          </p:cNvCxnSpPr>
          <p:nvPr/>
        </p:nvCxnSpPr>
        <p:spPr>
          <a:xfrm>
            <a:off x="1418796" y="3474540"/>
            <a:ext cx="994952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F5E2A5-85A1-588F-DFEB-54CD846FEBB5}"/>
              </a:ext>
            </a:extLst>
          </p:cNvPr>
          <p:cNvSpPr txBox="1"/>
          <p:nvPr/>
        </p:nvSpPr>
        <p:spPr>
          <a:xfrm>
            <a:off x="994953" y="3154853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BD07E79-B05C-3960-6EBF-4590A70F18D8}"/>
              </a:ext>
            </a:extLst>
          </p:cNvPr>
          <p:cNvSpPr/>
          <p:nvPr/>
        </p:nvSpPr>
        <p:spPr>
          <a:xfrm>
            <a:off x="2363541" y="4176751"/>
            <a:ext cx="8229600" cy="118872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Update Publish Mission: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Update publish mission feature to support secure access using JWT authentication.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9ED57E5-07B4-F672-E263-10D69CE2D03A}"/>
              </a:ext>
            </a:extLst>
          </p:cNvPr>
          <p:cNvSpPr/>
          <p:nvPr/>
        </p:nvSpPr>
        <p:spPr>
          <a:xfrm>
            <a:off x="890965" y="4505041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301E2D-5FBE-A5B8-A377-A44713472C20}"/>
              </a:ext>
            </a:extLst>
          </p:cNvPr>
          <p:cNvCxnSpPr>
            <a:cxnSpLocks/>
            <a:stCxn id="29" idx="6"/>
            <a:endCxn id="28" idx="1"/>
          </p:cNvCxnSpPr>
          <p:nvPr/>
        </p:nvCxnSpPr>
        <p:spPr>
          <a:xfrm flipV="1">
            <a:off x="1439605" y="4771111"/>
            <a:ext cx="923936" cy="825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63DCA94-A727-49B0-DEEA-7970F6767B21}"/>
              </a:ext>
            </a:extLst>
          </p:cNvPr>
          <p:cNvSpPr txBox="1"/>
          <p:nvPr/>
        </p:nvSpPr>
        <p:spPr>
          <a:xfrm>
            <a:off x="1015762" y="4459674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3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039A61-BE0D-354C-C440-6BF4945EE3FB}"/>
              </a:ext>
            </a:extLst>
          </p:cNvPr>
          <p:cNvSpPr/>
          <p:nvPr/>
        </p:nvSpPr>
        <p:spPr>
          <a:xfrm>
            <a:off x="2413748" y="5460325"/>
            <a:ext cx="8138160" cy="118872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CA" dirty="0">
                <a:solidFill>
                  <a:srgbClr val="226DF6"/>
                </a:solidFill>
                <a:latin typeface="Playfair Display" panose="00000500000000000000" pitchFamily="2" charset="0"/>
              </a:rPr>
              <a:t>Real -Time  notification system</a:t>
            </a: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Developed a Real-Time Notification  System that instantly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delelivers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Ai  matching result to both companies and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freelencers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1DDF1-A756-B9DF-C92F-62A3803D9F3F}"/>
              </a:ext>
            </a:extLst>
          </p:cNvPr>
          <p:cNvSpPr/>
          <p:nvPr/>
        </p:nvSpPr>
        <p:spPr>
          <a:xfrm>
            <a:off x="941171" y="5789602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E6E29-BD7C-CBE8-6313-8209B53CC6B6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 flipV="1">
            <a:off x="1489811" y="6054685"/>
            <a:ext cx="923937" cy="923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79063A-7C15-DFEB-3CE7-0B2F467337AF}"/>
              </a:ext>
            </a:extLst>
          </p:cNvPr>
          <p:cNvSpPr txBox="1"/>
          <p:nvPr/>
        </p:nvSpPr>
        <p:spPr>
          <a:xfrm>
            <a:off x="1051220" y="574423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4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286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3DDB-9733-72BE-C8DA-984CD835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21446-5406-9695-A52E-D09A9082D6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3D844-6C59-3F7F-921D-128B9B44AB58}"/>
              </a:ext>
            </a:extLst>
          </p:cNvPr>
          <p:cNvSpPr txBox="1"/>
          <p:nvPr/>
        </p:nvSpPr>
        <p:spPr>
          <a:xfrm>
            <a:off x="353962" y="250723"/>
            <a:ext cx="5149167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2.1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69D7C0-3B1F-85F5-CC32-41BB6A7079C9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Analytics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566C5D-C399-E261-2D79-1FFEED4CE9FF}"/>
              </a:ext>
            </a:extLst>
          </p:cNvPr>
          <p:cNvSpPr/>
          <p:nvPr/>
        </p:nvSpPr>
        <p:spPr>
          <a:xfrm>
            <a:off x="2363542" y="1790087"/>
            <a:ext cx="9034272" cy="137160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Reviews Management 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Submit, view, and report reviews between freelancers and startups after missions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4FFD02-A181-A407-7973-9E988BF91DF4}"/>
              </a:ext>
            </a:extLst>
          </p:cNvPr>
          <p:cNvSpPr/>
          <p:nvPr/>
        </p:nvSpPr>
        <p:spPr>
          <a:xfrm>
            <a:off x="878061" y="2192204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FC0086-DFCC-D379-189E-246D80DACD3B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>
            <a:off x="1426701" y="2466524"/>
            <a:ext cx="936841" cy="936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766AE6-4DB1-D4FB-D76A-2229E7D35C65}"/>
              </a:ext>
            </a:extLst>
          </p:cNvPr>
          <p:cNvSpPr txBox="1"/>
          <p:nvPr/>
        </p:nvSpPr>
        <p:spPr>
          <a:xfrm>
            <a:off x="1002858" y="2146837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BDCC51-7B8D-CC2E-9DB5-F87796B0E223}"/>
              </a:ext>
            </a:extLst>
          </p:cNvPr>
          <p:cNvSpPr/>
          <p:nvPr/>
        </p:nvSpPr>
        <p:spPr>
          <a:xfrm>
            <a:off x="2413748" y="3352122"/>
            <a:ext cx="9034272" cy="137160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Analytics Freelancer: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Full statistics and dashboard (ratings, success rate, performance score)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Automatic recalculation after each new review.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0D02FE-34F0-DA1B-2F64-773A7475A467}"/>
              </a:ext>
            </a:extLst>
          </p:cNvPr>
          <p:cNvSpPr/>
          <p:nvPr/>
        </p:nvSpPr>
        <p:spPr>
          <a:xfrm>
            <a:off x="870156" y="3745902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94D133-D2BC-12C7-E59E-DB2FFEBAF424}"/>
              </a:ext>
            </a:extLst>
          </p:cNvPr>
          <p:cNvCxnSpPr>
            <a:cxnSpLocks/>
            <a:stCxn id="24" idx="6"/>
            <a:endCxn id="23" idx="1"/>
          </p:cNvCxnSpPr>
          <p:nvPr/>
        </p:nvCxnSpPr>
        <p:spPr>
          <a:xfrm>
            <a:off x="1418796" y="4020222"/>
            <a:ext cx="994952" cy="177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378FF14-1845-351C-B0EA-A1FBE1A36132}"/>
              </a:ext>
            </a:extLst>
          </p:cNvPr>
          <p:cNvSpPr txBox="1"/>
          <p:nvPr/>
        </p:nvSpPr>
        <p:spPr>
          <a:xfrm>
            <a:off x="994953" y="3700535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AE8EAB-393D-0C89-9B00-4E0C1699AED5}"/>
              </a:ext>
            </a:extLst>
          </p:cNvPr>
          <p:cNvSpPr/>
          <p:nvPr/>
        </p:nvSpPr>
        <p:spPr>
          <a:xfrm>
            <a:off x="2363541" y="4914157"/>
            <a:ext cx="9034272" cy="137160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AI Match Scores 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Process AI scores and return ranked freelancers per mission.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54F7CF8-F366-20ED-840A-3E147FF3945D}"/>
              </a:ext>
            </a:extLst>
          </p:cNvPr>
          <p:cNvSpPr/>
          <p:nvPr/>
        </p:nvSpPr>
        <p:spPr>
          <a:xfrm>
            <a:off x="890965" y="5316187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DE92CB-1210-201F-BCC4-842FD08F489A}"/>
              </a:ext>
            </a:extLst>
          </p:cNvPr>
          <p:cNvCxnSpPr>
            <a:cxnSpLocks/>
            <a:stCxn id="29" idx="6"/>
            <a:endCxn id="28" idx="1"/>
          </p:cNvCxnSpPr>
          <p:nvPr/>
        </p:nvCxnSpPr>
        <p:spPr>
          <a:xfrm>
            <a:off x="1439605" y="5590507"/>
            <a:ext cx="923936" cy="945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2EA9A5B-31DD-CB78-97AF-B737A135819F}"/>
              </a:ext>
            </a:extLst>
          </p:cNvPr>
          <p:cNvSpPr txBox="1"/>
          <p:nvPr/>
        </p:nvSpPr>
        <p:spPr>
          <a:xfrm>
            <a:off x="1015762" y="5270820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3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42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6B24-D91C-98B9-55DA-DB331272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2B5BA6-CF35-CEB0-DC0D-4E8A6209EA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4F2005-EE3D-B8B4-52A5-F712EE867031}"/>
              </a:ext>
            </a:extLst>
          </p:cNvPr>
          <p:cNvSpPr txBox="1"/>
          <p:nvPr/>
        </p:nvSpPr>
        <p:spPr>
          <a:xfrm>
            <a:off x="353962" y="250723"/>
            <a:ext cx="5149167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2.1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F48092-35C2-E358-422D-3A17454BE5AA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latin typeface="Playfair Display" panose="00000500000000000000" pitchFamily="2" charset="0"/>
              </a:rPr>
              <a:t>Contract</a:t>
            </a:r>
            <a:r>
              <a:rPr lang="fr-FR" sz="2400" b="1" dirty="0">
                <a:latin typeface="Playfair Display" panose="00000500000000000000" pitchFamily="2" charset="0"/>
              </a:rPr>
              <a:t>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7E8983-C62F-0F73-C784-2C27633DE7AE}"/>
              </a:ext>
            </a:extLst>
          </p:cNvPr>
          <p:cNvSpPr/>
          <p:nvPr/>
        </p:nvSpPr>
        <p:spPr>
          <a:xfrm>
            <a:off x="1911828" y="2087269"/>
            <a:ext cx="9937700" cy="352044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sz="20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Contract Management: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Auto-Generation: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Automatically creates a contract when a mission is assigned to a freelancer, preventing duplicate contracts. 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Terms Generation: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Dynamically generates standard legal contract terms (scope, payment, IP, dispute resolution) based on mission data.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Status Updates: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Allows updating contract status (Active, Completed, Cancelled) with optional reasons and timestamps.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99BAC4-B486-048C-4B7B-E9C3802DD106}"/>
              </a:ext>
            </a:extLst>
          </p:cNvPr>
          <p:cNvSpPr/>
          <p:nvPr/>
        </p:nvSpPr>
        <p:spPr>
          <a:xfrm>
            <a:off x="820454" y="3506197"/>
            <a:ext cx="663854" cy="663854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57FFB4-CB6F-37D9-40C3-882A4840471E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>
            <a:off x="1484308" y="3838124"/>
            <a:ext cx="427520" cy="936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CBE7B45-FA89-AF18-E793-32EDBC78EED2}"/>
              </a:ext>
            </a:extLst>
          </p:cNvPr>
          <p:cNvSpPr txBox="1"/>
          <p:nvPr/>
        </p:nvSpPr>
        <p:spPr>
          <a:xfrm>
            <a:off x="968993" y="3463499"/>
            <a:ext cx="360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36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785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06AF-2088-D7DF-4B9C-D6A42510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18641E-A801-9D51-263D-F27F4250B6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175915-C093-95D4-B97B-A5BA1B541A95}"/>
              </a:ext>
            </a:extLst>
          </p:cNvPr>
          <p:cNvSpPr txBox="1"/>
          <p:nvPr/>
        </p:nvSpPr>
        <p:spPr>
          <a:xfrm>
            <a:off x="353962" y="250723"/>
            <a:ext cx="5149167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2.1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FE65D0-B1B9-3C1E-5048-A7A78243C2A0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latin typeface="Playfair Display" panose="00000500000000000000" pitchFamily="2" charset="0"/>
              </a:rPr>
              <a:t>Contract</a:t>
            </a:r>
            <a:r>
              <a:rPr lang="fr-FR" sz="2400" b="1" dirty="0">
                <a:latin typeface="Playfair Display" panose="00000500000000000000" pitchFamily="2" charset="0"/>
              </a:rPr>
              <a:t>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FD8203-C792-E8C8-9A96-A691D0A24455}"/>
              </a:ext>
            </a:extLst>
          </p:cNvPr>
          <p:cNvSpPr/>
          <p:nvPr/>
        </p:nvSpPr>
        <p:spPr>
          <a:xfrm>
            <a:off x="1911828" y="1911247"/>
            <a:ext cx="9937700" cy="3872484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n-US" sz="20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Contract Management:</a:t>
            </a:r>
          </a:p>
          <a:p>
            <a:pPr lvl="1">
              <a:spcAft>
                <a:spcPts val="1200"/>
              </a:spcAft>
            </a:pPr>
            <a:r>
              <a:rPr lang="en-US" sz="2000" b="1" dirty="0">
                <a:solidFill>
                  <a:schemeClr val="tx1"/>
                </a:solidFill>
                <a:latin typeface="Playfair Display" panose="00000500000000000000" pitchFamily="2" charset="0"/>
              </a:rPr>
              <a:t>Auto-Milestone Creation: </a:t>
            </a:r>
            <a:r>
              <a:rPr lang="en-US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Intelligently generates milestones based on mission duration ( 1 milestone for ≤7 days, 5 milestones for &gt;14 days ..).</a:t>
            </a:r>
            <a:endParaRPr lang="en-US" sz="2000" b="1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Financial Allocation: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Calculates and assigns monetary amounts to each milestone based on configurable weights relative to the total budget. 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Timeline Mapping: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Automatically calculates and assigns due dates for milestones proportionally across the contract's duration. </a:t>
            </a:r>
          </a:p>
          <a:p>
            <a:pPr lvl="1"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Milestone Status Tracking: 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Provides methods to update individual milestone statuses (Completed, Approved) with completion timestamps.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F13C6E-A2DD-B18B-B07D-45A4353FA625}"/>
              </a:ext>
            </a:extLst>
          </p:cNvPr>
          <p:cNvSpPr/>
          <p:nvPr/>
        </p:nvSpPr>
        <p:spPr>
          <a:xfrm>
            <a:off x="820454" y="3506197"/>
            <a:ext cx="663854" cy="663854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53AD6C-4D03-4DB1-CA39-959C67F6DCF1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>
            <a:off x="1484308" y="3838124"/>
            <a:ext cx="427520" cy="936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08D593-DB6C-6FDD-70A1-A1A4589D164F}"/>
              </a:ext>
            </a:extLst>
          </p:cNvPr>
          <p:cNvSpPr txBox="1"/>
          <p:nvPr/>
        </p:nvSpPr>
        <p:spPr>
          <a:xfrm>
            <a:off x="968993" y="3463499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36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568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1AA4-6222-B68A-3CCC-9BA2B09F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BCEE17-5CD0-C7B2-2BE5-EB9831B54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25BA42-56BB-5F26-BD58-C6ECAED4DE40}"/>
              </a:ext>
            </a:extLst>
          </p:cNvPr>
          <p:cNvSpPr txBox="1"/>
          <p:nvPr/>
        </p:nvSpPr>
        <p:spPr>
          <a:xfrm>
            <a:off x="353962" y="250723"/>
            <a:ext cx="5386411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2.2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844D36-EB78-BC1F-8AA1-13A0FF792E15}"/>
              </a:ext>
            </a:extLst>
          </p:cNvPr>
          <p:cNvSpPr/>
          <p:nvPr/>
        </p:nvSpPr>
        <p:spPr>
          <a:xfrm>
            <a:off x="1190052" y="2628643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1. Freelancer Tools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search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endParaRPr lang="fr-FR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CF989-2293-BF8B-77C1-A73038057A8D}"/>
              </a:ext>
            </a:extLst>
          </p:cNvPr>
          <p:cNvSpPr txBox="1"/>
          <p:nvPr/>
        </p:nvSpPr>
        <p:spPr>
          <a:xfrm>
            <a:off x="0" y="1580692"/>
            <a:ext cx="6127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800" b="1" dirty="0">
                <a:solidFill>
                  <a:schemeClr val="tx1"/>
                </a:solidFill>
                <a:latin typeface="Playfair Display" panose="00000500000000000000" pitchFamily="2" charset="0"/>
              </a:rPr>
              <a:t>Integrated Tools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8B7B1F-8924-0A12-8EDB-D32F7BE4D96F}"/>
              </a:ext>
            </a:extLst>
          </p:cNvPr>
          <p:cNvSpPr/>
          <p:nvPr/>
        </p:nvSpPr>
        <p:spPr>
          <a:xfrm>
            <a:off x="1190052" y="4627092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3. AI Matching and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Analysis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calculate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compatibility score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find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best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matching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matching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C5629E-A67F-1393-23E3-C1EE756CF503}"/>
              </a:ext>
            </a:extLst>
          </p:cNvPr>
          <p:cNvSpPr/>
          <p:nvPr/>
        </p:nvSpPr>
        <p:spPr>
          <a:xfrm>
            <a:off x="6095998" y="4627092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4. Advanced Deep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Analyzers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</a:p>
          <a:p>
            <a:pPr lvl="1"/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analyser for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</a:t>
            </a:r>
            <a:endParaRPr lang="en-US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DB977A-ECFE-98F8-8FC6-43312BE4163A}"/>
              </a:ext>
            </a:extLst>
          </p:cNvPr>
          <p:cNvSpPr/>
          <p:nvPr/>
        </p:nvSpPr>
        <p:spPr>
          <a:xfrm>
            <a:off x="6095999" y="2628643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2.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Company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and Mission Tools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company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search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details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94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1551-4CB2-6058-1915-4D63A9A7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1B55DE-1516-B319-E8A3-881D4A5630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F88FF2-83C1-4422-5D37-B06F0BDCB275}"/>
              </a:ext>
            </a:extLst>
          </p:cNvPr>
          <p:cNvSpPr txBox="1"/>
          <p:nvPr/>
        </p:nvSpPr>
        <p:spPr>
          <a:xfrm>
            <a:off x="353962" y="250723"/>
            <a:ext cx="8148384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2.3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Infrastructure and System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Integration</a:t>
            </a:r>
            <a:endParaRPr lang="en-US" sz="3200" b="1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39766-BEBC-03BC-034C-69493FED2BAE}"/>
              </a:ext>
            </a:extLst>
          </p:cNvPr>
          <p:cNvSpPr txBox="1"/>
          <p:nvPr/>
        </p:nvSpPr>
        <p:spPr>
          <a:xfrm>
            <a:off x="2839878" y="1449863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FC6E6F-1023-DBEB-C2F5-DF005367D4CB}"/>
              </a:ext>
            </a:extLst>
          </p:cNvPr>
          <p:cNvSpPr txBox="1"/>
          <p:nvPr/>
        </p:nvSpPr>
        <p:spPr>
          <a:xfrm>
            <a:off x="8784784" y="1479642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4D092A6C-B9A1-10C6-BC98-0AB66A7EBBA0}"/>
              </a:ext>
            </a:extLst>
          </p:cNvPr>
          <p:cNvSpPr/>
          <p:nvPr/>
        </p:nvSpPr>
        <p:spPr>
          <a:xfrm>
            <a:off x="3855720" y="1258457"/>
            <a:ext cx="5029200" cy="210312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Containerization: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Dockerized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Frontend, Gateway, User Service ,Mission Service and analysis service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C52B348A-7E5C-6E1A-D699-6E752B57B5A7}"/>
              </a:ext>
            </a:extLst>
          </p:cNvPr>
          <p:cNvSpPr/>
          <p:nvPr/>
        </p:nvSpPr>
        <p:spPr>
          <a:xfrm>
            <a:off x="1004456" y="3998746"/>
            <a:ext cx="5029200" cy="210312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Gateway Routing: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linked User , Mission and Analysis Services to API Gateway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7C29C8B7-5129-10AC-A2F0-B60D55395789}"/>
              </a:ext>
            </a:extLst>
          </p:cNvPr>
          <p:cNvSpPr/>
          <p:nvPr/>
        </p:nvSpPr>
        <p:spPr>
          <a:xfrm>
            <a:off x="6260056" y="3998746"/>
            <a:ext cx="5029200" cy="210312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RabbitMQ Messaging: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Asynchronous communication for workflow simulation(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mission,analysis,Contract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)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237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9844-7425-75C8-591F-1E8BE29B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E35A4-D4D7-ED56-163B-94798D8361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98B821-D885-7633-5147-1304581ECD08}"/>
              </a:ext>
            </a:extLst>
          </p:cNvPr>
          <p:cNvSpPr txBox="1"/>
          <p:nvPr/>
        </p:nvSpPr>
        <p:spPr>
          <a:xfrm>
            <a:off x="353962" y="250723"/>
            <a:ext cx="3855543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2.4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Frontend Layer</a:t>
            </a:r>
            <a:endParaRPr lang="en-US" sz="3200" b="1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1C6C61-0DCA-907C-CAA9-B6367573AACF}"/>
              </a:ext>
            </a:extLst>
          </p:cNvPr>
          <p:cNvSpPr txBox="1"/>
          <p:nvPr/>
        </p:nvSpPr>
        <p:spPr>
          <a:xfrm>
            <a:off x="2839878" y="1449863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2C239-7D6B-8C10-6D6D-126BB99B6481}"/>
              </a:ext>
            </a:extLst>
          </p:cNvPr>
          <p:cNvSpPr txBox="1"/>
          <p:nvPr/>
        </p:nvSpPr>
        <p:spPr>
          <a:xfrm>
            <a:off x="8784784" y="1479642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06F31723-6714-FEF0-0041-1AA4B3265B43}"/>
              </a:ext>
            </a:extLst>
          </p:cNvPr>
          <p:cNvSpPr/>
          <p:nvPr/>
        </p:nvSpPr>
        <p:spPr>
          <a:xfrm>
            <a:off x="648320" y="1006123"/>
            <a:ext cx="6085332" cy="274320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Dashboard and Navigation</a:t>
            </a:r>
            <a:endParaRPr lang="fr-FR" altLang="fr-FR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Role-based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dashboard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(/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dashboard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Freelancer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view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: applications and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status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overview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Company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view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: missions and applications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summary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Sidebar navigation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adapted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per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role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DEE65916-776E-700C-F2F8-7B7D30C60AE7}"/>
              </a:ext>
            </a:extLst>
          </p:cNvPr>
          <p:cNvSpPr/>
          <p:nvPr/>
        </p:nvSpPr>
        <p:spPr>
          <a:xfrm>
            <a:off x="5096723" y="3932867"/>
            <a:ext cx="6085332" cy="274320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Application </a:t>
            </a:r>
            <a:r>
              <a:rPr lang="fr-FR" altLang="fr-FR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Tracking</a:t>
            </a:r>
            <a:r>
              <a:rPr lang="fr-FR" alt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: (Real Time)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Application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status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tracking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:</a:t>
            </a:r>
            <a:b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</a:b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(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Pending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,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Viewed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,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Shortlisted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, Accepted,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Rejected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Dashboard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with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counts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+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detailed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list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Near real-time updates via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WebSocket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(STOMP + </a:t>
            </a:r>
            <a:r>
              <a:rPr lang="fr-FR" alt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SockJS</a:t>
            </a:r>
            <a:r>
              <a:rPr lang="fr-FR" alt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4403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5C35-634B-7448-9C38-1683EA1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F8351A-83FE-A848-BC7A-99D6CB0C41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0E2DD9-4634-7985-F086-83374CAC7837}"/>
              </a:ext>
            </a:extLst>
          </p:cNvPr>
          <p:cNvSpPr txBox="1"/>
          <p:nvPr/>
        </p:nvSpPr>
        <p:spPr>
          <a:xfrm>
            <a:off x="353962" y="250723"/>
            <a:ext cx="3855543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2.4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Frontend Layer</a:t>
            </a:r>
            <a:endParaRPr lang="en-US" sz="3200" b="1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C1C22F-1F52-D721-028F-E525490FF8F9}"/>
              </a:ext>
            </a:extLst>
          </p:cNvPr>
          <p:cNvSpPr txBox="1"/>
          <p:nvPr/>
        </p:nvSpPr>
        <p:spPr>
          <a:xfrm>
            <a:off x="2839878" y="1449863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26C43E-1BC0-E358-2420-A0F0658BAF90}"/>
              </a:ext>
            </a:extLst>
          </p:cNvPr>
          <p:cNvSpPr txBox="1"/>
          <p:nvPr/>
        </p:nvSpPr>
        <p:spPr>
          <a:xfrm>
            <a:off x="8784784" y="1479642"/>
            <a:ext cx="366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44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41439A13-2DEE-C448-A373-B3E5BABA892F}"/>
              </a:ext>
            </a:extLst>
          </p:cNvPr>
          <p:cNvSpPr/>
          <p:nvPr/>
        </p:nvSpPr>
        <p:spPr>
          <a:xfrm>
            <a:off x="539018" y="1485497"/>
            <a:ext cx="5292364" cy="454078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Startup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features</a:t>
            </a:r>
            <a:endParaRPr lang="fr-FR" altLang="fr-FR" sz="2000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Mission Creation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Multi-step “Post Mission” flow (/publish)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Form validation before submission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Deadline input with date and time (normalized format)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Missions Management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Missions overview page (/missions)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Status columns: Open, In Progress, Completed, Closed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Search + quick navigation</a:t>
            </a:r>
          </a:p>
        </p:txBody>
      </p: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83D9C503-E212-AB08-A826-4E85AB1748E9}"/>
              </a:ext>
            </a:extLst>
          </p:cNvPr>
          <p:cNvSpPr/>
          <p:nvPr/>
        </p:nvSpPr>
        <p:spPr>
          <a:xfrm>
            <a:off x="6321980" y="1485497"/>
            <a:ext cx="5292364" cy="4540780"/>
          </a:xfrm>
          <a:prstGeom prst="snip1Rect">
            <a:avLst/>
          </a:prstGeom>
          <a:solidFill>
            <a:srgbClr val="FCFCFE"/>
          </a:solidFill>
          <a:ln>
            <a:solidFill>
              <a:srgbClr val="FC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Freelancer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features</a:t>
            </a:r>
            <a:endParaRPr lang="fr-FR" altLang="fr-FR" sz="2000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Browse and Apply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Browse missions (/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applymission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Search functionality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Apply with cover letter and proposed rate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Playfair Display" panose="00000500000000000000" pitchFamily="2" charset="0"/>
              </a:rPr>
              <a:t>AI Suggestions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AI-recommended missions (/ai-suggestions)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Match info (budget, deadline, score)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Apply directly from suggestions</a:t>
            </a:r>
          </a:p>
        </p:txBody>
      </p:sp>
    </p:spTree>
    <p:extLst>
      <p:ext uri="{BB962C8B-B14F-4D97-AF65-F5344CB8AC3E}">
        <p14:creationId xmlns:p14="http://schemas.microsoft.com/office/powerpoint/2010/main" val="264783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1FAD-FE95-7FFB-072C-CD88485C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B13DC-14AF-81E0-E343-593D9ABF69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3292-3975-9653-EC50-D3A08D8BB5A9}"/>
              </a:ext>
            </a:extLst>
          </p:cNvPr>
          <p:cNvSpPr txBox="1"/>
          <p:nvPr/>
        </p:nvSpPr>
        <p:spPr>
          <a:xfrm>
            <a:off x="5840361" y="4925963"/>
            <a:ext cx="59288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03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Planning and Next steps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733BB-9D34-8CD9-E2FD-A21192B6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3" r="24710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08E4-428B-E42E-4E03-E10B675F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3CBC4-0608-1C03-6784-E08224926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A0AE9-A00E-BB05-B1D7-BEE2051934E0}"/>
              </a:ext>
            </a:extLst>
          </p:cNvPr>
          <p:cNvSpPr txBox="1"/>
          <p:nvPr/>
        </p:nvSpPr>
        <p:spPr>
          <a:xfrm>
            <a:off x="353962" y="250723"/>
            <a:ext cx="4514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Plan for the Next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C85AA4-6DF7-9A04-E785-4A0017C3FA03}"/>
              </a:ext>
            </a:extLst>
          </p:cNvPr>
          <p:cNvSpPr txBox="1"/>
          <p:nvPr/>
        </p:nvSpPr>
        <p:spPr>
          <a:xfrm>
            <a:off x="2045172" y="1503932"/>
            <a:ext cx="643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ayfair Display" panose="00000500000000000000" pitchFamily="2" charset="0"/>
              </a:rPr>
              <a:t>Integrate all Phase </a:t>
            </a:r>
            <a:r>
              <a:rPr lang="en-US" sz="2400" dirty="0"/>
              <a:t>1</a:t>
            </a:r>
            <a:r>
              <a:rPr lang="en-US" sz="2400" dirty="0">
                <a:latin typeface="Playfair Display" panose="00000500000000000000" pitchFamily="2" charset="0"/>
              </a:rPr>
              <a:t> components into a fully functional system </a:t>
            </a: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(main objective).</a:t>
            </a:r>
            <a:endParaRPr lang="fr-FR" sz="2400" dirty="0">
              <a:latin typeface="Playfair Display" panose="00000500000000000000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2D9E94-F41B-E352-9A60-358F75752E48}"/>
              </a:ext>
            </a:extLst>
          </p:cNvPr>
          <p:cNvSpPr/>
          <p:nvPr/>
        </p:nvSpPr>
        <p:spPr>
          <a:xfrm>
            <a:off x="1335261" y="1661262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84F77-07E8-68D9-4F2C-6381FAF12DAF}"/>
              </a:ext>
            </a:extLst>
          </p:cNvPr>
          <p:cNvSpPr txBox="1"/>
          <p:nvPr/>
        </p:nvSpPr>
        <p:spPr>
          <a:xfrm>
            <a:off x="1460058" y="1615895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680ADF-E6DB-9A50-8B99-CD5C7D8A91D3}"/>
              </a:ext>
            </a:extLst>
          </p:cNvPr>
          <p:cNvSpPr txBox="1"/>
          <p:nvPr/>
        </p:nvSpPr>
        <p:spPr>
          <a:xfrm>
            <a:off x="2045172" y="2923703"/>
            <a:ext cx="643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ayfair Display" panose="00000500000000000000" pitchFamily="2" charset="0"/>
              </a:rPr>
              <a:t>Launch Phase 2 and Phase 3 concurrently to accelerate overall development.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D846E0-BDC8-A010-AC63-3FE9A5AB424B}"/>
              </a:ext>
            </a:extLst>
          </p:cNvPr>
          <p:cNvSpPr/>
          <p:nvPr/>
        </p:nvSpPr>
        <p:spPr>
          <a:xfrm>
            <a:off x="1335261" y="3081033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81C331-8B3A-1B54-7619-A8C7A3A6ED8C}"/>
              </a:ext>
            </a:extLst>
          </p:cNvPr>
          <p:cNvSpPr txBox="1"/>
          <p:nvPr/>
        </p:nvSpPr>
        <p:spPr>
          <a:xfrm>
            <a:off x="1460058" y="3035666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88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D3B1-A2D6-2645-436D-705C8CA7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7A9A5D6-55AA-D991-E249-BF985F45D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0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45E1C-D09E-A3E7-31EB-2799840B92EC}"/>
              </a:ext>
            </a:extLst>
          </p:cNvPr>
          <p:cNvSpPr txBox="1"/>
          <p:nvPr/>
        </p:nvSpPr>
        <p:spPr>
          <a:xfrm>
            <a:off x="790483" y="2644170"/>
            <a:ext cx="65838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spc="300" dirty="0">
                <a:solidFill>
                  <a:srgbClr val="226DF6"/>
                </a:solidFill>
                <a:latin typeface="Playfair Display" panose="00000500000000000000" pitchFamily="2" charset="0"/>
              </a:rPr>
              <a:t>Thank you</a:t>
            </a:r>
            <a:endParaRPr lang="fr-FR" sz="9600" b="1" spc="3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5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3301</TotalTime>
  <Words>871</Words>
  <Application>Microsoft Office PowerPoint</Application>
  <PresentationFormat>Widescreen</PresentationFormat>
  <Paragraphs>153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(Body)</vt:lpstr>
      <vt:lpstr>Aptos Display</vt:lpstr>
      <vt:lpstr>Arial</vt:lpstr>
      <vt:lpstr>Libre Baskerville</vt:lpstr>
      <vt:lpstr>Playfair Display</vt:lpstr>
      <vt:lpstr>Office Theme</vt:lpstr>
      <vt:lpstr>AI-Based Freelance-Startup System Progress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Freelance-Startup System Progress Presentation</dc:title>
  <dc:creator>Chaima Djekhrab</dc:creator>
  <cp:lastModifiedBy>Chaima Djekhrab</cp:lastModifiedBy>
  <cp:revision>27</cp:revision>
  <dcterms:created xsi:type="dcterms:W3CDTF">2026-02-18T11:11:58Z</dcterms:created>
  <dcterms:modified xsi:type="dcterms:W3CDTF">2026-04-10T12:33:42Z</dcterms:modified>
</cp:coreProperties>
</file>